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96" r:id="rId5"/>
    <p:sldId id="258" r:id="rId6"/>
    <p:sldId id="264" r:id="rId7"/>
    <p:sldId id="457" r:id="rId8"/>
    <p:sldId id="454" r:id="rId9"/>
    <p:sldId id="456" r:id="rId10"/>
    <p:sldId id="460" r:id="rId11"/>
    <p:sldId id="451" r:id="rId12"/>
    <p:sldId id="271" r:id="rId13"/>
  </p:sldIdLst>
  <p:sldSz cx="9144000" cy="5143500" type="screen16x9"/>
  <p:notesSz cx="6858000" cy="9144000"/>
  <p:custDataLst>
    <p:tags r:id="rId16"/>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04" userDrawn="1">
          <p15:clr>
            <a:srgbClr val="A4A3A4"/>
          </p15:clr>
        </p15:guide>
        <p15:guide id="2" pos="5556" userDrawn="1">
          <p15:clr>
            <a:srgbClr val="A4A3A4"/>
          </p15:clr>
        </p15:guide>
        <p15:guide id="3" orient="horz" pos="725" userDrawn="1">
          <p15:clr>
            <a:srgbClr val="A4A3A4"/>
          </p15:clr>
        </p15:guide>
        <p15:guide id="4" orient="horz" pos="2950" userDrawn="1">
          <p15:clr>
            <a:srgbClr val="A4A3A4"/>
          </p15:clr>
        </p15:guide>
        <p15:guide id="5" orient="horz" pos="238" userDrawn="1">
          <p15:clr>
            <a:srgbClr val="A4A3A4"/>
          </p15:clr>
        </p15:guide>
        <p15:guide id="6" pos="2832" userDrawn="1">
          <p15:clr>
            <a:srgbClr val="A4A3A4"/>
          </p15:clr>
        </p15:guide>
        <p15:guide id="7" pos="2933" userDrawn="1">
          <p15:clr>
            <a:srgbClr val="A4A3A4"/>
          </p15:clr>
        </p15:guide>
        <p15:guide id="8" pos="2023" userDrawn="1">
          <p15:clr>
            <a:srgbClr val="A4A3A4"/>
          </p15:clr>
        </p15:guide>
        <p15:guide id="9" pos="1917" userDrawn="1">
          <p15:clr>
            <a:srgbClr val="A4A3A4"/>
          </p15:clr>
        </p15:guide>
        <p15:guide id="10" pos="3737" userDrawn="1">
          <p15:clr>
            <a:srgbClr val="A4A3A4"/>
          </p15:clr>
        </p15:guide>
        <p15:guide id="11" pos="384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ike Schmidt" initials="MS" lastIdx="3" clrIdx="0">
    <p:extLst>
      <p:ext uri="{19B8F6BF-5375-455C-9EA6-DF929625EA0E}">
        <p15:presenceInfo xmlns:p15="http://schemas.microsoft.com/office/powerpoint/2012/main" userId="S::maike.schmidt@strategy-compass.com::b4eb969c-01b2-4915-aef7-794a5e1eccd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7A64B0-1BAF-4E4D-8F4C-181364258CF9}" v="8" dt="2026-06-30T02:24:25.402"/>
  </p1510:revLst>
</p1510:revInfo>
</file>

<file path=ppt/tableStyles.xml><?xml version="1.0" encoding="utf-8"?>
<a:tblStyleLst xmlns:a="http://schemas.openxmlformats.org/drawingml/2006/main" def="{09810C2D-2C2F-4581-8AFF-CD78C2D722A2}">
  <a:tblStyle styleId="{09810C2D-2C2F-4581-8AFF-CD78C2D722A2}" styleName="DHL Table No BG">
    <a:tblBg>
      <a:fill>
        <a:noFill/>
      </a:fill>
    </a:tblBg>
    <a:wholeTbl>
      <a:tcTxStyle>
        <a:fontRef idx="minor"/>
        <a:schemeClr val="tx1"/>
      </a:tcTxStyle>
      <a:tcStyle>
        <a:tcBdr>
          <a:left>
            <a:ln>
              <a:noFill/>
            </a:ln>
          </a:left>
          <a:right>
            <a:ln>
              <a:noFill/>
            </a:ln>
          </a:right>
          <a:top>
            <a:ln w="28575" cmpd="sng">
              <a:solidFill>
                <a:schemeClr val="accent4"/>
              </a:solidFill>
            </a:ln>
          </a:top>
          <a:bottom>
            <a:ln w="28575" cmpd="sng">
              <a:solidFill>
                <a:schemeClr val="accent4"/>
              </a:solidFill>
            </a:ln>
          </a:bottom>
          <a:insideH>
            <a:ln w="12700" cmpd="sng">
              <a:solidFill>
                <a:schemeClr val="tx1"/>
              </a:solidFill>
            </a:ln>
          </a:insideH>
          <a:insideV>
            <a:ln>
              <a:noFill/>
            </a:ln>
          </a:insideV>
        </a:tcBdr>
        <a:fill>
          <a:solidFill>
            <a:schemeClr val="bg1"/>
          </a:solid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a:tcStyle>
        <a:tcBdr/>
      </a:tcStyle>
    </a:lastCol>
    <a:firstCol>
      <a:tcStyle>
        <a:tcBdr/>
        <a:fill>
          <a:noFill/>
        </a:fill>
      </a:tcStyle>
    </a:firstCol>
    <a:lastRow>
      <a:tcStyle>
        <a:tcBdr/>
        <a:fill>
          <a:noFill/>
        </a:fill>
      </a:tcStyle>
    </a:lastRow>
    <a:firstRow>
      <a:tcTxStyle/>
      <a:tcStyle>
        <a:tcBdr>
          <a:bottom>
            <a:ln w="12700" cmpd="sng">
              <a:solidFill>
                <a:schemeClr val="tx1"/>
              </a:solidFill>
            </a:ln>
          </a:bottom>
        </a:tcBdr>
        <a:fill>
          <a:noFill/>
        </a:fill>
      </a:tcStyle>
    </a:firstRow>
  </a:tblStyle>
  <a:tblStyle styleId="{E6C8A55F-5544-428C-9B86-97CFDF07063B}" styleName="DHL Table White BG">
    <a:tblBg>
      <a:fill>
        <a:noFill/>
      </a:fill>
    </a:tblBg>
    <a:wholeTbl>
      <a:tcTxStyle>
        <a:fontRef idx="minor"/>
        <a:schemeClr val="tx1"/>
      </a:tcTxStyle>
      <a:tcStyle>
        <a:tcBdr>
          <a:left>
            <a:ln>
              <a:noFill/>
            </a:ln>
          </a:left>
          <a:right>
            <a:ln>
              <a:noFill/>
            </a:ln>
          </a:right>
          <a:top>
            <a:ln w="28575" cmpd="sng">
              <a:solidFill>
                <a:schemeClr val="accent4"/>
              </a:solidFill>
            </a:ln>
          </a:top>
          <a:bottom>
            <a:ln w="28575" cmpd="sng">
              <a:solidFill>
                <a:schemeClr val="accent4"/>
              </a:solidFill>
            </a:ln>
          </a:bottom>
          <a:insideH>
            <a:ln w="12700" cmpd="sng">
              <a:solidFill>
                <a:schemeClr val="tx1"/>
              </a:solidFill>
            </a:ln>
          </a:insideH>
          <a:insideV>
            <a:ln>
              <a:noFill/>
            </a:ln>
          </a:insideV>
        </a:tcBdr>
        <a:fill>
          <a:noFill/>
        </a:fill>
      </a:tcStyle>
    </a:wholeTbl>
    <a:band1H>
      <a:tcStyle>
        <a:tcBdr/>
        <a:fill>
          <a:solidFill>
            <a:schemeClr val="bg1">
              <a:tint val="100000"/>
            </a:schemeClr>
          </a:solidFill>
        </a:fill>
      </a:tcStyle>
    </a:band1H>
    <a:band2H>
      <a:tcStyle>
        <a:tcBdr/>
        <a:fill>
          <a:solidFill>
            <a:schemeClr val="bg1">
              <a:lumMod val="20000"/>
              <a:lumOff val="80000"/>
            </a:schemeClr>
          </a:solidFill>
        </a:fill>
      </a:tcStyle>
    </a:band2H>
    <a:band1V>
      <a:tcStyle>
        <a:tcBdr/>
        <a:fill>
          <a:solidFill>
            <a:schemeClr val="bg1">
              <a:lumMod val="20000"/>
              <a:lumOff val="80000"/>
            </a:schemeClr>
          </a:solidFill>
        </a:fill>
      </a:tcStyle>
    </a:band1V>
    <a:band2V>
      <a:tcStyle>
        <a:tcBdr/>
        <a:fill>
          <a:solidFill>
            <a:schemeClr val="bg1">
              <a:lumMod val="20000"/>
              <a:lumOff val="80000"/>
            </a:schemeClr>
          </a:solidFill>
        </a:fill>
      </a:tcStyle>
    </a:band2V>
    <a:lastCol>
      <a:tcTxStyle/>
      <a:tcStyle>
        <a:tcBdr/>
      </a:tcStyle>
    </a:lastCol>
    <a:firstCol>
      <a:tcStyle>
        <a:tcBdr/>
        <a:fill>
          <a:solidFill>
            <a:schemeClr val="bg1">
              <a:lumMod val="20000"/>
              <a:lumOff val="80000"/>
            </a:schemeClr>
          </a:solidFill>
        </a:fill>
      </a:tcStyle>
    </a:firstCol>
    <a:lastRow>
      <a:tcStyle>
        <a:tcBdr/>
        <a:fill>
          <a:solidFill>
            <a:schemeClr val="bg1">
              <a:lumMod val="20000"/>
              <a:lumOff val="80000"/>
            </a:schemeClr>
          </a:solidFill>
        </a:fill>
      </a:tcStyle>
    </a:lastRow>
    <a:firstRow>
      <a:tcTxStyle/>
      <a:tcStyle>
        <a:tcBdr>
          <a:bottom>
            <a:ln w="12700" cmpd="sng">
              <a:solidFill>
                <a:schemeClr val="tx1"/>
              </a:solidFill>
            </a:ln>
          </a:bottom>
        </a:tcBdr>
        <a:fill>
          <a:solidFill>
            <a:schemeClr val="bg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0944" autoAdjust="0"/>
  </p:normalViewPr>
  <p:slideViewPr>
    <p:cSldViewPr snapToGrid="0">
      <p:cViewPr varScale="1">
        <p:scale>
          <a:sx n="103" d="100"/>
          <a:sy n="103" d="100"/>
        </p:scale>
        <p:origin x="1890" y="108"/>
      </p:cViewPr>
      <p:guideLst>
        <p:guide pos="204"/>
        <p:guide pos="5556"/>
        <p:guide orient="horz" pos="725"/>
        <p:guide orient="horz" pos="2950"/>
        <p:guide orient="horz" pos="238"/>
        <p:guide pos="2832"/>
        <p:guide pos="2933"/>
        <p:guide pos="2023"/>
        <p:guide pos="1917"/>
        <p:guide pos="3737"/>
        <p:guide pos="384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Fernandiz (DHL IT Services)" userId="ab586ab1-73aa-4898-897a-befb875f1b26" providerId="ADAL" clId="{BCB3F6E5-3C13-4921-881A-682A861AC270}"/>
    <pc:docChg chg="undo custSel modSld sldOrd">
      <pc:chgData name="Brian Fernandiz (DHL IT Services)" userId="ab586ab1-73aa-4898-897a-befb875f1b26" providerId="ADAL" clId="{BCB3F6E5-3C13-4921-881A-682A861AC270}" dt="2026-06-30T02:24:30.047" v="98" actId="20577"/>
      <pc:docMkLst>
        <pc:docMk/>
      </pc:docMkLst>
      <pc:sldChg chg="modSp mod">
        <pc:chgData name="Brian Fernandiz (DHL IT Services)" userId="ab586ab1-73aa-4898-897a-befb875f1b26" providerId="ADAL" clId="{BCB3F6E5-3C13-4921-881A-682A861AC270}" dt="2026-06-30T02:21:17.687" v="68" actId="20577"/>
        <pc:sldMkLst>
          <pc:docMk/>
          <pc:sldMk cId="128355904" sldId="258"/>
        </pc:sldMkLst>
        <pc:spChg chg="mod">
          <ac:chgData name="Brian Fernandiz (DHL IT Services)" userId="ab586ab1-73aa-4898-897a-befb875f1b26" providerId="ADAL" clId="{BCB3F6E5-3C13-4921-881A-682A861AC270}" dt="2026-06-30T02:21:17.687" v="68" actId="20577"/>
          <ac:spMkLst>
            <pc:docMk/>
            <pc:sldMk cId="128355904" sldId="258"/>
            <ac:spMk id="5" creationId="{5DCBF12F-87D6-4BAC-B992-9A13D4DAAFBD}"/>
          </ac:spMkLst>
        </pc:spChg>
      </pc:sldChg>
      <pc:sldChg chg="addSp modSp mod">
        <pc:chgData name="Brian Fernandiz (DHL IT Services)" userId="ab586ab1-73aa-4898-897a-befb875f1b26" providerId="ADAL" clId="{BCB3F6E5-3C13-4921-881A-682A861AC270}" dt="2026-06-30T02:19:07.921" v="58" actId="14100"/>
        <pc:sldMkLst>
          <pc:docMk/>
          <pc:sldMk cId="3828801201" sldId="296"/>
        </pc:sldMkLst>
        <pc:spChg chg="mod">
          <ac:chgData name="Brian Fernandiz (DHL IT Services)" userId="ab586ab1-73aa-4898-897a-befb875f1b26" providerId="ADAL" clId="{BCB3F6E5-3C13-4921-881A-682A861AC270}" dt="2026-06-30T02:18:14.939" v="26" actId="113"/>
          <ac:spMkLst>
            <pc:docMk/>
            <pc:sldMk cId="3828801201" sldId="296"/>
            <ac:spMk id="2" creationId="{32735A3E-50EC-41EB-B9B5-CDDDBBBFDEDA}"/>
          </ac:spMkLst>
        </pc:spChg>
        <pc:spChg chg="mod">
          <ac:chgData name="Brian Fernandiz (DHL IT Services)" userId="ab586ab1-73aa-4898-897a-befb875f1b26" providerId="ADAL" clId="{BCB3F6E5-3C13-4921-881A-682A861AC270}" dt="2026-06-30T02:16:37.614" v="1" actId="20577"/>
          <ac:spMkLst>
            <pc:docMk/>
            <pc:sldMk cId="3828801201" sldId="296"/>
            <ac:spMk id="3" creationId="{01D8AA51-79C2-4231-920A-30B2017224DD}"/>
          </ac:spMkLst>
        </pc:spChg>
        <pc:spChg chg="add mod">
          <ac:chgData name="Brian Fernandiz (DHL IT Services)" userId="ab586ab1-73aa-4898-897a-befb875f1b26" providerId="ADAL" clId="{BCB3F6E5-3C13-4921-881A-682A861AC270}" dt="2026-06-30T02:19:07.921" v="58" actId="14100"/>
          <ac:spMkLst>
            <pc:docMk/>
            <pc:sldMk cId="3828801201" sldId="296"/>
            <ac:spMk id="6" creationId="{45C7E070-7650-8F43-361A-A77DF3D314CA}"/>
          </ac:spMkLst>
        </pc:spChg>
      </pc:sldChg>
      <pc:sldChg chg="modSp mod ord">
        <pc:chgData name="Brian Fernandiz (DHL IT Services)" userId="ab586ab1-73aa-4898-897a-befb875f1b26" providerId="ADAL" clId="{BCB3F6E5-3C13-4921-881A-682A861AC270}" dt="2026-06-30T02:24:30.047" v="98" actId="20577"/>
        <pc:sldMkLst>
          <pc:docMk/>
          <pc:sldMk cId="1794442882" sldId="457"/>
        </pc:sldMkLst>
        <pc:spChg chg="mod">
          <ac:chgData name="Brian Fernandiz (DHL IT Services)" userId="ab586ab1-73aa-4898-897a-befb875f1b26" providerId="ADAL" clId="{BCB3F6E5-3C13-4921-881A-682A861AC270}" dt="2026-06-30T02:23:00.264" v="77" actId="20577"/>
          <ac:spMkLst>
            <pc:docMk/>
            <pc:sldMk cId="1794442882" sldId="457"/>
            <ac:spMk id="14" creationId="{FAA2DD7D-3438-426E-1482-8B03F10AF675}"/>
          </ac:spMkLst>
        </pc:spChg>
        <pc:spChg chg="mod">
          <ac:chgData name="Brian Fernandiz (DHL IT Services)" userId="ab586ab1-73aa-4898-897a-befb875f1b26" providerId="ADAL" clId="{BCB3F6E5-3C13-4921-881A-682A861AC270}" dt="2026-06-30T02:24:30.047" v="98" actId="20577"/>
          <ac:spMkLst>
            <pc:docMk/>
            <pc:sldMk cId="1794442882" sldId="457"/>
            <ac:spMk id="16" creationId="{A1CE9276-C175-E3B0-405A-45A81BCC9F8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17B2361C-52A5-2D39-616E-DF58DB95B4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D568FFD3-4958-92C9-7607-D77104F533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7A716D-B5F1-40BF-A3B7-2D9217AC1B17}" type="datetimeFigureOut">
              <a:rPr lang="de-DE" smtClean="0"/>
              <a:t>02.07.2026</a:t>
            </a:fld>
            <a:endParaRPr lang="de-DE"/>
          </a:p>
        </p:txBody>
      </p:sp>
      <p:sp>
        <p:nvSpPr>
          <p:cNvPr id="4" name="Fußzeilenplatzhalter 3">
            <a:extLst>
              <a:ext uri="{FF2B5EF4-FFF2-40B4-BE49-F238E27FC236}">
                <a16:creationId xmlns:a16="http://schemas.microsoft.com/office/drawing/2014/main" id="{17B18B2A-0CD7-6710-8EBD-266503F48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67DFC332-6B8E-8BA3-C646-0EC42D7F93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24916D-A663-46A2-991B-C556AC1FDBB8}" type="slidenum">
              <a:rPr lang="de-DE" smtClean="0"/>
              <a:t>‹#›</a:t>
            </a:fld>
            <a:endParaRPr lang="de-DE"/>
          </a:p>
        </p:txBody>
      </p:sp>
    </p:spTree>
    <p:extLst>
      <p:ext uri="{BB962C8B-B14F-4D97-AF65-F5344CB8AC3E}">
        <p14:creationId xmlns:p14="http://schemas.microsoft.com/office/powerpoint/2010/main" val="249632385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5CAE4-CBB0-454E-B6B8-0B6620C2B409}" type="datetimeFigureOut">
              <a:rPr lang="de-DE" smtClean="0"/>
              <a:t>02.07.2026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53AD6-CEF2-4FD5-AABC-FCC5FC528AD2}" type="slidenum">
              <a:rPr lang="de-DE" smtClean="0"/>
              <a:t>‹#›</a:t>
            </a:fld>
            <a:endParaRPr lang="de-DE"/>
          </a:p>
        </p:txBody>
      </p:sp>
    </p:spTree>
    <p:extLst>
      <p:ext uri="{BB962C8B-B14F-4D97-AF65-F5344CB8AC3E}">
        <p14:creationId xmlns:p14="http://schemas.microsoft.com/office/powerpoint/2010/main" val="2539216504"/>
      </p:ext>
    </p:extLst>
  </p:cSld>
  <p:clrMap bg1="lt1" tx1="dk1" bg2="lt2" tx2="dk2" accent1="accent1" accent2="accent2" accent3="accent3" accent4="accent4" accent5="accent5" accent6="accent6" hlink="hlink" folHlink="folHlink"/>
  <p:notes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20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GM- </a:t>
            </a:r>
          </a:p>
          <a:p>
            <a:r>
              <a:rPr lang="en-US" dirty="0"/>
              <a:t>I will present -  - working prototype.</a:t>
            </a:r>
          </a:p>
          <a:p>
            <a:r>
              <a:rPr lang="en-US" dirty="0"/>
              <a:t>AV, Helps – tester –by combine 3 – and AI-driven analysis to provide -  broader attack surface – risk-prioritized – before manual test begins.</a:t>
            </a:r>
          </a:p>
          <a:p>
            <a:r>
              <a:rPr lang="en-US" dirty="0"/>
              <a:t>Platform – advisory only – generated results – validated, by the tester – before reporting.</a:t>
            </a:r>
          </a:p>
          <a:p>
            <a:r>
              <a:rPr lang="en-US" dirty="0"/>
              <a:t>Let me walk you through the solution</a:t>
            </a:r>
            <a:br>
              <a:rPr lang="en-US" dirty="0"/>
            </a:br>
            <a:br>
              <a:rPr lang="en-US" dirty="0"/>
            </a:br>
            <a:r>
              <a:rPr lang="en-US" dirty="0"/>
              <a:t>----</a:t>
            </a:r>
            <a:br>
              <a:rPr lang="en-US" dirty="0"/>
            </a:br>
            <a:endParaRPr lang="en-US" dirty="0"/>
          </a:p>
        </p:txBody>
      </p:sp>
      <p:sp>
        <p:nvSpPr>
          <p:cNvPr id="4" name="Slide Number Placeholder 3"/>
          <p:cNvSpPr>
            <a:spLocks noGrp="1"/>
          </p:cNvSpPr>
          <p:nvPr>
            <p:ph type="sldNum" sz="quarter" idx="5"/>
          </p:nvPr>
        </p:nvSpPr>
        <p:spPr/>
        <p:txBody>
          <a:bodyPr/>
          <a:lstStyle/>
          <a:p>
            <a:fld id="{4B753AD6-CEF2-4FD5-AABC-FCC5FC528AD2}" type="slidenum">
              <a:rPr lang="de-DE" smtClean="0"/>
              <a:t>1</a:t>
            </a:fld>
            <a:endParaRPr lang="de-DE"/>
          </a:p>
        </p:txBody>
      </p:sp>
    </p:spTree>
    <p:extLst>
      <p:ext uri="{BB962C8B-B14F-4D97-AF65-F5344CB8AC3E}">
        <p14:creationId xmlns:p14="http://schemas.microsoft.com/office/powerpoint/2010/main" val="192340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1– workflow ,to highlight what changes, – guardrails build into the platform–we will review the prototype –conclude with a live demo with demo target –</a:t>
            </a:r>
          </a:p>
          <a:p>
            <a:endParaRPr lang="en-US" dirty="0"/>
          </a:p>
          <a:p>
            <a:r>
              <a:rPr lang="en-US" dirty="0"/>
              <a:t>Let me move into next slide will see details.</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B753AD6-CEF2-4FD5-AABC-FCC5FC528AD2}" type="slidenum">
              <a:rPr lang="de-DE" smtClean="0"/>
              <a:t>2</a:t>
            </a:fld>
            <a:endParaRPr lang="de-DE"/>
          </a:p>
        </p:txBody>
      </p:sp>
    </p:spTree>
    <p:extLst>
      <p:ext uri="{BB962C8B-B14F-4D97-AF65-F5344CB8AC3E}">
        <p14:creationId xmlns:p14="http://schemas.microsoft.com/office/powerpoint/2010/main" val="550153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top – see – </a:t>
            </a:r>
            <a:r>
              <a:rPr lang="en-US" dirty="0" err="1"/>
              <a:t>pentest</a:t>
            </a:r>
            <a:r>
              <a:rPr lang="en-US" dirty="0"/>
              <a:t> perform - reconnaissance, analysis, and vulnerability correlation -</a:t>
            </a:r>
          </a:p>
          <a:p>
            <a:br>
              <a:rPr lang="en-US" dirty="0"/>
            </a:br>
            <a:r>
              <a:rPr lang="en-US" dirty="0"/>
              <a:t>On the bottom </a:t>
            </a:r>
            <a:r>
              <a:rPr lang="en-US" dirty="0">
                <a:sym typeface="Wingdings" panose="05000000000000000000" pitchFamily="2" charset="2"/>
              </a:rPr>
              <a:t> After the initial validation,</a:t>
            </a:r>
          </a:p>
          <a:p>
            <a:r>
              <a:rPr lang="en-US" dirty="0">
                <a:sym typeface="Wingdings" panose="05000000000000000000" pitchFamily="2" charset="2"/>
              </a:rPr>
              <a:t>	           A Scout performs reconnaissance, and</a:t>
            </a:r>
            <a:br>
              <a:rPr lang="en-US" dirty="0">
                <a:sym typeface="Wingdings" panose="05000000000000000000" pitchFamily="2" charset="2"/>
              </a:rPr>
            </a:br>
            <a:r>
              <a:rPr lang="en-US" dirty="0">
                <a:sym typeface="Wingdings" panose="05000000000000000000" pitchFamily="2" charset="2"/>
              </a:rPr>
              <a:t>                            A Viper analyzes and correlates three data to </a:t>
            </a:r>
          </a:p>
          <a:p>
            <a:r>
              <a:rPr lang="en-US" dirty="0">
                <a:sym typeface="Wingdings" panose="05000000000000000000" pitchFamily="2" charset="2"/>
              </a:rPr>
              <a:t>                            generate a risk-prioritized view of the application </a:t>
            </a:r>
          </a:p>
          <a:p>
            <a:r>
              <a:rPr lang="en-US" dirty="0">
                <a:sym typeface="Wingdings" panose="05000000000000000000" pitchFamily="2" charset="2"/>
              </a:rPr>
              <a:t>	          before manual testing begins.</a:t>
            </a:r>
          </a:p>
          <a:p>
            <a:r>
              <a:rPr lang="en-US" dirty="0">
                <a:sym typeface="Wingdings" panose="05000000000000000000" pitchFamily="2" charset="2"/>
              </a:rPr>
              <a:t> </a:t>
            </a:r>
          </a:p>
          <a:p>
            <a:r>
              <a:rPr lang="en-US" dirty="0">
                <a:sym typeface="Wingdings" panose="05000000000000000000" pitchFamily="2" charset="2"/>
              </a:rPr>
              <a:t>Testers – starts with –having  more </a:t>
            </a:r>
            <a:r>
              <a:rPr lang="en-US" dirty="0" err="1">
                <a:sym typeface="Wingdings" panose="05000000000000000000" pitchFamily="2" charset="2"/>
              </a:rPr>
              <a:t>deti</a:t>
            </a:r>
            <a:r>
              <a:rPr lang="en-US" dirty="0">
                <a:sym typeface="Wingdings" panose="05000000000000000000" pitchFamily="2" charset="2"/>
              </a:rPr>
              <a:t>-  attack surface, potential attack paths, and the highest-risk areas to investigate. </a:t>
            </a:r>
          </a:p>
          <a:p>
            <a:r>
              <a:rPr lang="en-US" dirty="0">
                <a:sym typeface="Wingdings" panose="05000000000000000000" pitchFamily="2" charset="2"/>
              </a:rPr>
              <a:t>                             Generated possible findings  - validate + pt perform  include ( business logic + </a:t>
            </a:r>
            <a:r>
              <a:rPr lang="en-US" dirty="0" err="1">
                <a:sym typeface="Wingdings" panose="05000000000000000000" pitchFamily="2" charset="2"/>
              </a:rPr>
              <a:t>Idor</a:t>
            </a:r>
            <a:r>
              <a:rPr lang="en-US" dirty="0">
                <a:sym typeface="Wingdings" panose="05000000000000000000" pitchFamily="2" charset="2"/>
              </a:rPr>
              <a:t> + </a:t>
            </a:r>
            <a:r>
              <a:rPr lang="en-US" dirty="0" err="1">
                <a:sym typeface="Wingdings" panose="05000000000000000000" pitchFamily="2" charset="2"/>
              </a:rPr>
              <a:t>priv-escal</a:t>
            </a:r>
            <a:r>
              <a:rPr lang="en-US" dirty="0">
                <a:sym typeface="Wingdings" panose="05000000000000000000" pitchFamily="2" charset="2"/>
              </a:rPr>
              <a:t> ) – need human expertise</a:t>
            </a:r>
          </a:p>
          <a:p>
            <a:endParaRPr lang="en-US" dirty="0"/>
          </a:p>
          <a:p>
            <a:r>
              <a:rPr lang="en-US" dirty="0"/>
              <a:t>Shall I move to next slide.</a:t>
            </a:r>
          </a:p>
        </p:txBody>
      </p:sp>
      <p:sp>
        <p:nvSpPr>
          <p:cNvPr id="4" name="Slide Number Placeholder 3"/>
          <p:cNvSpPr>
            <a:spLocks noGrp="1"/>
          </p:cNvSpPr>
          <p:nvPr>
            <p:ph type="sldNum" sz="quarter" idx="5"/>
          </p:nvPr>
        </p:nvSpPr>
        <p:spPr/>
        <p:txBody>
          <a:bodyPr/>
          <a:lstStyle/>
          <a:p>
            <a:fld id="{4B753AD6-CEF2-4FD5-AABC-FCC5FC528AD2}" type="slidenum">
              <a:rPr lang="de-DE" smtClean="0"/>
              <a:t>3</a:t>
            </a:fld>
            <a:endParaRPr lang="de-DE"/>
          </a:p>
        </p:txBody>
      </p:sp>
    </p:spTree>
    <p:extLst>
      <p:ext uri="{BB962C8B-B14F-4D97-AF65-F5344CB8AC3E}">
        <p14:creationId xmlns:p14="http://schemas.microsoft.com/office/powerpoint/2010/main" val="36668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 capabilities –</a:t>
            </a:r>
          </a:p>
          <a:p>
            <a:r>
              <a:rPr lang="en-US" dirty="0"/>
              <a:t>	  Instead of looking separate - viper correlates three </a:t>
            </a:r>
            <a:r>
              <a:rPr lang="en-US" dirty="0" err="1"/>
              <a:t>inpu</a:t>
            </a:r>
            <a:r>
              <a:rPr lang="en-US" dirty="0"/>
              <a:t>– bring – together into a single view and correlates the findings using AI. </a:t>
            </a:r>
          </a:p>
          <a:p>
            <a:r>
              <a:rPr lang="en-US" dirty="0"/>
              <a:t>                    It *third* attack surface, attack </a:t>
            </a:r>
            <a:r>
              <a:rPr lang="en-US" dirty="0" err="1"/>
              <a:t>paths,possible</a:t>
            </a:r>
            <a:r>
              <a:rPr lang="en-US" dirty="0"/>
              <a:t> entry points while expanding *second*</a:t>
            </a:r>
          </a:p>
          <a:p>
            <a:r>
              <a:rPr lang="en-US" dirty="0"/>
              <a:t>                   </a:t>
            </a:r>
          </a:p>
          <a:p>
            <a:r>
              <a:rPr lang="en-US" dirty="0"/>
              <a:t>                   This allows penetration testers to focus on validating the highest-risk scenarios.</a:t>
            </a:r>
          </a:p>
          <a:p>
            <a:endParaRPr lang="en-US" dirty="0"/>
          </a:p>
          <a:p>
            <a:r>
              <a:rPr lang="en-US" dirty="0"/>
              <a:t>Right side - boundaries ---</a:t>
            </a:r>
          </a:p>
          <a:p>
            <a:r>
              <a:rPr lang="en-US" dirty="0"/>
              <a:t>	AV advisory only-  “1”</a:t>
            </a:r>
          </a:p>
          <a:p>
            <a:r>
              <a:rPr lang="en-US" dirty="0"/>
              <a:t>                  2</a:t>
            </a:r>
            <a:r>
              <a:rPr lang="en-US" baseline="30000" dirty="0"/>
              <a:t>nd</a:t>
            </a:r>
            <a:r>
              <a:rPr lang="en-US" dirty="0"/>
              <a:t> - which require human expertise and manual testing.</a:t>
            </a:r>
          </a:p>
          <a:p>
            <a:r>
              <a:rPr lang="en-US" dirty="0"/>
              <a:t>                Provides – intelligence and assessment guidance – while validation and exploitation remain the responsibility of tester</a:t>
            </a:r>
          </a:p>
          <a:p>
            <a:endParaRPr lang="en-US" dirty="0"/>
          </a:p>
          <a:p>
            <a:pPr marL="0" marR="0" lvl="0" indent="0" algn="l" defTabSz="685800" rtl="0" eaLnBrk="1" fontAlgn="auto" latinLnBrk="0" hangingPunct="1">
              <a:lnSpc>
                <a:spcPct val="110000"/>
              </a:lnSpc>
              <a:spcBef>
                <a:spcPts val="0"/>
              </a:spcBef>
              <a:spcAft>
                <a:spcPts val="500"/>
              </a:spcAft>
              <a:buClrTx/>
              <a:buSzTx/>
              <a:buFont typeface="Arial" panose="020B0604020202020204" pitchFamily="34" charset="0"/>
              <a:buNone/>
              <a:tabLst/>
              <a:defRPr/>
            </a:pPr>
            <a:r>
              <a:rPr lang="en-US" dirty="0"/>
              <a:t>Shall I move to next slide.</a:t>
            </a:r>
          </a:p>
          <a:p>
            <a:endParaRPr lang="en-US" dirty="0"/>
          </a:p>
        </p:txBody>
      </p:sp>
      <p:sp>
        <p:nvSpPr>
          <p:cNvPr id="4" name="Slide Number Placeholder 3"/>
          <p:cNvSpPr>
            <a:spLocks noGrp="1"/>
          </p:cNvSpPr>
          <p:nvPr>
            <p:ph type="sldNum" sz="quarter" idx="5"/>
          </p:nvPr>
        </p:nvSpPr>
        <p:spPr/>
        <p:txBody>
          <a:bodyPr/>
          <a:lstStyle/>
          <a:p>
            <a:fld id="{4B753AD6-CEF2-4FD5-AABC-FCC5FC528AD2}" type="slidenum">
              <a:rPr lang="de-DE" smtClean="0"/>
              <a:t>4</a:t>
            </a:fld>
            <a:endParaRPr lang="de-DE"/>
          </a:p>
        </p:txBody>
      </p:sp>
    </p:spTree>
    <p:extLst>
      <p:ext uri="{BB962C8B-B14F-4D97-AF65-F5344CB8AC3E}">
        <p14:creationId xmlns:p14="http://schemas.microsoft.com/office/powerpoint/2010/main" val="3911895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F8405-37A9-F5B9-A7B0-E441E907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FB660-0F87-2E07-52F6-281F4231E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C9E37-AAEB-5162-135E-772398C61114}"/>
              </a:ext>
            </a:extLst>
          </p:cNvPr>
          <p:cNvSpPr>
            <a:spLocks noGrp="1"/>
          </p:cNvSpPr>
          <p:nvPr>
            <p:ph type="body" idx="1"/>
          </p:nvPr>
        </p:nvSpPr>
        <p:spPr/>
        <p:txBody>
          <a:bodyPr/>
          <a:lstStyle/>
          <a:p>
            <a:endParaRPr lang="en-US" dirty="0"/>
          </a:p>
          <a:p>
            <a:r>
              <a:rPr lang="en-US" dirty="0"/>
              <a:t>Left pipeline starts - Readiness, where automated validation checks ensure the assessment can be executed safely, reliably, and within the approved scope.</a:t>
            </a:r>
          </a:p>
          <a:p>
            <a:endParaRPr lang="en-US" dirty="0"/>
          </a:p>
          <a:p>
            <a:r>
              <a:rPr lang="en-US" dirty="0"/>
              <a:t>Next are the Data Sources / Inputs. Once the readiness checks pass, the pipeline accepts Agent Scout, SAST, and DAST data. </a:t>
            </a:r>
          </a:p>
          <a:p>
            <a:endParaRPr lang="en-US" dirty="0"/>
          </a:p>
          <a:p>
            <a:r>
              <a:rPr lang="en-US" dirty="0"/>
              <a:t>These inputs are consolidated by the Harvester into a single, analysis-ready dataset.</a:t>
            </a:r>
          </a:p>
          <a:p>
            <a:endParaRPr lang="en-US" dirty="0"/>
          </a:p>
          <a:p>
            <a:r>
              <a:rPr lang="en-US" dirty="0"/>
              <a:t>In the center, the Analyst is the first AI-driven stage. It correlates and enriches the data, removes duplicates with AI match endpoints and vulnerability type, maps findings to runtime endpoints, and prioritizes risks.</a:t>
            </a:r>
          </a:p>
          <a:p>
            <a:endParaRPr lang="en-US" dirty="0"/>
          </a:p>
          <a:p>
            <a:r>
              <a:rPr lang="en-US" dirty="0"/>
              <a:t>Moving further, the Possible Finding Builder generates structured possible findings and validation test cases. The Attack Chain Builder combines related findings into realistic attack paths, while the Critical Advisory identifies the highest-impact risks, including potential breach scenarios and sensitive data exposure.</a:t>
            </a:r>
          </a:p>
          <a:p>
            <a:endParaRPr lang="en-US" dirty="0"/>
          </a:p>
          <a:p>
            <a:r>
              <a:rPr lang="en-US" dirty="0"/>
              <a:t>At the bottom, you can see the Knowledge Base, which includes OWASP Top 10, DHL VDP Intelligence, CISA KEV, NVD CVE intelligence, and predefined security testing checklists. These trusted knowledge sources help ground the AI's analysis, improve accuracy, and reduce hallucinations.</a:t>
            </a:r>
          </a:p>
          <a:p>
            <a:endParaRPr lang="en-US" dirty="0"/>
          </a:p>
          <a:p>
            <a:r>
              <a:rPr lang="en-US" dirty="0"/>
              <a:t>On the right, you can see the Outputs. The platform delivers a risk-prioritized attack surface, attack chains, critical advisories, and an Attack Surface Mind Map. All outputs are downloadable in Excel, with Markdown and JSON formats also supported.</a:t>
            </a:r>
          </a:p>
          <a:p>
            <a:endParaRPr lang="en-US" dirty="0"/>
          </a:p>
          <a:p>
            <a:r>
              <a:rPr lang="en-US" dirty="0"/>
              <a:t>***Overall, the platform provides broader attack-surface coverage, more consistent assessments, and earlier identification of high-risk issues. The objective is not to replace penetration testers, but to provide actionable intelligence so they can focus on validating the highest-impact risks from the beginning of the engagement.***</a:t>
            </a:r>
          </a:p>
          <a:p>
            <a:endParaRPr lang="en-US" dirty="0"/>
          </a:p>
          <a:p>
            <a:r>
              <a:rPr lang="en-US" dirty="0"/>
              <a:t>From an infrastructure perspective, Agent Viper aligns with the Scout project by reusing the same infrastructure, platform services, and operational model. This reduces implementation effort while providing a unified capability for reconnaissance, vulnerability intelligence, and attack-surface analysis.</a:t>
            </a:r>
          </a:p>
          <a:p>
            <a:endParaRPr lang="en-US" dirty="0"/>
          </a:p>
          <a:p>
            <a:r>
              <a:rPr lang="en-US" dirty="0"/>
              <a:t>Workflow - executed  - through - CLI, - web UI, or as part of an automated workflow, - it enables more integration option..</a:t>
            </a:r>
          </a:p>
          <a:p>
            <a:endParaRPr lang="en-US" dirty="0"/>
          </a:p>
          <a:p>
            <a:r>
              <a:rPr lang="en-US" dirty="0"/>
              <a:t>Shall I move to next slide</a:t>
            </a:r>
          </a:p>
        </p:txBody>
      </p:sp>
      <p:sp>
        <p:nvSpPr>
          <p:cNvPr id="4" name="Slide Number Placeholder 3">
            <a:extLst>
              <a:ext uri="{FF2B5EF4-FFF2-40B4-BE49-F238E27FC236}">
                <a16:creationId xmlns:a16="http://schemas.microsoft.com/office/drawing/2014/main" id="{6106644D-5E93-4B2C-17B4-AFF6C0986326}"/>
              </a:ext>
            </a:extLst>
          </p:cNvPr>
          <p:cNvSpPr>
            <a:spLocks noGrp="1"/>
          </p:cNvSpPr>
          <p:nvPr>
            <p:ph type="sldNum" sz="quarter" idx="5"/>
          </p:nvPr>
        </p:nvSpPr>
        <p:spPr/>
        <p:txBody>
          <a:bodyPr/>
          <a:lstStyle/>
          <a:p>
            <a:fld id="{4B753AD6-CEF2-4FD5-AABC-FCC5FC528AD2}" type="slidenum">
              <a:rPr lang="de-DE" smtClean="0"/>
              <a:t>5</a:t>
            </a:fld>
            <a:endParaRPr lang="de-DE"/>
          </a:p>
        </p:txBody>
      </p:sp>
    </p:spTree>
    <p:extLst>
      <p:ext uri="{BB962C8B-B14F-4D97-AF65-F5344CB8AC3E}">
        <p14:creationId xmlns:p14="http://schemas.microsoft.com/office/powerpoint/2010/main" val="871888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a:t>
            </a:r>
          </a:p>
          <a:p>
            <a:endParaRPr lang="en-US" dirty="0"/>
          </a:p>
          <a:p>
            <a:r>
              <a:rPr lang="en-US" dirty="0"/>
              <a:t>Scope Guard restricts execution strictly to the authorized assessment scope, preventing unintended scanning of out-of-scope targets.</a:t>
            </a:r>
          </a:p>
          <a:p>
            <a:endParaRPr lang="en-US" dirty="0"/>
          </a:p>
          <a:p>
            <a:r>
              <a:rPr lang="en-US" dirty="0"/>
              <a:t>LLM Token Execution Limits enforce a predefined token threshold for each execution. If the limit is exceeded, the pipeline stops automatically, and the event is recorded in the monitoring dashboard for administrator review.</a:t>
            </a:r>
          </a:p>
          <a:p>
            <a:endParaRPr lang="en-US" dirty="0"/>
          </a:p>
          <a:p>
            <a:r>
              <a:rPr lang="en-US" dirty="0"/>
              <a:t>The Kill Switch allows administrators to immediately stop the entire pipeline at any stage for troubleshooting, validation, or investigation.</a:t>
            </a:r>
          </a:p>
          <a:p>
            <a:endParaRPr lang="en-US" dirty="0"/>
          </a:p>
          <a:p>
            <a:r>
              <a:rPr lang="en-US" dirty="0"/>
              <a:t>Finally, Credential Isolation ensures that credentials, API keys, and tokens are never exposed to the LLM. All sensitive information is securely managed by the platform before any AI processing takes place.</a:t>
            </a:r>
          </a:p>
          <a:p>
            <a:endParaRPr lang="en-US" dirty="0"/>
          </a:p>
          <a:p>
            <a:r>
              <a:rPr lang="en-US" dirty="0"/>
              <a:t>All guardrails operate at the scan level, stopping only the affected scan. The only exceptions are the manual Kill Switch and the LLM Token Execution Limit, which halt the entire platform by stopping all running scans and pipeline activities.</a:t>
            </a:r>
          </a:p>
          <a:p>
            <a:endParaRPr lang="en-US" dirty="0"/>
          </a:p>
          <a:p>
            <a:r>
              <a:rPr lang="en-US" dirty="0"/>
              <a:t>On the right, you can see the platform's key capabilities.</a:t>
            </a:r>
          </a:p>
          <a:p>
            <a:endParaRPr lang="en-US" dirty="0"/>
          </a:p>
          <a:p>
            <a:r>
              <a:rPr lang="en-US" dirty="0"/>
              <a:t>Dynamic SAST-to-Attack Vector Mapping maps static SAST findings to runtime endpoints, enabling faster and more accurate vulnerability validation.</a:t>
            </a:r>
          </a:p>
          <a:p>
            <a:r>
              <a:rPr lang="en-US" dirty="0"/>
              <a:t>Automated CVE Enrichment verifies AI-generated findings against NVD and CISA KEV, enriching them with real-world threat intelligence and known exploited vulnerabilities.</a:t>
            </a:r>
          </a:p>
          <a:p>
            <a:r>
              <a:rPr lang="en-US" dirty="0"/>
              <a:t>VDP Intelligence &amp; Pattern Reuse reuses historical VDP findings to identify similar attack patterns and generate targeted validation test cases.</a:t>
            </a:r>
          </a:p>
          <a:p>
            <a:r>
              <a:rPr lang="en-US" dirty="0"/>
              <a:t>Broader Attack Surface Coverage correlates Agent Scout, SAST, and DAST into a unified intelligence view, improving coverage and identifying compound risks.</a:t>
            </a:r>
          </a:p>
          <a:p>
            <a:r>
              <a:rPr lang="en-US" dirty="0"/>
              <a:t>Automated Attack Chain Generation connects related vulnerabilities into realistic attack paths, demonstrating potential business impact and breach scenarios.</a:t>
            </a:r>
          </a:p>
          <a:p>
            <a:endParaRPr lang="en-US" dirty="0"/>
          </a:p>
        </p:txBody>
      </p:sp>
      <p:sp>
        <p:nvSpPr>
          <p:cNvPr id="4" name="Slide Number Placeholder 3"/>
          <p:cNvSpPr>
            <a:spLocks noGrp="1"/>
          </p:cNvSpPr>
          <p:nvPr>
            <p:ph type="sldNum" sz="quarter" idx="5"/>
          </p:nvPr>
        </p:nvSpPr>
        <p:spPr/>
        <p:txBody>
          <a:bodyPr/>
          <a:lstStyle/>
          <a:p>
            <a:fld id="{4B753AD6-CEF2-4FD5-AABC-FCC5FC528AD2}" type="slidenum">
              <a:rPr lang="de-DE" smtClean="0"/>
              <a:t>6</a:t>
            </a:fld>
            <a:endParaRPr lang="de-DE"/>
          </a:p>
        </p:txBody>
      </p:sp>
    </p:spTree>
    <p:extLst>
      <p:ext uri="{BB962C8B-B14F-4D97-AF65-F5344CB8AC3E}">
        <p14:creationId xmlns:p14="http://schemas.microsoft.com/office/powerpoint/2010/main" val="3514466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851B-A17B-9D15-03E4-EAD4D8C2F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94F53-6465-0280-093B-42F861378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3B311E-8AA6-47F9-E2BD-9751F6F75187}"/>
              </a:ext>
            </a:extLst>
          </p:cNvPr>
          <p:cNvSpPr>
            <a:spLocks noGrp="1"/>
          </p:cNvSpPr>
          <p:nvPr>
            <p:ph type="body" idx="1"/>
          </p:nvPr>
        </p:nvSpPr>
        <p:spPr/>
        <p:txBody>
          <a:bodyPr/>
          <a:lstStyle/>
          <a:p>
            <a:r>
              <a:rPr lang="en-US" dirty="0"/>
              <a:t>Starting on the left, the assessment began with 15 Scout-discovered endpoints and 17 Scout findings, which served as the initial input for the analysis.</a:t>
            </a:r>
          </a:p>
          <a:p>
            <a:endParaRPr lang="en-US" dirty="0"/>
          </a:p>
          <a:p>
            <a:r>
              <a:rPr lang="en-US" dirty="0"/>
              <a:t>Agent Viper expanded the attack surface by discovering 19 endpoints, including 4 additional runtime endpoints, and generated a total of 91 possible findings. This master set includes Attack Chains, Critical Advisories, and Scout Advisories.</a:t>
            </a:r>
          </a:p>
          <a:p>
            <a:endParaRPr lang="en-US" dirty="0"/>
          </a:p>
          <a:p>
            <a:r>
              <a:rPr lang="en-US" dirty="0"/>
              <a:t>From these findings, the platform identified 13 attack chains and 14 critical advisories, including 10 breach-level scenarios and 4 findings matched against known exploited CVEs.</a:t>
            </a:r>
          </a:p>
          <a:p>
            <a:endParaRPr lang="en-US" dirty="0"/>
          </a:p>
          <a:p>
            <a:r>
              <a:rPr lang="en-US" dirty="0"/>
              <a:t>On the right, these prioritized results become the primary focus areas for penetration testers, enabling them to concentrate on validating the highest-risk scenarios instead of spending time manually correlating data.</a:t>
            </a:r>
          </a:p>
          <a:p>
            <a:endParaRPr lang="en-US" dirty="0"/>
          </a:p>
          <a:p>
            <a:r>
              <a:rPr lang="en-US" dirty="0"/>
              <a:t>Overall, Agent Viper transforms the initial Scout output into a broader attack surface, prioritized security intelligence, and actionable attack paths, providing valuable insights before manual penetration testing begins.</a:t>
            </a:r>
          </a:p>
          <a:p>
            <a:endParaRPr lang="en-US" dirty="0"/>
          </a:p>
          <a:p>
            <a:r>
              <a:rPr lang="en-US" dirty="0"/>
              <a:t>The platform provides **LLM flexibility**, using the **DHL API Hub** as the default provider for compliance while also supporting **</a:t>
            </a:r>
            <a:r>
              <a:rPr lang="en-US" dirty="0" err="1"/>
              <a:t>Ollama</a:t>
            </a:r>
            <a:r>
              <a:rPr lang="en-US" dirty="0"/>
              <a:t>** local deployments, as well as **others** for deployment flexibility.</a:t>
            </a:r>
          </a:p>
          <a:p>
            <a:endParaRPr lang="en-US" dirty="0"/>
          </a:p>
          <a:p>
            <a:r>
              <a:rPr lang="en-US" dirty="0"/>
              <a:t>From an engineering perspective, the solution currently maintains approximately **75% code coverage** and is continuously validated through **SAST** and **DAST** </a:t>
            </a:r>
            <a:r>
              <a:rPr lang="en-US" dirty="0" err="1"/>
              <a:t>adn</a:t>
            </a:r>
            <a:r>
              <a:rPr lang="en-US" dirty="0"/>
              <a:t> threat </a:t>
            </a:r>
            <a:r>
              <a:rPr lang="en-US" dirty="0" err="1"/>
              <a:t>mdeling</a:t>
            </a:r>
            <a:r>
              <a:rPr lang="en-US" dirty="0"/>
              <a:t> testing.</a:t>
            </a:r>
          </a:p>
          <a:p>
            <a:endParaRPr lang="en-US" dirty="0"/>
          </a:p>
        </p:txBody>
      </p:sp>
      <p:sp>
        <p:nvSpPr>
          <p:cNvPr id="4" name="Slide Number Placeholder 3">
            <a:extLst>
              <a:ext uri="{FF2B5EF4-FFF2-40B4-BE49-F238E27FC236}">
                <a16:creationId xmlns:a16="http://schemas.microsoft.com/office/drawing/2014/main" id="{D5765D60-4702-B9DC-0A1A-85DA1E7F8B06}"/>
              </a:ext>
            </a:extLst>
          </p:cNvPr>
          <p:cNvSpPr>
            <a:spLocks noGrp="1"/>
          </p:cNvSpPr>
          <p:nvPr>
            <p:ph type="sldNum" sz="quarter" idx="5"/>
          </p:nvPr>
        </p:nvSpPr>
        <p:spPr/>
        <p:txBody>
          <a:bodyPr/>
          <a:lstStyle/>
          <a:p>
            <a:fld id="{4B753AD6-CEF2-4FD5-AABC-FCC5FC528AD2}" type="slidenum">
              <a:rPr lang="de-DE" smtClean="0"/>
              <a:t>7</a:t>
            </a:fld>
            <a:endParaRPr lang="de-DE"/>
          </a:p>
        </p:txBody>
      </p:sp>
    </p:spTree>
    <p:extLst>
      <p:ext uri="{BB962C8B-B14F-4D97-AF65-F5344CB8AC3E}">
        <p14:creationId xmlns:p14="http://schemas.microsoft.com/office/powerpoint/2010/main" val="720691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creds :</a:t>
            </a:r>
            <a:r>
              <a:rPr lang="pt-BR" dirty="0"/>
              <a:t>-             Username:          admin@agentviper.local</a:t>
            </a:r>
          </a:p>
          <a:p>
            <a:r>
              <a:rPr lang="pt-BR" dirty="0"/>
              <a:t>		Password:            Harbor-Quartz-Meadow-58</a:t>
            </a:r>
            <a:endParaRPr lang="en-US" dirty="0"/>
          </a:p>
        </p:txBody>
      </p:sp>
      <p:sp>
        <p:nvSpPr>
          <p:cNvPr id="4" name="Slide Number Placeholder 3"/>
          <p:cNvSpPr>
            <a:spLocks noGrp="1"/>
          </p:cNvSpPr>
          <p:nvPr>
            <p:ph type="sldNum" sz="quarter" idx="5"/>
          </p:nvPr>
        </p:nvSpPr>
        <p:spPr/>
        <p:txBody>
          <a:bodyPr/>
          <a:lstStyle/>
          <a:p>
            <a:fld id="{4B753AD6-CEF2-4FD5-AABC-FCC5FC528AD2}" type="slidenum">
              <a:rPr lang="de-DE" smtClean="0"/>
              <a:t>8</a:t>
            </a:fld>
            <a:endParaRPr lang="de-DE"/>
          </a:p>
        </p:txBody>
      </p:sp>
    </p:spTree>
    <p:extLst>
      <p:ext uri="{BB962C8B-B14F-4D97-AF65-F5344CB8AC3E}">
        <p14:creationId xmlns:p14="http://schemas.microsoft.com/office/powerpoint/2010/main" val="1638505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full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017985"/>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519112"/>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SAMPLE TITLE ONE OR TWO LINES, Delivery CONDENSED BLACK, 36 </a:t>
            </a:r>
            <a:r>
              <a:rPr lang="en-US" err="1"/>
              <a:t>pt</a:t>
            </a:r>
            <a:endParaRPr lang="en-US"/>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077289"/>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a:t>DHL Business Unit – Claim, Delivery (bold), 12 </a:t>
            </a:r>
            <a:r>
              <a:rPr lang="en-US" err="1"/>
              <a:t>pt</a:t>
            </a:r>
            <a:endParaRPr lang="en-US"/>
          </a:p>
        </p:txBody>
      </p:sp>
      <p:sp>
        <p:nvSpPr>
          <p:cNvPr id="7" name="meta-project">
            <a:extLst>
              <a:ext uri="{FF2B5EF4-FFF2-40B4-BE49-F238E27FC236}">
                <a16:creationId xmlns:a16="http://schemas.microsoft.com/office/drawing/2014/main" id="{8F28B7B0-34F9-4874-994D-5A49D798B34A}"/>
              </a:ext>
            </a:extLst>
          </p:cNvPr>
          <p:cNvSpPr>
            <a:spLocks noGrp="1"/>
          </p:cNvSpPr>
          <p:nvPr>
            <p:ph type="body" sz="quarter" idx="14" hasCustomPrompt="1"/>
          </p:nvPr>
        </p:nvSpPr>
        <p:spPr>
          <a:xfrm>
            <a:off x="323999" y="2614115"/>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a:t>Name of the event or project or presenter, Delivery, 12 </a:t>
            </a:r>
            <a:r>
              <a:rPr lang="en-US" err="1"/>
              <a:t>pt</a:t>
            </a:r>
            <a:r>
              <a:rPr lang="en-US"/>
              <a:t> </a:t>
            </a:r>
          </a:p>
          <a:p>
            <a:pPr lvl="0"/>
            <a:r>
              <a:rPr lang="en-US"/>
              <a:t>Location, ## Month ####</a:t>
            </a:r>
          </a:p>
        </p:txBody>
      </p:sp>
      <p:sp>
        <p:nvSpPr>
          <p:cNvPr id="9" name="Text Placeholder 3">
            <a:extLst>
              <a:ext uri="{FF2B5EF4-FFF2-40B4-BE49-F238E27FC236}">
                <a16:creationId xmlns:a16="http://schemas.microsoft.com/office/drawing/2014/main" id="{E8120FB3-2F20-4BA7-8E65-B72714AE1CF1}"/>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a:t>1</a:t>
            </a:r>
            <a:endParaRPr lang="en-GB"/>
          </a:p>
        </p:txBody>
      </p:sp>
    </p:spTree>
    <p:extLst>
      <p:ext uri="{BB962C8B-B14F-4D97-AF65-F5344CB8AC3E}">
        <p14:creationId xmlns:p14="http://schemas.microsoft.com/office/powerpoint/2010/main" val="1873564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half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5292724" y="0"/>
            <a:ext cx="3851274" cy="5148000"/>
          </a:xfrm>
          <a:prstGeom prst="rect">
            <a:avLst/>
          </a:prstGeom>
          <a:solidFill>
            <a:srgbClr val="CCCCCC"/>
          </a:solidFill>
        </p:spPr>
        <p:txBody>
          <a:bodyPr lIns="72000" tIns="72000" rIns="72000" bIns="72000"/>
          <a:lstStyle>
            <a:lvl1pPr>
              <a:defRPr/>
            </a:lvl1pPr>
          </a:lstStyle>
          <a:p>
            <a:r>
              <a:rPr lang="en-US"/>
              <a:t>Please click the icon to insert an image</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1" y="2758969"/>
            <a:ext cx="4644723"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260096"/>
            <a:ext cx="4644723"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SAMPLE TITLE Delivery CONDENSED BLACK, 36 </a:t>
            </a:r>
            <a:r>
              <a:rPr lang="en-US" err="1"/>
              <a:t>pt</a:t>
            </a:r>
            <a:endParaRPr lang="en-US"/>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39331"/>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a:t>Name of the event or project or presenter</a:t>
            </a:r>
            <a:br>
              <a:rPr lang="en-US"/>
            </a:br>
            <a:r>
              <a:rPr lang="en-US"/>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2505"/>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a:t>DHL Business Unit – Claim, Delivery (bold), 12 </a:t>
            </a:r>
            <a:r>
              <a:rPr lang="en-US" err="1"/>
              <a:t>pt</a:t>
            </a:r>
            <a:endParaRPr lang="en-US"/>
          </a:p>
        </p:txBody>
      </p:sp>
      <p:sp>
        <p:nvSpPr>
          <p:cNvPr id="8" name="Text Placeholder 3">
            <a:extLst>
              <a:ext uri="{FF2B5EF4-FFF2-40B4-BE49-F238E27FC236}">
                <a16:creationId xmlns:a16="http://schemas.microsoft.com/office/drawing/2014/main" id="{975CD22A-BD9A-416E-9FC5-E1EA62C354AD}"/>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a:t>1</a:t>
            </a:r>
            <a:endParaRPr lang="en-GB"/>
          </a:p>
        </p:txBody>
      </p:sp>
    </p:spTree>
    <p:extLst>
      <p:ext uri="{BB962C8B-B14F-4D97-AF65-F5344CB8AC3E}">
        <p14:creationId xmlns:p14="http://schemas.microsoft.com/office/powerpoint/2010/main" val="337119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half page gradient, full page picture">
    <p:bg>
      <p:bgPr>
        <a:gradFill flip="none" rotWithShape="1">
          <a:gsLst>
            <a:gs pos="40000">
              <a:schemeClr val="accent3"/>
            </a:gs>
            <a:gs pos="80000">
              <a:srgbClr val="FFEFB5"/>
            </a:gs>
          </a:gsLst>
          <a:lin ang="16200000" scaled="0"/>
          <a:tileRect/>
        </a:gra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0" y="0"/>
            <a:ext cx="9144000" cy="5148000"/>
          </a:xfrm>
          <a:prstGeom prst="rect">
            <a:avLst/>
          </a:prstGeom>
          <a:solidFill>
            <a:srgbClr val="CCCCCC"/>
          </a:solidFill>
        </p:spPr>
        <p:txBody>
          <a:bodyPr lIns="72000" tIns="72000" rIns="72000" bIns="72000"/>
          <a:lstStyle>
            <a:lvl1pPr algn="r">
              <a:defRPr/>
            </a:lvl1pPr>
          </a:lstStyle>
          <a:p>
            <a:r>
              <a:rPr lang="en-US"/>
              <a:t>Please click the icon to insert an image</a:t>
            </a:r>
          </a:p>
        </p:txBody>
      </p:sp>
      <p:sp>
        <p:nvSpPr>
          <p:cNvPr id="6" name="Text Placeholder 5">
            <a:extLst>
              <a:ext uri="{FF2B5EF4-FFF2-40B4-BE49-F238E27FC236}">
                <a16:creationId xmlns:a16="http://schemas.microsoft.com/office/drawing/2014/main" id="{779B50F6-B70A-4FAE-B403-A7AA47855973}"/>
              </a:ext>
            </a:extLst>
          </p:cNvPr>
          <p:cNvSpPr>
            <a:spLocks noGrp="1"/>
          </p:cNvSpPr>
          <p:nvPr>
            <p:ph type="body" sz="quarter" idx="15" hasCustomPrompt="1"/>
          </p:nvPr>
        </p:nvSpPr>
        <p:spPr>
          <a:xfrm>
            <a:off x="160019" y="519114"/>
            <a:ext cx="4802400" cy="4467600"/>
          </a:xfrm>
          <a:prstGeom prst="rect">
            <a:avLst/>
          </a:prstGeom>
          <a:gradFill>
            <a:gsLst>
              <a:gs pos="50000">
                <a:schemeClr val="accent3"/>
              </a:gs>
              <a:gs pos="100000">
                <a:schemeClr val="accent3">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a:t>1</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58969"/>
            <a:ext cx="4657246"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144018"/>
            <a:ext cx="4657245" cy="1614951"/>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SAMPLE TITLE Delivery CONDENSED BLACK, 36 </a:t>
            </a:r>
            <a:r>
              <a:rPr lang="en-US" err="1"/>
              <a:t>pt</a:t>
            </a:r>
            <a:endParaRPr lang="en-US"/>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39331"/>
            <a:ext cx="4657246"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a:t>Name of the event or project or presenter</a:t>
            </a:r>
            <a:br>
              <a:rPr lang="en-US"/>
            </a:br>
            <a:r>
              <a:rPr lang="en-US"/>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2505"/>
            <a:ext cx="4657246"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a:t>DHL Business Unit – Claim, Delivery (bold), 12 </a:t>
            </a:r>
            <a:r>
              <a:rPr lang="en-US" err="1"/>
              <a:t>pt</a:t>
            </a:r>
            <a:endParaRPr lang="en-US"/>
          </a:p>
        </p:txBody>
      </p:sp>
      <p:sp>
        <p:nvSpPr>
          <p:cNvPr id="11" name="Text Placeholder 3">
            <a:extLst>
              <a:ext uri="{FF2B5EF4-FFF2-40B4-BE49-F238E27FC236}">
                <a16:creationId xmlns:a16="http://schemas.microsoft.com/office/drawing/2014/main" id="{657C6BB5-4D29-40EC-8FE5-EA06CCEE7875}"/>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a:t>1</a:t>
            </a:r>
            <a:endParaRPr lang="en-GB"/>
          </a:p>
        </p:txBody>
      </p:sp>
    </p:spTree>
    <p:extLst>
      <p:ext uri="{BB962C8B-B14F-4D97-AF65-F5344CB8AC3E}">
        <p14:creationId xmlns:p14="http://schemas.microsoft.com/office/powerpoint/2010/main" val="97068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light picture, gradient bottom">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98196275-11AD-46AC-8347-3CB841C40A0A}"/>
              </a:ext>
            </a:extLst>
          </p:cNvPr>
          <p:cNvSpPr>
            <a:spLocks noGrp="1"/>
          </p:cNvSpPr>
          <p:nvPr>
            <p:ph type="pic" sz="quarter" idx="14"/>
          </p:nvPr>
        </p:nvSpPr>
        <p:spPr>
          <a:xfrm>
            <a:off x="0" y="0"/>
            <a:ext cx="9144000" cy="5148000"/>
          </a:xfrm>
          <a:prstGeom prst="rect">
            <a:avLst/>
          </a:prstGeom>
          <a:solidFill>
            <a:srgbClr val="CCCCCC"/>
          </a:solidFill>
        </p:spPr>
        <p:txBody>
          <a:bodyPr/>
          <a:lstStyle/>
          <a:p>
            <a:r>
              <a:rPr lang="en-US"/>
              <a:t>Click icon to add picture</a:t>
            </a:r>
          </a:p>
        </p:txBody>
      </p:sp>
      <p:sp>
        <p:nvSpPr>
          <p:cNvPr id="13" name="Text Placeholder 5">
            <a:extLst>
              <a:ext uri="{FF2B5EF4-FFF2-40B4-BE49-F238E27FC236}">
                <a16:creationId xmlns:a16="http://schemas.microsoft.com/office/drawing/2014/main" id="{40BED4DE-662F-4302-A9D9-121F49D0DBF2}"/>
              </a:ext>
            </a:extLst>
          </p:cNvPr>
          <p:cNvSpPr>
            <a:spLocks noGrp="1"/>
          </p:cNvSpPr>
          <p:nvPr>
            <p:ph type="body" sz="quarter" idx="15" hasCustomPrompt="1"/>
          </p:nvPr>
        </p:nvSpPr>
        <p:spPr>
          <a:xfrm>
            <a:off x="160020" y="4314061"/>
            <a:ext cx="8658000" cy="670842"/>
          </a:xfrm>
          <a:prstGeom prst="rect">
            <a:avLst/>
          </a:prstGeom>
          <a:gradFill flip="none" rotWithShape="1">
            <a:gsLst>
              <a:gs pos="50000">
                <a:schemeClr val="accent3"/>
              </a:gs>
              <a:gs pos="100000">
                <a:schemeClr val="accent3">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a:t>1</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40802"/>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1241929"/>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SAMPLE TITLE Delivery CONDENSED BLACK, 36 </a:t>
            </a:r>
            <a:r>
              <a:rPr lang="en-US" err="1"/>
              <a:t>pt</a:t>
            </a:r>
            <a:endParaRPr lang="en-US"/>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45642"/>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a:t>Name of the event or project or presenter</a:t>
            </a:r>
          </a:p>
          <a:p>
            <a:pPr lvl="0"/>
            <a:r>
              <a:rPr lang="en-US"/>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8816"/>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a:t>DHL Business Unit – Claim, Delivery (bold), 12 </a:t>
            </a:r>
            <a:r>
              <a:rPr lang="en-US" err="1"/>
              <a:t>pt</a:t>
            </a:r>
            <a:endParaRPr lang="en-US"/>
          </a:p>
        </p:txBody>
      </p:sp>
      <p:sp>
        <p:nvSpPr>
          <p:cNvPr id="14" name="Text Placeholder 3">
            <a:extLst>
              <a:ext uri="{FF2B5EF4-FFF2-40B4-BE49-F238E27FC236}">
                <a16:creationId xmlns:a16="http://schemas.microsoft.com/office/drawing/2014/main" id="{EB0F513B-4E07-4812-ADA8-811D6592E568}"/>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a:t>1</a:t>
            </a:r>
            <a:endParaRPr lang="en-GB"/>
          </a:p>
        </p:txBody>
      </p:sp>
    </p:spTree>
    <p:extLst>
      <p:ext uri="{BB962C8B-B14F-4D97-AF65-F5344CB8AC3E}">
        <p14:creationId xmlns:p14="http://schemas.microsoft.com/office/powerpoint/2010/main" val="167625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dark picture, gradient bottom">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2EB4A82-6837-42CB-8B67-FDC5119BE961}"/>
              </a:ext>
            </a:extLst>
          </p:cNvPr>
          <p:cNvSpPr>
            <a:spLocks noGrp="1"/>
          </p:cNvSpPr>
          <p:nvPr>
            <p:ph type="body" sz="quarter" idx="19" hasCustomPrompt="1"/>
          </p:nvPr>
        </p:nvSpPr>
        <p:spPr>
          <a:xfrm>
            <a:off x="0" y="0"/>
            <a:ext cx="9144000" cy="5148000"/>
          </a:xfrm>
          <a:prstGeom prst="rect">
            <a:avLst/>
          </a:prstGeom>
          <a:gradFill flip="none" rotWithShape="1">
            <a:gsLst>
              <a:gs pos="100000">
                <a:schemeClr val="tx1">
                  <a:alpha val="0"/>
                </a:schemeClr>
              </a:gs>
              <a:gs pos="40000">
                <a:schemeClr val="tx1">
                  <a:alpha val="30000"/>
                </a:schemeClr>
              </a:gs>
            </a:gsLst>
            <a:lin ang="0" scaled="1"/>
            <a:tileRect/>
          </a:gradFill>
        </p:spPr>
        <p:txBody>
          <a:bodyPr/>
          <a:lstStyle>
            <a:lvl1pPr>
              <a:defRPr sz="100"/>
            </a:lvl1pPr>
          </a:lstStyle>
          <a:p>
            <a:pPr lvl="0"/>
            <a:r>
              <a:rPr lang="en-GB"/>
              <a:t>1</a:t>
            </a:r>
          </a:p>
        </p:txBody>
      </p:sp>
      <p:sp>
        <p:nvSpPr>
          <p:cNvPr id="14" name="Picture Placeholder 4">
            <a:extLst>
              <a:ext uri="{FF2B5EF4-FFF2-40B4-BE49-F238E27FC236}">
                <a16:creationId xmlns:a16="http://schemas.microsoft.com/office/drawing/2014/main" id="{8EBE0D14-C041-444F-B729-073226190586}"/>
              </a:ext>
            </a:extLst>
          </p:cNvPr>
          <p:cNvSpPr>
            <a:spLocks noGrp="1"/>
          </p:cNvSpPr>
          <p:nvPr>
            <p:ph type="pic" sz="quarter" idx="14" hasCustomPrompt="1"/>
          </p:nvPr>
        </p:nvSpPr>
        <p:spPr>
          <a:xfrm>
            <a:off x="0" y="0"/>
            <a:ext cx="9144000" cy="5148000"/>
          </a:xfrm>
          <a:prstGeom prst="rect">
            <a:avLst/>
          </a:prstGeom>
          <a:solidFill>
            <a:srgbClr val="333333"/>
          </a:solidFill>
        </p:spPr>
        <p:txBody>
          <a:bodyPr lIns="324000" tIns="576000"/>
          <a:lstStyle>
            <a:lvl1pPr>
              <a:defRPr sz="1000" b="0" i="1">
                <a:solidFill>
                  <a:schemeClr val="bg1"/>
                </a:solidFill>
              </a:defRPr>
            </a:lvl1pPr>
          </a:lstStyle>
          <a:p>
            <a:r>
              <a:rPr lang="en-US"/>
              <a:t>Please use and adjust this transparent box to darken the background image for good readability. Please insert an image and send it to the background.</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40802"/>
            <a:ext cx="8495999" cy="503215"/>
          </a:xfrm>
          <a:prstGeom prst="rect">
            <a:avLst/>
          </a:prstGeom>
        </p:spPr>
        <p:txBody>
          <a:bodyPr>
            <a:noAutofit/>
          </a:bodyPr>
          <a:lstStyle>
            <a:lvl1pPr marL="0" indent="0" algn="l">
              <a:lnSpc>
                <a:spcPct val="90000"/>
              </a:lnSpc>
              <a:spcAft>
                <a:spcPts val="0"/>
              </a:spcAft>
              <a:buNone/>
              <a:defRPr sz="1800" cap="all" baseline="0">
                <a:solidFill>
                  <a:schemeClr val="bg1"/>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1241929"/>
            <a:ext cx="8495999" cy="1498873"/>
          </a:xfrm>
        </p:spPr>
        <p:txBody>
          <a:bodyPr/>
          <a:lstStyle>
            <a:lvl1pPr>
              <a:lnSpc>
                <a:spcPct val="90000"/>
              </a:lnSpc>
              <a:defRPr sz="3600" b="0" i="0" cap="all" baseline="0">
                <a:solidFill>
                  <a:schemeClr val="bg1"/>
                </a:solidFill>
                <a:latin typeface="Delivery Cd Black" panose="020F0906020204020204" pitchFamily="34" charset="0"/>
              </a:defRPr>
            </a:lvl1pPr>
          </a:lstStyle>
          <a:p>
            <a:r>
              <a:rPr lang="en-US"/>
              <a:t>SAMPLE TITLE Delivery CONDENSED BLACK, 36 </a:t>
            </a:r>
            <a:r>
              <a:rPr lang="en-US" err="1"/>
              <a:t>pt</a:t>
            </a:r>
            <a:endParaRPr lang="en-US"/>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45642"/>
            <a:ext cx="4644724" cy="400110"/>
          </a:xfrm>
          <a:prstGeom prst="rect">
            <a:avLst/>
          </a:prstGeom>
        </p:spPr>
        <p:txBody>
          <a:bodyPr>
            <a:noAutofit/>
          </a:bodyPr>
          <a:lstStyle>
            <a:lvl1pPr>
              <a:spcAft>
                <a:spcPts val="0"/>
              </a:spcAft>
              <a:defRPr>
                <a:solidFill>
                  <a:schemeClr val="bg1"/>
                </a:solidFill>
                <a:latin typeface="+mn-lt"/>
              </a:defRPr>
            </a:lvl1pPr>
            <a:lvl2pPr marL="0" indent="0">
              <a:buNone/>
              <a:defRPr/>
            </a:lvl2pPr>
          </a:lstStyle>
          <a:p>
            <a:pPr lvl="0"/>
            <a:r>
              <a:rPr lang="en-US"/>
              <a:t>Name of the event or project or presenter</a:t>
            </a:r>
          </a:p>
          <a:p>
            <a:pPr lvl="0"/>
            <a:r>
              <a:rPr lang="en-US"/>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8816"/>
            <a:ext cx="4644724" cy="196977"/>
          </a:xfrm>
          <a:prstGeom prst="rect">
            <a:avLst/>
          </a:prstGeom>
        </p:spPr>
        <p:txBody>
          <a:bodyPr>
            <a:noAutofit/>
          </a:bodyPr>
          <a:lstStyle>
            <a:lvl1pPr>
              <a:defRPr b="1">
                <a:solidFill>
                  <a:schemeClr val="bg1"/>
                </a:solidFill>
                <a:latin typeface="+mn-lt"/>
              </a:defRPr>
            </a:lvl1pPr>
            <a:lvl2pPr marL="0" indent="0">
              <a:buNone/>
              <a:defRPr/>
            </a:lvl2pPr>
          </a:lstStyle>
          <a:p>
            <a:pPr lvl="0"/>
            <a:r>
              <a:rPr lang="en-US"/>
              <a:t>DHL Business Unit – Claim, Delivery (bold), 12 </a:t>
            </a:r>
            <a:r>
              <a:rPr lang="en-US" err="1"/>
              <a:t>pt</a:t>
            </a:r>
            <a:endParaRPr lang="en-US"/>
          </a:p>
        </p:txBody>
      </p:sp>
      <p:sp>
        <p:nvSpPr>
          <p:cNvPr id="19" name="Text Placeholder 5">
            <a:extLst>
              <a:ext uri="{FF2B5EF4-FFF2-40B4-BE49-F238E27FC236}">
                <a16:creationId xmlns:a16="http://schemas.microsoft.com/office/drawing/2014/main" id="{52E2F260-C471-49DE-81D6-239F208F0487}"/>
              </a:ext>
            </a:extLst>
          </p:cNvPr>
          <p:cNvSpPr>
            <a:spLocks noGrp="1"/>
          </p:cNvSpPr>
          <p:nvPr>
            <p:ph type="body" sz="quarter" idx="15" hasCustomPrompt="1"/>
          </p:nvPr>
        </p:nvSpPr>
        <p:spPr>
          <a:xfrm>
            <a:off x="160020" y="4314061"/>
            <a:ext cx="8658000" cy="670842"/>
          </a:xfrm>
          <a:prstGeom prst="rect">
            <a:avLst/>
          </a:prstGeom>
          <a:gradFill flip="none" rotWithShape="1">
            <a:gsLst>
              <a:gs pos="50000">
                <a:schemeClr val="accent3"/>
              </a:gs>
              <a:gs pos="100000">
                <a:schemeClr val="accent3">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a:t>1</a:t>
            </a:r>
          </a:p>
        </p:txBody>
      </p:sp>
      <p:sp>
        <p:nvSpPr>
          <p:cNvPr id="20" name="Text Placeholder 3">
            <a:extLst>
              <a:ext uri="{FF2B5EF4-FFF2-40B4-BE49-F238E27FC236}">
                <a16:creationId xmlns:a16="http://schemas.microsoft.com/office/drawing/2014/main" id="{1DB0E010-C9CE-4D82-B3EE-AA6AD62929F6}"/>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a:t>1</a:t>
            </a:r>
            <a:endParaRPr lang="en-GB"/>
          </a:p>
        </p:txBody>
      </p:sp>
    </p:spTree>
    <p:extLst>
      <p:ext uri="{BB962C8B-B14F-4D97-AF65-F5344CB8AC3E}">
        <p14:creationId xmlns:p14="http://schemas.microsoft.com/office/powerpoint/2010/main" val="277687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full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017985"/>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519112"/>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section divider with Gradient, Delivery CONDENSED BLACK, 36 </a:t>
            </a:r>
            <a:r>
              <a:rPr lang="en-US" err="1"/>
              <a:t>pt</a:t>
            </a:r>
            <a:endParaRPr lang="en-US"/>
          </a:p>
        </p:txBody>
      </p:sp>
      <p:sp>
        <p:nvSpPr>
          <p:cNvPr id="4" name="Footer Placeholder 3">
            <a:extLst>
              <a:ext uri="{FF2B5EF4-FFF2-40B4-BE49-F238E27FC236}">
                <a16:creationId xmlns:a16="http://schemas.microsoft.com/office/drawing/2014/main" id="{BF134C61-AE90-4876-9405-4282167F38EE}"/>
              </a:ext>
            </a:extLst>
          </p:cNvPr>
          <p:cNvSpPr>
            <a:spLocks noGrp="1"/>
          </p:cNvSpPr>
          <p:nvPr>
            <p:ph type="ftr" sz="quarter" idx="10"/>
          </p:nvPr>
        </p:nvSpPr>
        <p:spPr/>
        <p:txBody>
          <a:bodyPr/>
          <a:lstStyle/>
          <a:p>
            <a:r>
              <a:rPr lang="en-US"/>
              <a:t>DHL | Presentation title | Location | xx Month 20xx</a:t>
            </a:r>
          </a:p>
        </p:txBody>
      </p:sp>
      <p:sp>
        <p:nvSpPr>
          <p:cNvPr id="5" name="Slide Number Placeholder 4">
            <a:extLst>
              <a:ext uri="{FF2B5EF4-FFF2-40B4-BE49-F238E27FC236}">
                <a16:creationId xmlns:a16="http://schemas.microsoft.com/office/drawing/2014/main" id="{A2D195B8-0DD2-4278-B191-4D18AA251FFB}"/>
              </a:ext>
            </a:extLst>
          </p:cNvPr>
          <p:cNvSpPr>
            <a:spLocks noGrp="1"/>
          </p:cNvSpPr>
          <p:nvPr>
            <p:ph type="sldNum" sz="quarter" idx="11"/>
          </p:nvPr>
        </p:nvSpPr>
        <p:spPr/>
        <p:txBody>
          <a:bodyPr/>
          <a:lstStyle/>
          <a:p>
            <a:fld id="{C2245BC1-4D7B-4ED3-8F01-840FA35126C6}" type="slidenum">
              <a:rPr lang="en-US" smtClean="0"/>
              <a:pPr/>
              <a:t>‹#›</a:t>
            </a:fld>
            <a:endParaRPr lang="en-US"/>
          </a:p>
        </p:txBody>
      </p:sp>
    </p:spTree>
    <p:extLst>
      <p:ext uri="{BB962C8B-B14F-4D97-AF65-F5344CB8AC3E}">
        <p14:creationId xmlns:p14="http://schemas.microsoft.com/office/powerpoint/2010/main" val="116459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alf page gradient">
    <p:bg>
      <p:bgPr>
        <a:gradFill flip="none" rotWithShape="1">
          <a:gsLst>
            <a:gs pos="79000">
              <a:srgbClr val="FFDE59"/>
            </a:gs>
            <a:gs pos="30000">
              <a:schemeClr val="accent3"/>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1" y="2758969"/>
            <a:ext cx="4644723"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Optional subline On one OR TWO </a:t>
            </a:r>
            <a:r>
              <a:rPr lang="en-US" err="1"/>
              <a:t>lineS</a:t>
            </a:r>
            <a:r>
              <a:rPr lang="en-US"/>
              <a:t>, Delivery CONDENSED LIGHT, 18 pt</a:t>
            </a:r>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260096"/>
            <a:ext cx="4644723"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a:t>section divider </a:t>
            </a:r>
            <a:br>
              <a:rPr lang="en-US"/>
            </a:br>
            <a:r>
              <a:rPr lang="en-US"/>
              <a:t>with image, 36 PT</a:t>
            </a:r>
          </a:p>
        </p:txBody>
      </p:sp>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5292726" y="0"/>
            <a:ext cx="3851275" cy="5148000"/>
          </a:xfrm>
          <a:prstGeom prst="rect">
            <a:avLst/>
          </a:prstGeom>
          <a:solidFill>
            <a:srgbClr val="CCCCCC"/>
          </a:solidFill>
        </p:spPr>
        <p:txBody>
          <a:bodyPr lIns="72000" tIns="72000" rIns="72000" bIns="72000"/>
          <a:lstStyle>
            <a:lvl1pPr>
              <a:defRPr/>
            </a:lvl1pPr>
          </a:lstStyle>
          <a:p>
            <a:r>
              <a:rPr lang="en-US"/>
              <a:t>Please click the icon to insert an image</a:t>
            </a:r>
          </a:p>
        </p:txBody>
      </p:sp>
      <p:sp>
        <p:nvSpPr>
          <p:cNvPr id="2" name="Footer Placeholder 1">
            <a:extLst>
              <a:ext uri="{FF2B5EF4-FFF2-40B4-BE49-F238E27FC236}">
                <a16:creationId xmlns:a16="http://schemas.microsoft.com/office/drawing/2014/main" id="{DF55C8B4-1569-420F-94F8-0A45D58CC333}"/>
              </a:ext>
            </a:extLst>
          </p:cNvPr>
          <p:cNvSpPr>
            <a:spLocks noGrp="1"/>
          </p:cNvSpPr>
          <p:nvPr>
            <p:ph type="ftr" sz="quarter" idx="15"/>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999E2F84-6B48-4F57-8783-342F789CB32E}"/>
              </a:ext>
            </a:extLst>
          </p:cNvPr>
          <p:cNvSpPr>
            <a:spLocks noGrp="1"/>
          </p:cNvSpPr>
          <p:nvPr>
            <p:ph type="sldNum" sz="quarter" idx="16"/>
          </p:nvPr>
        </p:nvSpPr>
        <p:spPr/>
        <p:txBody>
          <a:bodyPr/>
          <a:lstStyle/>
          <a:p>
            <a:fld id="{C2245BC1-4D7B-4ED3-8F01-840FA35126C6}" type="slidenum">
              <a:rPr lang="en-US" smtClean="0"/>
              <a:pPr/>
              <a:t>‹#›</a:t>
            </a:fld>
            <a:endParaRPr lang="en-US"/>
          </a:p>
        </p:txBody>
      </p:sp>
    </p:spTree>
    <p:extLst>
      <p:ext uri="{BB962C8B-B14F-4D97-AF65-F5344CB8AC3E}">
        <p14:creationId xmlns:p14="http://schemas.microsoft.com/office/powerpoint/2010/main" val="983713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5AA5-C875-4E2C-962B-7BF752DF5F22}"/>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GB"/>
          </a:p>
        </p:txBody>
      </p:sp>
      <p:sp>
        <p:nvSpPr>
          <p:cNvPr id="3" name="Footer Placeholder 2">
            <a:extLst>
              <a:ext uri="{FF2B5EF4-FFF2-40B4-BE49-F238E27FC236}">
                <a16:creationId xmlns:a16="http://schemas.microsoft.com/office/drawing/2014/main" id="{9F3ED683-F9E2-432B-9EE5-F787159B7C2B}"/>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4690C2FE-3516-4404-9D7F-3E6C34243697}"/>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10" name="Text Placeholder 9">
            <a:extLst>
              <a:ext uri="{FF2B5EF4-FFF2-40B4-BE49-F238E27FC236}">
                <a16:creationId xmlns:a16="http://schemas.microsoft.com/office/drawing/2014/main" id="{6A3BBD46-F6A3-49DC-8F32-053AD1A88634}"/>
              </a:ext>
            </a:extLst>
          </p:cNvPr>
          <p:cNvSpPr>
            <a:spLocks noGrp="1"/>
          </p:cNvSpPr>
          <p:nvPr>
            <p:ph type="body" sz="quarter" idx="15" hasCustomPrompt="1"/>
          </p:nvPr>
        </p:nvSpPr>
        <p:spPr>
          <a:xfrm>
            <a:off x="323850" y="1150938"/>
            <a:ext cx="2722563" cy="3530600"/>
          </a:xfrm>
          <a:prstGeom prst="rect">
            <a:avLst/>
          </a:prstGeom>
        </p:spPr>
        <p:txBody>
          <a:bodyPr/>
          <a:lstStyle>
            <a:lvl1pPr marL="252000" indent="-252000">
              <a:spcBef>
                <a:spcPts val="1400"/>
              </a:spcBef>
              <a:spcAft>
                <a:spcPts val="0"/>
              </a:spcAft>
              <a:buAutoNum type="arabicPlain"/>
              <a:defRPr b="1"/>
            </a:lvl1pPr>
            <a:lvl2pPr marL="252000" indent="0">
              <a:lnSpc>
                <a:spcPct val="100000"/>
              </a:lnSpc>
              <a:spcAft>
                <a:spcPts val="0"/>
              </a:spcAft>
              <a:buNone/>
              <a:defRPr/>
            </a:lvl2pPr>
          </a:lstStyle>
          <a:p>
            <a:pPr lvl="0"/>
            <a:r>
              <a:rPr lang="en-US"/>
              <a:t>Sample section, Delivery Bold, </a:t>
            </a:r>
            <a:br>
              <a:rPr lang="en-US"/>
            </a:br>
            <a:r>
              <a:rPr lang="en-US"/>
              <a:t>12 </a:t>
            </a:r>
            <a:r>
              <a:rPr lang="en-US" err="1"/>
              <a:t>pt</a:t>
            </a:r>
            <a:endParaRPr lang="en-US"/>
          </a:p>
          <a:p>
            <a:pPr lvl="1"/>
            <a:r>
              <a:rPr lang="en-US"/>
              <a:t>Sample text, Delivery, 12 </a:t>
            </a:r>
            <a:r>
              <a:rPr lang="en-US" err="1"/>
              <a:t>pt</a:t>
            </a:r>
            <a:endParaRPr lang="en-US"/>
          </a:p>
          <a:p>
            <a:pPr lvl="0"/>
            <a:endParaRPr lang="en-GB"/>
          </a:p>
        </p:txBody>
      </p:sp>
      <p:sp>
        <p:nvSpPr>
          <p:cNvPr id="11" name="Text Placeholder 9">
            <a:extLst>
              <a:ext uri="{FF2B5EF4-FFF2-40B4-BE49-F238E27FC236}">
                <a16:creationId xmlns:a16="http://schemas.microsoft.com/office/drawing/2014/main" id="{4F39E3AB-4E3D-4482-A3E6-FBBC80DEA30E}"/>
              </a:ext>
            </a:extLst>
          </p:cNvPr>
          <p:cNvSpPr>
            <a:spLocks noGrp="1"/>
          </p:cNvSpPr>
          <p:nvPr>
            <p:ph type="body" sz="quarter" idx="16" hasCustomPrompt="1"/>
          </p:nvPr>
        </p:nvSpPr>
        <p:spPr>
          <a:xfrm>
            <a:off x="3208339" y="1150938"/>
            <a:ext cx="2722564" cy="3530600"/>
          </a:xfrm>
          <a:prstGeom prst="rect">
            <a:avLst/>
          </a:prstGeom>
        </p:spPr>
        <p:txBody>
          <a:bodyPr/>
          <a:lstStyle>
            <a:lvl1pPr marL="252000" indent="-252000">
              <a:spcBef>
                <a:spcPts val="1400"/>
              </a:spcBef>
              <a:spcAft>
                <a:spcPts val="0"/>
              </a:spcAft>
              <a:buAutoNum type="arabicPlain" startAt="7"/>
              <a:defRPr b="1"/>
            </a:lvl1pPr>
            <a:lvl2pPr marL="252000" indent="0">
              <a:lnSpc>
                <a:spcPct val="100000"/>
              </a:lnSpc>
              <a:spcAft>
                <a:spcPts val="0"/>
              </a:spcAft>
              <a:buNone/>
              <a:defRPr/>
            </a:lvl2pPr>
          </a:lstStyle>
          <a:p>
            <a:pPr lvl="0"/>
            <a:r>
              <a:rPr lang="en-US"/>
              <a:t>Sample section, Delivery Bold, </a:t>
            </a:r>
            <a:br>
              <a:rPr lang="en-US"/>
            </a:br>
            <a:r>
              <a:rPr lang="en-US"/>
              <a:t>12 </a:t>
            </a:r>
            <a:r>
              <a:rPr lang="en-US" err="1"/>
              <a:t>pt</a:t>
            </a:r>
            <a:endParaRPr lang="en-US"/>
          </a:p>
          <a:p>
            <a:pPr lvl="1"/>
            <a:r>
              <a:rPr lang="en-US"/>
              <a:t>Sample text, Delivery, 12 </a:t>
            </a:r>
            <a:r>
              <a:rPr lang="en-US" err="1"/>
              <a:t>pt</a:t>
            </a:r>
            <a:endParaRPr lang="en-US"/>
          </a:p>
          <a:p>
            <a:pPr lvl="0"/>
            <a:endParaRPr lang="en-US"/>
          </a:p>
          <a:p>
            <a:pPr lvl="0"/>
            <a:endParaRPr lang="en-GB"/>
          </a:p>
        </p:txBody>
      </p:sp>
    </p:spTree>
    <p:extLst>
      <p:ext uri="{BB962C8B-B14F-4D97-AF65-F5344CB8AC3E}">
        <p14:creationId xmlns:p14="http://schemas.microsoft.com/office/powerpoint/2010/main" val="2978337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4958-514A-4601-B68D-C79842B99920}"/>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3C27EF1F-9ACF-48EE-A949-EAF146453979}"/>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4438F358-6501-48B8-80CA-E7836E5B9882}"/>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8" name="Content Placeholder 7">
            <a:extLst>
              <a:ext uri="{FF2B5EF4-FFF2-40B4-BE49-F238E27FC236}">
                <a16:creationId xmlns:a16="http://schemas.microsoft.com/office/drawing/2014/main" id="{3AB14529-BCAE-43FA-A029-C343F83E0454}"/>
              </a:ext>
            </a:extLst>
          </p:cNvPr>
          <p:cNvSpPr>
            <a:spLocks noGrp="1"/>
          </p:cNvSpPr>
          <p:nvPr>
            <p:ph sz="quarter" idx="14" hasCustomPrompt="1"/>
          </p:nvPr>
        </p:nvSpPr>
        <p:spPr>
          <a:xfrm>
            <a:off x="324000" y="1150938"/>
            <a:ext cx="8495999" cy="35280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sz="1200"/>
              <a:t>Bullet number, Delivery, 12 </a:t>
            </a:r>
            <a:r>
              <a:rPr lang="en-US" sz="1200" err="1"/>
              <a:t>pt</a:t>
            </a:r>
            <a:r>
              <a:rPr lang="en-US" sz="1200"/>
              <a:t> </a:t>
            </a:r>
          </a:p>
        </p:txBody>
      </p:sp>
      <p:sp>
        <p:nvSpPr>
          <p:cNvPr id="5" name="Rectangle 4">
            <a:extLst>
              <a:ext uri="{FF2B5EF4-FFF2-40B4-BE49-F238E27FC236}">
                <a16:creationId xmlns:a16="http://schemas.microsoft.com/office/drawing/2014/main" id="{9D5CED03-C33D-4356-A21D-74205078B24D}"/>
              </a:ext>
            </a:extLst>
          </p:cNvPr>
          <p:cNvSpPr/>
          <p:nvPr/>
        </p:nvSpPr>
        <p:spPr>
          <a:xfrm>
            <a:off x="2286000" y="1729212"/>
            <a:ext cx="4572000" cy="300082"/>
          </a:xfrm>
          <a:prstGeom prst="rect">
            <a:avLst/>
          </a:prstGeom>
        </p:spPr>
        <p:txBody>
          <a:bodyPr>
            <a:spAutoFit/>
          </a:bodyPr>
          <a:lstStyle/>
          <a:p>
            <a:pPr lvl="2"/>
            <a:r>
              <a:rPr lang="en-US"/>
              <a:t> </a:t>
            </a:r>
          </a:p>
        </p:txBody>
      </p:sp>
    </p:spTree>
    <p:extLst>
      <p:ext uri="{BB962C8B-B14F-4D97-AF65-F5344CB8AC3E}">
        <p14:creationId xmlns:p14="http://schemas.microsoft.com/office/powerpoint/2010/main" val="247040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F21E-737D-4419-BFB1-7E3BAF4E7B53}"/>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2D4C42CC-B85A-402A-8160-8B4CC7900462}"/>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E2238AF6-F51C-40B8-BD5A-EE1AE942F1B7}"/>
              </a:ext>
            </a:extLst>
          </p:cNvPr>
          <p:cNvSpPr>
            <a:spLocks noGrp="1"/>
          </p:cNvSpPr>
          <p:nvPr>
            <p:ph type="sldNum" sz="quarter" idx="11"/>
          </p:nvPr>
        </p:nvSpPr>
        <p:spPr/>
        <p:txBody>
          <a:bodyPr/>
          <a:lstStyle/>
          <a:p>
            <a:fld id="{C2245BC1-4D7B-4ED3-8F01-840FA35126C6}" type="slidenum">
              <a:rPr lang="en-US" smtClean="0"/>
              <a:pPr/>
              <a:t>‹#›</a:t>
            </a:fld>
            <a:endParaRPr lang="en-US"/>
          </a:p>
        </p:txBody>
      </p:sp>
    </p:spTree>
    <p:extLst>
      <p:ext uri="{BB962C8B-B14F-4D97-AF65-F5344CB8AC3E}">
        <p14:creationId xmlns:p14="http://schemas.microsoft.com/office/powerpoint/2010/main" val="1125866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49F3C-D71F-48B0-816B-AA2AB649733A}"/>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B74F32AD-3FC7-4091-8554-127642F80671}"/>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81180CEC-C0BC-4F28-99ED-9A7B307FEE0F}"/>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6" name="Content Placeholder 5">
            <a:extLst>
              <a:ext uri="{FF2B5EF4-FFF2-40B4-BE49-F238E27FC236}">
                <a16:creationId xmlns:a16="http://schemas.microsoft.com/office/drawing/2014/main" id="{1605EC38-B07E-496F-9ED7-8B08225083C7}"/>
              </a:ext>
            </a:extLst>
          </p:cNvPr>
          <p:cNvSpPr>
            <a:spLocks noGrp="1"/>
          </p:cNvSpPr>
          <p:nvPr>
            <p:ph sz="quarter" idx="12" hasCustomPrompt="1"/>
          </p:nvPr>
        </p:nvSpPr>
        <p:spPr>
          <a:xfrm>
            <a:off x="324001"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
        <p:nvSpPr>
          <p:cNvPr id="7" name="Content Placeholder 5">
            <a:extLst>
              <a:ext uri="{FF2B5EF4-FFF2-40B4-BE49-F238E27FC236}">
                <a16:creationId xmlns:a16="http://schemas.microsoft.com/office/drawing/2014/main" id="{09D4F118-EC4E-4697-8B94-89026AF38F06}"/>
              </a:ext>
            </a:extLst>
          </p:cNvPr>
          <p:cNvSpPr>
            <a:spLocks noGrp="1"/>
          </p:cNvSpPr>
          <p:nvPr>
            <p:ph sz="quarter" idx="13" hasCustomPrompt="1"/>
          </p:nvPr>
        </p:nvSpPr>
        <p:spPr>
          <a:xfrm>
            <a:off x="4654549"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Tree>
    <p:extLst>
      <p:ext uri="{BB962C8B-B14F-4D97-AF65-F5344CB8AC3E}">
        <p14:creationId xmlns:p14="http://schemas.microsoft.com/office/powerpoint/2010/main" val="3455355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1 column, 1 pictur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1C21F6A-3851-4800-A70C-75B7E973A6B2}"/>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1E0140EB-C614-490E-95CD-A54BE084B790}"/>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5" name="Content Placeholder 5">
            <a:extLst>
              <a:ext uri="{FF2B5EF4-FFF2-40B4-BE49-F238E27FC236}">
                <a16:creationId xmlns:a16="http://schemas.microsoft.com/office/drawing/2014/main" id="{038679AF-4954-4658-B135-45730398D31C}"/>
              </a:ext>
            </a:extLst>
          </p:cNvPr>
          <p:cNvSpPr>
            <a:spLocks noGrp="1"/>
          </p:cNvSpPr>
          <p:nvPr>
            <p:ph sz="quarter" idx="12" hasCustomPrompt="1"/>
          </p:nvPr>
        </p:nvSpPr>
        <p:spPr>
          <a:xfrm>
            <a:off x="324001"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
        <p:nvSpPr>
          <p:cNvPr id="8" name="Picture Placeholder 7">
            <a:extLst>
              <a:ext uri="{FF2B5EF4-FFF2-40B4-BE49-F238E27FC236}">
                <a16:creationId xmlns:a16="http://schemas.microsoft.com/office/drawing/2014/main" id="{367FEE81-04E7-45FF-A241-7D07B82E5C5D}"/>
              </a:ext>
            </a:extLst>
          </p:cNvPr>
          <p:cNvSpPr>
            <a:spLocks noGrp="1"/>
          </p:cNvSpPr>
          <p:nvPr>
            <p:ph type="pic" sz="quarter" idx="14" hasCustomPrompt="1"/>
          </p:nvPr>
        </p:nvSpPr>
        <p:spPr>
          <a:xfrm>
            <a:off x="4654549" y="1150938"/>
            <a:ext cx="4165450" cy="3530600"/>
          </a:xfrm>
          <a:prstGeom prst="rect">
            <a:avLst/>
          </a:prstGeom>
          <a:solidFill>
            <a:srgbClr val="CCCCCC"/>
          </a:solidFill>
        </p:spPr>
        <p:txBody>
          <a:bodyPr lIns="72000" tIns="72000" rIns="72000" bIns="72000" anchor="ctr"/>
          <a:lstStyle>
            <a:lvl1pPr algn="ctr">
              <a:defRPr/>
            </a:lvl1pPr>
          </a:lstStyle>
          <a:p>
            <a:r>
              <a:rPr lang="en-US"/>
              <a:t>Please click the icon to insert an image</a:t>
            </a:r>
          </a:p>
        </p:txBody>
      </p:sp>
      <p:sp>
        <p:nvSpPr>
          <p:cNvPr id="6" name="Title 5">
            <a:extLst>
              <a:ext uri="{FF2B5EF4-FFF2-40B4-BE49-F238E27FC236}">
                <a16:creationId xmlns:a16="http://schemas.microsoft.com/office/drawing/2014/main" id="{B297623A-4EAB-41C4-80D7-12A550C73390}"/>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GB"/>
          </a:p>
        </p:txBody>
      </p:sp>
    </p:spTree>
    <p:extLst>
      <p:ext uri="{BB962C8B-B14F-4D97-AF65-F5344CB8AC3E}">
        <p14:creationId xmlns:p14="http://schemas.microsoft.com/office/powerpoint/2010/main" val="4006956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1 column, 1 picture half s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3A2DAE2-6DBF-4F49-9437-0D73AEFD3F52}"/>
              </a:ext>
            </a:extLst>
          </p:cNvPr>
          <p:cNvSpPr>
            <a:spLocks noGrp="1"/>
          </p:cNvSpPr>
          <p:nvPr>
            <p:ph type="pic" sz="quarter" idx="18" hasCustomPrompt="1"/>
          </p:nvPr>
        </p:nvSpPr>
        <p:spPr>
          <a:xfrm>
            <a:off x="5292726" y="0"/>
            <a:ext cx="3851274" cy="5143500"/>
          </a:xfrm>
          <a:prstGeom prst="rect">
            <a:avLst/>
          </a:prstGeom>
          <a:solidFill>
            <a:srgbClr val="CCCCCC"/>
          </a:solidFill>
        </p:spPr>
        <p:txBody>
          <a:bodyPr anchor="ctr"/>
          <a:lstStyle>
            <a:lvl1pPr algn="ctr">
              <a:defRPr/>
            </a:lvl1pPr>
          </a:lstStyle>
          <a:p>
            <a:r>
              <a:rPr lang="en-US"/>
              <a:t>Please click the icon to insert an image</a:t>
            </a:r>
          </a:p>
        </p:txBody>
      </p:sp>
      <p:graphicFrame>
        <p:nvGraphicFramePr>
          <p:cNvPr id="29" name="Objekt 28" hidden="1">
            <a:extLst>
              <a:ext uri="{FF2B5EF4-FFF2-40B4-BE49-F238E27FC236}">
                <a16:creationId xmlns:a16="http://schemas.microsoft.com/office/drawing/2014/main" id="{35CC8C36-E5F6-4785-85F2-7B1DD179C837}"/>
              </a:ext>
            </a:extLst>
          </p:cNvPr>
          <p:cNvGraphicFramePr>
            <a:graphicFrameLocks noChangeAspect="1"/>
          </p:cNvGraphicFramePr>
          <p:nvPr>
            <p:custDataLst>
              <p:tags r:id="rId1"/>
            </p:custDataLst>
            <p:extLst>
              <p:ext uri="{D42A27DB-BD31-4B8C-83A1-F6EECF244321}">
                <p14:modId xmlns:p14="http://schemas.microsoft.com/office/powerpoint/2010/main" val="778391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9" name="Objekt 28" hidden="1">
                        <a:extLst>
                          <a:ext uri="{FF2B5EF4-FFF2-40B4-BE49-F238E27FC236}">
                            <a16:creationId xmlns:a16="http://schemas.microsoft.com/office/drawing/2014/main" id="{35CC8C36-E5F6-4785-85F2-7B1DD179C8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hteck 27" hidden="1">
            <a:extLst>
              <a:ext uri="{FF2B5EF4-FFF2-40B4-BE49-F238E27FC236}">
                <a16:creationId xmlns:a16="http://schemas.microsoft.com/office/drawing/2014/main" id="{5364B560-8A9F-4B7A-B988-CF7BF54F7125}"/>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a:latin typeface="Delivery" panose="020F0503020204020204" pitchFamily="34" charset="0"/>
              <a:ea typeface="+mj-ea"/>
              <a:cs typeface="+mj-cs"/>
              <a:sym typeface="Delivery" panose="020F0503020204020204" pitchFamily="34" charset="0"/>
            </a:endParaRPr>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
        <p:nvSpPr>
          <p:cNvPr id="6" name="Title 5">
            <a:extLst>
              <a:ext uri="{FF2B5EF4-FFF2-40B4-BE49-F238E27FC236}">
                <a16:creationId xmlns:a16="http://schemas.microsoft.com/office/drawing/2014/main" id="{6CE55F6D-FD9E-4946-8051-A82B7F8833A1}"/>
              </a:ext>
            </a:extLst>
          </p:cNvPr>
          <p:cNvSpPr>
            <a:spLocks noGrp="1"/>
          </p:cNvSpPr>
          <p:nvPr>
            <p:ph type="title" hasCustomPrompt="1"/>
          </p:nvPr>
        </p:nvSpPr>
        <p:spPr>
          <a:xfrm>
            <a:off x="324000" y="385163"/>
            <a:ext cx="4644725" cy="493950"/>
          </a:xfrm>
        </p:spPr>
        <p:txBody>
          <a:bodyPr/>
          <a:lstStyle/>
          <a:p>
            <a:r>
              <a:rPr lang="en-US"/>
              <a:t>Double headline with one or two lines, Delivery Bold, 18 </a:t>
            </a:r>
            <a:r>
              <a:rPr lang="en-US" err="1"/>
              <a:t>pt</a:t>
            </a:r>
            <a:endParaRPr lang="en-US"/>
          </a:p>
        </p:txBody>
      </p:sp>
    </p:spTree>
    <p:extLst>
      <p:ext uri="{BB962C8B-B14F-4D97-AF65-F5344CB8AC3E}">
        <p14:creationId xmlns:p14="http://schemas.microsoft.com/office/powerpoint/2010/main" val="1106393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1 column, 1 column half side grey">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D416913-53A8-4554-9E84-F88C14A369BC}"/>
              </a:ext>
            </a:extLst>
          </p:cNvPr>
          <p:cNvSpPr>
            <a:spLocks noGrp="1"/>
          </p:cNvSpPr>
          <p:nvPr>
            <p:ph type="body" sz="quarter" idx="15" hasCustomPrompt="1"/>
          </p:nvPr>
        </p:nvSpPr>
        <p:spPr>
          <a:xfrm>
            <a:off x="5292726" y="0"/>
            <a:ext cx="3851274" cy="5143500"/>
          </a:xfrm>
          <a:prstGeom prst="rect">
            <a:avLst/>
          </a:prstGeom>
          <a:solidFill>
            <a:srgbClr val="CCCCCC"/>
          </a:solidFill>
        </p:spPr>
        <p:txBody>
          <a:bodyPr lIns="324000" tIns="1152000" rIns="324000" bIns="432000" anchor="t" anchorCtr="0"/>
          <a:lstStyle>
            <a:lvl1pPr>
              <a:defRPr/>
            </a:lvl1pPr>
            <a:lvl4pPr>
              <a:defRPr/>
            </a:lvl4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a:p>
            <a:pPr lvl="4"/>
            <a:endParaRPr lang="en-US"/>
          </a:p>
        </p:txBody>
      </p:sp>
      <p:graphicFrame>
        <p:nvGraphicFramePr>
          <p:cNvPr id="29" name="Objekt 28" hidden="1">
            <a:extLst>
              <a:ext uri="{FF2B5EF4-FFF2-40B4-BE49-F238E27FC236}">
                <a16:creationId xmlns:a16="http://schemas.microsoft.com/office/drawing/2014/main" id="{35CC8C36-E5F6-4785-85F2-7B1DD179C837}"/>
              </a:ext>
            </a:extLst>
          </p:cNvPr>
          <p:cNvGraphicFramePr>
            <a:graphicFrameLocks noChangeAspect="1"/>
          </p:cNvGraphicFramePr>
          <p:nvPr>
            <p:custDataLst>
              <p:tags r:id="rId1"/>
            </p:custDataLst>
            <p:extLst>
              <p:ext uri="{D42A27DB-BD31-4B8C-83A1-F6EECF244321}">
                <p14:modId xmlns:p14="http://schemas.microsoft.com/office/powerpoint/2010/main" val="2734764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9" name="Objekt 28" hidden="1">
                        <a:extLst>
                          <a:ext uri="{FF2B5EF4-FFF2-40B4-BE49-F238E27FC236}">
                            <a16:creationId xmlns:a16="http://schemas.microsoft.com/office/drawing/2014/main" id="{35CC8C36-E5F6-4785-85F2-7B1DD179C8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hteck 27" hidden="1">
            <a:extLst>
              <a:ext uri="{FF2B5EF4-FFF2-40B4-BE49-F238E27FC236}">
                <a16:creationId xmlns:a16="http://schemas.microsoft.com/office/drawing/2014/main" id="{5364B560-8A9F-4B7A-B988-CF7BF54F7125}"/>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a:latin typeface="Delivery" panose="020F0503020204020204" pitchFamily="34" charset="0"/>
              <a:ea typeface="+mj-ea"/>
              <a:cs typeface="+mj-cs"/>
              <a:sym typeface="Delivery" panose="020F0503020204020204" pitchFamily="34" charset="0"/>
            </a:endParaRPr>
          </a:p>
        </p:txBody>
      </p:sp>
      <p:sp>
        <p:nvSpPr>
          <p:cNvPr id="2" name="Title 1">
            <a:extLst>
              <a:ext uri="{FF2B5EF4-FFF2-40B4-BE49-F238E27FC236}">
                <a16:creationId xmlns:a16="http://schemas.microsoft.com/office/drawing/2014/main" id="{6A499984-62A4-47EC-9933-2FCC1131CB9B}"/>
              </a:ext>
            </a:extLst>
          </p:cNvPr>
          <p:cNvSpPr>
            <a:spLocks noGrp="1"/>
          </p:cNvSpPr>
          <p:nvPr>
            <p:ph type="title" hasCustomPrompt="1"/>
          </p:nvPr>
        </p:nvSpPr>
        <p:spPr>
          <a:xfrm>
            <a:off x="324000" y="385200"/>
            <a:ext cx="4644725" cy="493200"/>
          </a:xfrm>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Tree>
    <p:extLst>
      <p:ext uri="{BB962C8B-B14F-4D97-AF65-F5344CB8AC3E}">
        <p14:creationId xmlns:p14="http://schemas.microsoft.com/office/powerpoint/2010/main" val="3692701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1 column, 1 column half side gradient">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D416913-53A8-4554-9E84-F88C14A369BC}"/>
              </a:ext>
            </a:extLst>
          </p:cNvPr>
          <p:cNvSpPr>
            <a:spLocks noGrp="1"/>
          </p:cNvSpPr>
          <p:nvPr>
            <p:ph type="body" sz="quarter" idx="15" hasCustomPrompt="1"/>
          </p:nvPr>
        </p:nvSpPr>
        <p:spPr>
          <a:xfrm>
            <a:off x="5292726" y="0"/>
            <a:ext cx="3851274" cy="5143500"/>
          </a:xfrm>
          <a:prstGeom prst="rect">
            <a:avLst/>
          </a:prstGeom>
          <a:gradFill>
            <a:gsLst>
              <a:gs pos="30000">
                <a:schemeClr val="accent3"/>
              </a:gs>
              <a:gs pos="79000">
                <a:srgbClr val="FFDE59"/>
              </a:gs>
              <a:gs pos="100000">
                <a:srgbClr val="FFF0B2"/>
              </a:gs>
            </a:gsLst>
            <a:lin ang="16200000" scaled="1"/>
          </a:gradFill>
        </p:spPr>
        <p:txBody>
          <a:bodyPr lIns="324000" tIns="1152000" rIns="324000" bIns="432000" anchor="t" anchorCtr="0"/>
          <a:lstStyle>
            <a:lvl1pPr>
              <a:defRPr/>
            </a:lvl1pPr>
            <a:lvl4pPr>
              <a:defRPr/>
            </a:lvl4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a:p>
            <a:pPr lvl="4"/>
            <a:endParaRPr lang="en-US"/>
          </a:p>
        </p:txBody>
      </p:sp>
      <p:graphicFrame>
        <p:nvGraphicFramePr>
          <p:cNvPr id="7" name="Objekt 6" hidden="1">
            <a:extLst>
              <a:ext uri="{FF2B5EF4-FFF2-40B4-BE49-F238E27FC236}">
                <a16:creationId xmlns:a16="http://schemas.microsoft.com/office/drawing/2014/main" id="{B0B4FDD3-3FA4-45F2-86F1-10A9DA1AAD3E}"/>
              </a:ext>
            </a:extLst>
          </p:cNvPr>
          <p:cNvGraphicFramePr>
            <a:graphicFrameLocks noChangeAspect="1"/>
          </p:cNvGraphicFramePr>
          <p:nvPr>
            <p:custDataLst>
              <p:tags r:id="rId1"/>
            </p:custDataLst>
            <p:extLst>
              <p:ext uri="{D42A27DB-BD31-4B8C-83A1-F6EECF244321}">
                <p14:modId xmlns:p14="http://schemas.microsoft.com/office/powerpoint/2010/main" val="2311553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7" name="Objekt 6" hidden="1">
                        <a:extLst>
                          <a:ext uri="{FF2B5EF4-FFF2-40B4-BE49-F238E27FC236}">
                            <a16:creationId xmlns:a16="http://schemas.microsoft.com/office/drawing/2014/main" id="{B0B4FDD3-3FA4-45F2-86F1-10A9DA1AAD3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E863B02-413C-4D73-A746-5B2F80C99C06}"/>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a:latin typeface="Delivery" panose="020F0503020204020204" pitchFamily="34" charset="0"/>
              <a:ea typeface="+mj-ea"/>
              <a:cs typeface="+mj-cs"/>
              <a:sym typeface="Delivery" panose="020F0503020204020204" pitchFamily="34" charset="0"/>
            </a:endParaRPr>
          </a:p>
        </p:txBody>
      </p:sp>
      <p:sp>
        <p:nvSpPr>
          <p:cNvPr id="2" name="Title 1">
            <a:extLst>
              <a:ext uri="{FF2B5EF4-FFF2-40B4-BE49-F238E27FC236}">
                <a16:creationId xmlns:a16="http://schemas.microsoft.com/office/drawing/2014/main" id="{6A499984-62A4-47EC-9933-2FCC1131CB9B}"/>
              </a:ext>
            </a:extLst>
          </p:cNvPr>
          <p:cNvSpPr>
            <a:spLocks noGrp="1"/>
          </p:cNvSpPr>
          <p:nvPr>
            <p:ph type="title" hasCustomPrompt="1"/>
          </p:nvPr>
        </p:nvSpPr>
        <p:spPr>
          <a:xfrm>
            <a:off x="324000" y="385200"/>
            <a:ext cx="4644725" cy="493200"/>
          </a:xfrm>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Tree>
    <p:extLst>
      <p:ext uri="{BB962C8B-B14F-4D97-AF65-F5344CB8AC3E}">
        <p14:creationId xmlns:p14="http://schemas.microsoft.com/office/powerpoint/2010/main" val="4264543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empty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6D0AD-4E79-4BFF-B8B5-BB937AA1CC23}"/>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14B27B9E-C404-4AF3-A250-0969317557F4}"/>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B1688F39-AB4C-43BD-98F0-FD644C1453DD}"/>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6" name="Picture Placeholder 5">
            <a:extLst>
              <a:ext uri="{FF2B5EF4-FFF2-40B4-BE49-F238E27FC236}">
                <a16:creationId xmlns:a16="http://schemas.microsoft.com/office/drawing/2014/main" id="{590685DA-4536-4D1F-9676-24537EC64881}"/>
              </a:ext>
            </a:extLst>
          </p:cNvPr>
          <p:cNvSpPr>
            <a:spLocks noGrp="1"/>
          </p:cNvSpPr>
          <p:nvPr>
            <p:ph type="pic" sz="quarter" idx="12" hasCustomPrompt="1"/>
          </p:nvPr>
        </p:nvSpPr>
        <p:spPr>
          <a:xfrm>
            <a:off x="324001" y="1150938"/>
            <a:ext cx="4165450" cy="3530600"/>
          </a:xfrm>
          <a:prstGeom prst="rect">
            <a:avLst/>
          </a:prstGeom>
          <a:solidFill>
            <a:srgbClr val="CCCCCC"/>
          </a:solidFill>
        </p:spPr>
        <p:txBody>
          <a:bodyPr lIns="72000" tIns="72000" rIns="72000" bIns="72000"/>
          <a:lstStyle>
            <a:lvl1pPr>
              <a:defRPr/>
            </a:lvl1pPr>
          </a:lstStyle>
          <a:p>
            <a:r>
              <a:rPr lang="en-US"/>
              <a:t>Please click the icon to insert an image</a:t>
            </a:r>
          </a:p>
        </p:txBody>
      </p:sp>
      <p:sp>
        <p:nvSpPr>
          <p:cNvPr id="7" name="Picture Placeholder 5">
            <a:extLst>
              <a:ext uri="{FF2B5EF4-FFF2-40B4-BE49-F238E27FC236}">
                <a16:creationId xmlns:a16="http://schemas.microsoft.com/office/drawing/2014/main" id="{11D8F016-E9C1-4ED6-8F46-E30AD613382F}"/>
              </a:ext>
            </a:extLst>
          </p:cNvPr>
          <p:cNvSpPr>
            <a:spLocks noGrp="1"/>
          </p:cNvSpPr>
          <p:nvPr>
            <p:ph type="pic" sz="quarter" idx="13" hasCustomPrompt="1"/>
          </p:nvPr>
        </p:nvSpPr>
        <p:spPr>
          <a:xfrm>
            <a:off x="4654548" y="1150938"/>
            <a:ext cx="4165450" cy="3530600"/>
          </a:xfrm>
          <a:prstGeom prst="rect">
            <a:avLst/>
          </a:prstGeom>
          <a:solidFill>
            <a:srgbClr val="CCCCCC"/>
          </a:solidFill>
        </p:spPr>
        <p:txBody>
          <a:bodyPr lIns="72000" tIns="72000" rIns="72000" bIns="72000"/>
          <a:lstStyle>
            <a:lvl1pPr>
              <a:defRPr/>
            </a:lvl1pPr>
          </a:lstStyle>
          <a:p>
            <a:r>
              <a:rPr lang="en-US"/>
              <a:t>Please click the icon to insert an image</a:t>
            </a:r>
          </a:p>
        </p:txBody>
      </p:sp>
    </p:spTree>
    <p:extLst>
      <p:ext uri="{BB962C8B-B14F-4D97-AF65-F5344CB8AC3E}">
        <p14:creationId xmlns:p14="http://schemas.microsoft.com/office/powerpoint/2010/main" val="870435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light image full scree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A35D9B1-6310-46E2-8EA7-BFC29B52C65E}"/>
              </a:ext>
            </a:extLst>
          </p:cNvPr>
          <p:cNvSpPr>
            <a:spLocks noGrp="1"/>
          </p:cNvSpPr>
          <p:nvPr>
            <p:ph type="pic" sz="quarter" idx="12" hasCustomPrompt="1"/>
          </p:nvPr>
        </p:nvSpPr>
        <p:spPr>
          <a:xfrm>
            <a:off x="0" y="0"/>
            <a:ext cx="9144000" cy="5143500"/>
          </a:xfrm>
          <a:prstGeom prst="rect">
            <a:avLst/>
          </a:prstGeom>
          <a:solidFill>
            <a:srgbClr val="CCCCCC"/>
          </a:solidFill>
        </p:spPr>
        <p:txBody>
          <a:bodyPr lIns="72000" tIns="72000" rIns="72000" bIns="72000"/>
          <a:lstStyle>
            <a:lvl1pPr algn="r">
              <a:defRPr/>
            </a:lvl1pPr>
          </a:lstStyle>
          <a:p>
            <a:r>
              <a:rPr lang="en-US"/>
              <a:t>Please click the icon to insert an image</a:t>
            </a:r>
          </a:p>
        </p:txBody>
      </p:sp>
      <p:sp>
        <p:nvSpPr>
          <p:cNvPr id="8" name="Content Placeholder 7">
            <a:extLst>
              <a:ext uri="{FF2B5EF4-FFF2-40B4-BE49-F238E27FC236}">
                <a16:creationId xmlns:a16="http://schemas.microsoft.com/office/drawing/2014/main" id="{E5907E47-AED8-4AB8-AA7A-2736D73CFC5E}"/>
              </a:ext>
            </a:extLst>
          </p:cNvPr>
          <p:cNvSpPr>
            <a:spLocks noGrp="1"/>
          </p:cNvSpPr>
          <p:nvPr>
            <p:ph sz="quarter" idx="13" hasCustomPrompt="1"/>
          </p:nvPr>
        </p:nvSpPr>
        <p:spPr>
          <a:xfrm>
            <a:off x="324000" y="1150938"/>
            <a:ext cx="8495999" cy="35280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
        <p:nvSpPr>
          <p:cNvPr id="2" name="Title 1">
            <a:extLst>
              <a:ext uri="{FF2B5EF4-FFF2-40B4-BE49-F238E27FC236}">
                <a16:creationId xmlns:a16="http://schemas.microsoft.com/office/drawing/2014/main" id="{4ABCAE12-7456-4DFA-8832-22E05FDDD175}"/>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E51FF1B3-6C52-429B-B6E4-B7B0F4F27A4B}"/>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CE348D45-3AD0-4D87-AB1B-0B3F1D9CDBB5}"/>
              </a:ext>
            </a:extLst>
          </p:cNvPr>
          <p:cNvSpPr>
            <a:spLocks noGrp="1"/>
          </p:cNvSpPr>
          <p:nvPr>
            <p:ph type="sldNum" sz="quarter" idx="11"/>
          </p:nvPr>
        </p:nvSpPr>
        <p:spPr/>
        <p:txBody>
          <a:bodyPr/>
          <a:lstStyle/>
          <a:p>
            <a:fld id="{C2245BC1-4D7B-4ED3-8F01-840FA35126C6}" type="slidenum">
              <a:rPr lang="en-US" smtClean="0"/>
              <a:pPr/>
              <a:t>‹#›</a:t>
            </a:fld>
            <a:endParaRPr lang="en-US"/>
          </a:p>
        </p:txBody>
      </p:sp>
    </p:spTree>
    <p:extLst>
      <p:ext uri="{BB962C8B-B14F-4D97-AF65-F5344CB8AC3E}">
        <p14:creationId xmlns:p14="http://schemas.microsoft.com/office/powerpoint/2010/main" val="26311333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dark image full screen">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C82AB236-DAFD-49F7-BBC2-7E52C86EE7CF}"/>
              </a:ext>
            </a:extLst>
          </p:cNvPr>
          <p:cNvSpPr>
            <a:spLocks noGrp="1"/>
          </p:cNvSpPr>
          <p:nvPr>
            <p:ph type="pic" sz="quarter" idx="12" hasCustomPrompt="1"/>
          </p:nvPr>
        </p:nvSpPr>
        <p:spPr>
          <a:xfrm>
            <a:off x="0" y="0"/>
            <a:ext cx="9144000" cy="5143500"/>
          </a:xfrm>
          <a:prstGeom prst="rect">
            <a:avLst/>
          </a:prstGeom>
          <a:solidFill>
            <a:srgbClr val="333333"/>
          </a:solidFill>
        </p:spPr>
        <p:txBody>
          <a:bodyPr lIns="72000" tIns="72000" rIns="72000" bIns="72000"/>
          <a:lstStyle>
            <a:lvl1pPr marL="0" marR="0" indent="0" algn="r" defTabSz="685800" rtl="0" eaLnBrk="1" fontAlgn="auto" latinLnBrk="0" hangingPunct="1">
              <a:lnSpc>
                <a:spcPct val="110000"/>
              </a:lnSpc>
              <a:spcBef>
                <a:spcPts val="0"/>
              </a:spcBef>
              <a:spcAft>
                <a:spcPts val="500"/>
              </a:spcAft>
              <a:buClrTx/>
              <a:buSzTx/>
              <a:buFont typeface="Arial" panose="020B0604020202020204" pitchFamily="34" charset="0"/>
              <a:buNone/>
              <a:tabLst/>
              <a:defRPr>
                <a:solidFill>
                  <a:schemeClr val="bg1"/>
                </a:solidFill>
              </a:defRPr>
            </a:lvl1pPr>
          </a:lstStyle>
          <a:p>
            <a:r>
              <a:rPr lang="en-US"/>
              <a:t>Please click the icon to insert an image</a:t>
            </a:r>
          </a:p>
        </p:txBody>
      </p:sp>
      <p:sp>
        <p:nvSpPr>
          <p:cNvPr id="2" name="Title 1">
            <a:extLst>
              <a:ext uri="{FF2B5EF4-FFF2-40B4-BE49-F238E27FC236}">
                <a16:creationId xmlns:a16="http://schemas.microsoft.com/office/drawing/2014/main" id="{FAAF2E6C-875C-432B-B47A-A9E589B7C45F}"/>
              </a:ext>
            </a:extLst>
          </p:cNvPr>
          <p:cNvSpPr>
            <a:spLocks noGrp="1"/>
          </p:cNvSpPr>
          <p:nvPr>
            <p:ph type="title" hasCustomPrompt="1"/>
          </p:nvPr>
        </p:nvSpPr>
        <p:spPr/>
        <p:txBody>
          <a:bodyPr/>
          <a:lstStyle>
            <a:lvl1pPr>
              <a:defRPr>
                <a:solidFill>
                  <a:schemeClr val="bg1"/>
                </a:solidFill>
              </a:defRPr>
            </a:lvl1pPr>
          </a:lstStyle>
          <a:p>
            <a:r>
              <a:rPr lang="en-US"/>
              <a:t>Double headline with one or two lines, Delivery Bold, 18 </a:t>
            </a:r>
            <a:r>
              <a:rPr lang="en-US" err="1"/>
              <a:t>pt</a:t>
            </a:r>
            <a:endParaRPr lang="en-US"/>
          </a:p>
        </p:txBody>
      </p:sp>
      <p:sp>
        <p:nvSpPr>
          <p:cNvPr id="3" name="Footer Placeholder 2">
            <a:extLst>
              <a:ext uri="{FF2B5EF4-FFF2-40B4-BE49-F238E27FC236}">
                <a16:creationId xmlns:a16="http://schemas.microsoft.com/office/drawing/2014/main" id="{16CD9EC0-783C-4E03-8B54-EB815AE37DC1}"/>
              </a:ext>
            </a:extLst>
          </p:cNvPr>
          <p:cNvSpPr>
            <a:spLocks noGrp="1"/>
          </p:cNvSpPr>
          <p:nvPr>
            <p:ph type="ftr" sz="quarter" idx="10"/>
          </p:nvPr>
        </p:nvSpPr>
        <p:spPr/>
        <p:txBody>
          <a:bodyPr/>
          <a:lstStyle>
            <a:lvl1pPr>
              <a:defRPr>
                <a:solidFill>
                  <a:schemeClr val="bg1"/>
                </a:solidFill>
              </a:defRPr>
            </a:lvl1pPr>
          </a:lstStyle>
          <a:p>
            <a:r>
              <a:rPr lang="en-US"/>
              <a:t>DHL | Presentation title | Location | xx Month 20xx</a:t>
            </a:r>
          </a:p>
        </p:txBody>
      </p:sp>
      <p:sp>
        <p:nvSpPr>
          <p:cNvPr id="4" name="Slide Number Placeholder 3">
            <a:extLst>
              <a:ext uri="{FF2B5EF4-FFF2-40B4-BE49-F238E27FC236}">
                <a16:creationId xmlns:a16="http://schemas.microsoft.com/office/drawing/2014/main" id="{C1164768-AEA5-4631-BC4A-8DB3B9447D68}"/>
              </a:ext>
            </a:extLst>
          </p:cNvPr>
          <p:cNvSpPr>
            <a:spLocks noGrp="1"/>
          </p:cNvSpPr>
          <p:nvPr>
            <p:ph type="sldNum" sz="quarter" idx="11"/>
          </p:nvPr>
        </p:nvSpPr>
        <p:spPr/>
        <p:txBody>
          <a:bodyPr/>
          <a:lstStyle>
            <a:lvl1pPr>
              <a:defRPr>
                <a:solidFill>
                  <a:schemeClr val="bg1"/>
                </a:solidFill>
              </a:defRPr>
            </a:lvl1pPr>
          </a:lstStyle>
          <a:p>
            <a:fld id="{C2245BC1-4D7B-4ED3-8F01-840FA35126C6}" type="slidenum">
              <a:rPr lang="en-US" smtClean="0"/>
              <a:pPr/>
              <a:t>‹#›</a:t>
            </a:fld>
            <a:endParaRPr lang="en-US"/>
          </a:p>
        </p:txBody>
      </p:sp>
      <p:sp>
        <p:nvSpPr>
          <p:cNvPr id="6" name="Content Placeholder 7">
            <a:extLst>
              <a:ext uri="{FF2B5EF4-FFF2-40B4-BE49-F238E27FC236}">
                <a16:creationId xmlns:a16="http://schemas.microsoft.com/office/drawing/2014/main" id="{66D239E5-258B-41CA-ABAF-4A71EA5D0B1F}"/>
              </a:ext>
            </a:extLst>
          </p:cNvPr>
          <p:cNvSpPr>
            <a:spLocks noGrp="1"/>
          </p:cNvSpPr>
          <p:nvPr>
            <p:ph sz="quarter" idx="13" hasCustomPrompt="1"/>
          </p:nvPr>
        </p:nvSpPr>
        <p:spPr>
          <a:xfrm>
            <a:off x="324000" y="1150938"/>
            <a:ext cx="8495999" cy="3528000"/>
          </a:xfrm>
          <a:prstGeom prst="rect">
            <a:avLst/>
          </a:prstGeo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vl6pPr marL="0" marR="0" indent="0" algn="l" defTabSz="685800" rtl="0" eaLnBrk="1" fontAlgn="auto" latinLnBrk="0" hangingPunct="1">
              <a:lnSpc>
                <a:spcPct val="110000"/>
              </a:lnSpc>
              <a:spcBef>
                <a:spcPts val="0"/>
              </a:spcBef>
              <a:spcAft>
                <a:spcPts val="500"/>
              </a:spcAft>
              <a:buClrTx/>
              <a:buSzTx/>
              <a:buFont typeface="Arial" panose="020B0604020202020204" pitchFamily="34" charset="0"/>
              <a:buNone/>
              <a:tabLst/>
              <a:defRPr sz="1200">
                <a:solidFill>
                  <a:schemeClr val="bg1"/>
                </a:solidFill>
              </a:defRPr>
            </a:lvl6pPr>
            <a:lvl7pPr>
              <a:buClr>
                <a:schemeClr val="bg1"/>
              </a:buClr>
              <a:defRPr sz="1200">
                <a:solidFill>
                  <a:schemeClr val="bg1"/>
                </a:solidFill>
              </a:defRPr>
            </a:lvl7pPr>
          </a:lstStyle>
          <a:p>
            <a:pPr lvl="0"/>
            <a:r>
              <a:rPr lang="en-US"/>
              <a:t>Body text in Delivery, 12 </a:t>
            </a:r>
            <a:r>
              <a:rPr lang="en-US" err="1"/>
              <a:t>pt</a:t>
            </a:r>
            <a:endParaRPr lang="en-US"/>
          </a:p>
          <a:p>
            <a:pPr lvl="1"/>
            <a:r>
              <a:rPr lang="en-US"/>
              <a:t>Bullet text, Delivery, 12 </a:t>
            </a:r>
            <a:r>
              <a:rPr lang="en-US" err="1"/>
              <a:t>pt</a:t>
            </a:r>
            <a:r>
              <a:rPr lang="en-US"/>
              <a:t> </a:t>
            </a:r>
          </a:p>
          <a:p>
            <a:pPr lvl="2"/>
            <a:r>
              <a:rPr lang="en-US"/>
              <a:t>Bullet text, Delivery, 12 </a:t>
            </a:r>
            <a:r>
              <a:rPr lang="en-US" err="1"/>
              <a:t>pt</a:t>
            </a:r>
            <a:endParaRPr lang="en-US"/>
          </a:p>
          <a:p>
            <a:pPr lvl="3"/>
            <a:r>
              <a:rPr lang="en-US"/>
              <a:t>Bullet text, Delivery, 12 </a:t>
            </a:r>
            <a:r>
              <a:rPr lang="en-US" err="1"/>
              <a:t>pt</a:t>
            </a:r>
            <a:r>
              <a:rPr lang="en-US"/>
              <a:t> </a:t>
            </a:r>
          </a:p>
          <a:p>
            <a:pPr lvl="4"/>
            <a:r>
              <a:rPr lang="en-US"/>
              <a:t>Action title, Delivery Regular, 15 </a:t>
            </a:r>
            <a:r>
              <a:rPr lang="en-US" err="1"/>
              <a:t>pt</a:t>
            </a:r>
            <a:endParaRPr lang="en-US"/>
          </a:p>
          <a:p>
            <a:pPr lvl="5"/>
            <a:r>
              <a:rPr lang="en-US"/>
              <a:t>Paragraph Headline, Delivery Bold, 12 </a:t>
            </a:r>
            <a:r>
              <a:rPr lang="en-US" err="1"/>
              <a:t>pt</a:t>
            </a:r>
            <a:endParaRPr lang="en-US"/>
          </a:p>
          <a:p>
            <a:pPr lvl="6"/>
            <a:r>
              <a:rPr lang="en-US"/>
              <a:t>Bullet number, Delivery, 12 </a:t>
            </a:r>
            <a:r>
              <a:rPr lang="en-US" err="1"/>
              <a:t>pt</a:t>
            </a:r>
            <a:r>
              <a:rPr lang="en-US"/>
              <a:t> </a:t>
            </a:r>
          </a:p>
        </p:txBody>
      </p:sp>
    </p:spTree>
    <p:extLst>
      <p:ext uri="{BB962C8B-B14F-4D97-AF65-F5344CB8AC3E}">
        <p14:creationId xmlns:p14="http://schemas.microsoft.com/office/powerpoint/2010/main" val="4120102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full screen video with title">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DB4843D2-D66C-4483-9BEF-0EA790E357B6}"/>
              </a:ext>
            </a:extLst>
          </p:cNvPr>
          <p:cNvSpPr>
            <a:spLocks noGrp="1"/>
          </p:cNvSpPr>
          <p:nvPr>
            <p:ph type="media" sz="quarter" idx="12" hasCustomPrompt="1"/>
          </p:nvPr>
        </p:nvSpPr>
        <p:spPr>
          <a:xfrm>
            <a:off x="0" y="0"/>
            <a:ext cx="9144000" cy="5143500"/>
          </a:xfrm>
          <a:prstGeom prst="rect">
            <a:avLst/>
          </a:prstGeom>
          <a:solidFill>
            <a:srgbClr val="CCCCCC"/>
          </a:solidFill>
        </p:spPr>
        <p:txBody>
          <a:bodyPr lIns="72000" tIns="72000" rIns="72000" bIns="72000"/>
          <a:lstStyle>
            <a:lvl1pPr algn="r">
              <a:defRPr/>
            </a:lvl1pPr>
          </a:lstStyle>
          <a:p>
            <a:r>
              <a:rPr lang="en-US"/>
              <a:t>Please click the icon to insert a video</a:t>
            </a:r>
          </a:p>
        </p:txBody>
      </p:sp>
      <p:sp>
        <p:nvSpPr>
          <p:cNvPr id="7" name="Title 6">
            <a:extLst>
              <a:ext uri="{FF2B5EF4-FFF2-40B4-BE49-F238E27FC236}">
                <a16:creationId xmlns:a16="http://schemas.microsoft.com/office/drawing/2014/main" id="{B0885550-4E65-4CBF-8046-671CF042C57C}"/>
              </a:ext>
            </a:extLst>
          </p:cNvPr>
          <p:cNvSpPr>
            <a:spLocks noGrp="1"/>
          </p:cNvSpPr>
          <p:nvPr>
            <p:ph type="title" hasCustomPrompt="1"/>
          </p:nvPr>
        </p:nvSpPr>
        <p:spPr/>
        <p:txBody>
          <a:bodyPr/>
          <a:lstStyle>
            <a:lvl1pPr>
              <a:defRPr/>
            </a:lvl1pPr>
          </a:lstStyle>
          <a:p>
            <a:r>
              <a:rPr lang="en-US"/>
              <a:t>Double headline with one or two lines, Delivery Bold, 18 </a:t>
            </a:r>
            <a:r>
              <a:rPr lang="en-US" err="1"/>
              <a:t>pt</a:t>
            </a:r>
            <a:endParaRPr lang="en-GB"/>
          </a:p>
        </p:txBody>
      </p:sp>
    </p:spTree>
    <p:extLst>
      <p:ext uri="{BB962C8B-B14F-4D97-AF65-F5344CB8AC3E}">
        <p14:creationId xmlns:p14="http://schemas.microsoft.com/office/powerpoint/2010/main" val="63867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full page gradient">
    <p:bg>
      <p:bgPr>
        <a:gradFill>
          <a:gsLst>
            <a:gs pos="30000">
              <a:schemeClr val="accent3"/>
            </a:gs>
            <a:gs pos="79000">
              <a:srgbClr val="FFDE59"/>
            </a:gs>
            <a:gs pos="100000">
              <a:srgbClr val="FFF0B2"/>
            </a:gs>
          </a:gsLst>
          <a:lin ang="16200000" scaled="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1F4-F305-4DA8-90F9-2961F8C24558}"/>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CCA6B0F1-5579-4CB2-B05C-7E560EFBC169}"/>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7" name="Text Placeholder 6">
            <a:extLst>
              <a:ext uri="{FF2B5EF4-FFF2-40B4-BE49-F238E27FC236}">
                <a16:creationId xmlns:a16="http://schemas.microsoft.com/office/drawing/2014/main" id="{D5ABAA4C-A627-4F72-ADBD-217F33287BFC}"/>
              </a:ext>
            </a:extLst>
          </p:cNvPr>
          <p:cNvSpPr>
            <a:spLocks noGrp="1"/>
          </p:cNvSpPr>
          <p:nvPr>
            <p:ph type="body" sz="quarter" idx="12" hasCustomPrompt="1"/>
          </p:nvPr>
        </p:nvSpPr>
        <p:spPr>
          <a:xfrm>
            <a:off x="1774117" y="1963196"/>
            <a:ext cx="5233987" cy="897618"/>
          </a:xfrm>
          <a:prstGeom prst="rect">
            <a:avLst/>
          </a:prstGeom>
        </p:spPr>
        <p:txBody>
          <a:bodyPr>
            <a:noAutofit/>
          </a:bodyPr>
          <a:lstStyle>
            <a:lvl1pPr>
              <a:lnSpc>
                <a:spcPts val="3000"/>
              </a:lnSpc>
              <a:spcAft>
                <a:spcPts val="0"/>
              </a:spcAft>
              <a:defRPr sz="2500" i="1">
                <a:solidFill>
                  <a:schemeClr val="accent4"/>
                </a:solidFill>
                <a:latin typeface="+mn-lt"/>
              </a:defRPr>
            </a:lvl1pPr>
          </a:lstStyle>
          <a:p>
            <a:pPr lvl="0"/>
            <a:r>
              <a:rPr lang="en-US"/>
              <a:t>“This space is reserved for quotes.</a:t>
            </a:r>
            <a:br>
              <a:rPr lang="en-US"/>
            </a:br>
            <a:r>
              <a:rPr lang="en-US"/>
              <a:t>Delivery Italic, 25 pt.”</a:t>
            </a:r>
          </a:p>
        </p:txBody>
      </p:sp>
    </p:spTree>
    <p:extLst>
      <p:ext uri="{BB962C8B-B14F-4D97-AF65-F5344CB8AC3E}">
        <p14:creationId xmlns:p14="http://schemas.microsoft.com/office/powerpoint/2010/main" val="2105933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nal: full page gradient">
    <p:bg>
      <p:bgPr>
        <a:gradFill>
          <a:gsLst>
            <a:gs pos="30000">
              <a:schemeClr val="accent3"/>
            </a:gs>
            <a:gs pos="79000">
              <a:srgbClr val="FFDE59"/>
            </a:gs>
            <a:gs pos="100000">
              <a:srgbClr val="FFF0B2"/>
            </a:gs>
          </a:gsLst>
          <a:lin ang="16200000" scaled="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1F4-F305-4DA8-90F9-2961F8C24558}"/>
              </a:ext>
            </a:extLst>
          </p:cNvPr>
          <p:cNvSpPr>
            <a:spLocks noGrp="1"/>
          </p:cNvSpPr>
          <p:nvPr>
            <p:ph type="ftr" sz="quarter" idx="10"/>
          </p:nvPr>
        </p:nvSpPr>
        <p:spPr/>
        <p:txBody>
          <a:bodyPr/>
          <a:lstStyle/>
          <a:p>
            <a:r>
              <a:rPr lang="en-US"/>
              <a:t>DHL | Presentation title | Location | xx Month 20xx</a:t>
            </a:r>
          </a:p>
        </p:txBody>
      </p:sp>
      <p:sp>
        <p:nvSpPr>
          <p:cNvPr id="4" name="Slide Number Placeholder 3">
            <a:extLst>
              <a:ext uri="{FF2B5EF4-FFF2-40B4-BE49-F238E27FC236}">
                <a16:creationId xmlns:a16="http://schemas.microsoft.com/office/drawing/2014/main" id="{CCA6B0F1-5579-4CB2-B05C-7E560EFBC169}"/>
              </a:ext>
            </a:extLst>
          </p:cNvPr>
          <p:cNvSpPr>
            <a:spLocks noGrp="1"/>
          </p:cNvSpPr>
          <p:nvPr>
            <p:ph type="sldNum" sz="quarter" idx="11"/>
          </p:nvPr>
        </p:nvSpPr>
        <p:spPr/>
        <p:txBody>
          <a:bodyPr/>
          <a:lstStyle/>
          <a:p>
            <a:fld id="{C2245BC1-4D7B-4ED3-8F01-840FA35126C6}" type="slidenum">
              <a:rPr lang="en-US" smtClean="0"/>
              <a:pPr/>
              <a:t>‹#›</a:t>
            </a:fld>
            <a:endParaRPr lang="en-US"/>
          </a:p>
        </p:txBody>
      </p:sp>
      <p:sp>
        <p:nvSpPr>
          <p:cNvPr id="5" name="TextBox 4">
            <a:extLst>
              <a:ext uri="{FF2B5EF4-FFF2-40B4-BE49-F238E27FC236}">
                <a16:creationId xmlns:a16="http://schemas.microsoft.com/office/drawing/2014/main" id="{B30DCF4F-94A3-4ECD-931B-78A92C777558}"/>
              </a:ext>
            </a:extLst>
          </p:cNvPr>
          <p:cNvSpPr txBox="1"/>
          <p:nvPr/>
        </p:nvSpPr>
        <p:spPr>
          <a:xfrm>
            <a:off x="319293" y="1485178"/>
            <a:ext cx="3134163" cy="553998"/>
          </a:xfrm>
          <a:prstGeom prst="rect">
            <a:avLst/>
          </a:prstGeom>
          <a:noFill/>
        </p:spPr>
        <p:txBody>
          <a:bodyPr wrap="square" lIns="0" tIns="0" rIns="0" bIns="0" rtlCol="0">
            <a:spAutoFit/>
          </a:bodyPr>
          <a:lstStyle/>
          <a:p>
            <a:r>
              <a:rPr lang="en-US" sz="3600" b="0" cap="all" baseline="0" noProof="0">
                <a:solidFill>
                  <a:schemeClr val="accent4"/>
                </a:solidFill>
                <a:latin typeface="Delivery Cd Black" panose="020F0906020204020204" pitchFamily="34" charset="0"/>
              </a:rPr>
              <a:t>Thank you</a:t>
            </a:r>
          </a:p>
        </p:txBody>
      </p:sp>
    </p:spTree>
    <p:extLst>
      <p:ext uri="{BB962C8B-B14F-4D97-AF65-F5344CB8AC3E}">
        <p14:creationId xmlns:p14="http://schemas.microsoft.com/office/powerpoint/2010/main" val="2481031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08606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F5062D91-6A6A-4A47-ABB2-A2263EFFF4CE}"/>
              </a:ext>
            </a:extLst>
          </p:cNvPr>
          <p:cNvGraphicFramePr>
            <a:graphicFrameLocks noChangeAspect="1"/>
          </p:cNvGraphicFramePr>
          <p:nvPr>
            <p:custDataLst>
              <p:tags r:id="rId24"/>
            </p:custDataLst>
            <p:extLst>
              <p:ext uri="{D42A27DB-BD31-4B8C-83A1-F6EECF244321}">
                <p14:modId xmlns:p14="http://schemas.microsoft.com/office/powerpoint/2010/main" val="25841510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59" imgH="360" progId="TCLayout.ActiveDocument.1">
                  <p:embed/>
                </p:oleObj>
              </mc:Choice>
              <mc:Fallback>
                <p:oleObj name="think-cell Slide" r:id="rId25" imgW="359" imgH="360" progId="TCLayout.ActiveDocument.1">
                  <p:embed/>
                  <p:pic>
                    <p:nvPicPr>
                      <p:cNvPr id="4" name="Objekt 3" hidden="1">
                        <a:extLst>
                          <a:ext uri="{FF2B5EF4-FFF2-40B4-BE49-F238E27FC236}">
                            <a16:creationId xmlns:a16="http://schemas.microsoft.com/office/drawing/2014/main" id="{F5062D91-6A6A-4A47-ABB2-A2263EFFF4CE}"/>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9" name="Footer Placeholder 8">
            <a:extLst>
              <a:ext uri="{FF2B5EF4-FFF2-40B4-BE49-F238E27FC236}">
                <a16:creationId xmlns:a16="http://schemas.microsoft.com/office/drawing/2014/main" id="{CA856C2E-8F2D-41A0-AE6C-F0526A45A6EE}"/>
              </a:ext>
            </a:extLst>
          </p:cNvPr>
          <p:cNvSpPr>
            <a:spLocks noGrp="1"/>
          </p:cNvSpPr>
          <p:nvPr>
            <p:ph type="ftr" sz="quarter" idx="3"/>
          </p:nvPr>
        </p:nvSpPr>
        <p:spPr>
          <a:xfrm>
            <a:off x="323999" y="4803982"/>
            <a:ext cx="8117532" cy="138499"/>
          </a:xfrm>
          <a:prstGeom prst="rect">
            <a:avLst/>
          </a:prstGeom>
        </p:spPr>
        <p:txBody>
          <a:bodyPr vert="horz" lIns="0" tIns="0" rIns="0" bIns="0" rtlCol="0" anchor="ctr">
            <a:noAutofit/>
          </a:bodyPr>
          <a:lstStyle>
            <a:lvl1pPr algn="l">
              <a:defRPr sz="900">
                <a:solidFill>
                  <a:schemeClr val="tx1"/>
                </a:solidFill>
              </a:defRPr>
            </a:lvl1pPr>
          </a:lstStyle>
          <a:p>
            <a:r>
              <a:rPr lang="en-US"/>
              <a:t>DHL | Presentation title | Location | xx Month 20xx</a:t>
            </a:r>
          </a:p>
        </p:txBody>
      </p:sp>
      <p:sp>
        <p:nvSpPr>
          <p:cNvPr id="11" name="Slide Number Placeholder 10">
            <a:extLst>
              <a:ext uri="{FF2B5EF4-FFF2-40B4-BE49-F238E27FC236}">
                <a16:creationId xmlns:a16="http://schemas.microsoft.com/office/drawing/2014/main" id="{8C9B7831-1594-4A3A-AB85-33FDCF3EA950}"/>
              </a:ext>
            </a:extLst>
          </p:cNvPr>
          <p:cNvSpPr>
            <a:spLocks noGrp="1"/>
          </p:cNvSpPr>
          <p:nvPr>
            <p:ph type="sldNum" sz="quarter" idx="4"/>
          </p:nvPr>
        </p:nvSpPr>
        <p:spPr>
          <a:xfrm>
            <a:off x="8441531" y="4803982"/>
            <a:ext cx="378469" cy="138499"/>
          </a:xfrm>
          <a:prstGeom prst="rect">
            <a:avLst/>
          </a:prstGeom>
        </p:spPr>
        <p:txBody>
          <a:bodyPr vert="horz" lIns="0" tIns="0" rIns="0" bIns="0" rtlCol="0" anchor="ctr"/>
          <a:lstStyle>
            <a:lvl1pPr algn="r">
              <a:defRPr sz="900">
                <a:solidFill>
                  <a:schemeClr val="tx1"/>
                </a:solidFill>
              </a:defRPr>
            </a:lvl1pPr>
          </a:lstStyle>
          <a:p>
            <a:fld id="{C2245BC1-4D7B-4ED3-8F01-840FA35126C6}" type="slidenum">
              <a:rPr lang="en-US" smtClean="0"/>
              <a:pPr/>
              <a:t>‹#›</a:t>
            </a:fld>
            <a:endParaRPr lang="en-US"/>
          </a:p>
        </p:txBody>
      </p:sp>
      <p:sp>
        <p:nvSpPr>
          <p:cNvPr id="7" name="Title Placeholder 6">
            <a:extLst>
              <a:ext uri="{FF2B5EF4-FFF2-40B4-BE49-F238E27FC236}">
                <a16:creationId xmlns:a16="http://schemas.microsoft.com/office/drawing/2014/main" id="{82927099-8B95-48F9-92CE-1BDC9AB08BDE}"/>
              </a:ext>
            </a:extLst>
          </p:cNvPr>
          <p:cNvSpPr>
            <a:spLocks noGrp="1"/>
          </p:cNvSpPr>
          <p:nvPr>
            <p:ph type="title"/>
          </p:nvPr>
        </p:nvSpPr>
        <p:spPr>
          <a:xfrm>
            <a:off x="324000" y="385163"/>
            <a:ext cx="8495999" cy="493950"/>
          </a:xfrm>
          <a:prstGeom prst="rect">
            <a:avLst/>
          </a:prstGeom>
        </p:spPr>
        <p:txBody>
          <a:bodyPr vert="horz" lIns="0" tIns="0" rIns="0" bIns="0" rtlCol="0" anchor="b">
            <a:noAutofit/>
          </a:bodyPr>
          <a:lstStyle/>
          <a:p>
            <a:r>
              <a:rPr lang="en-US"/>
              <a:t>Double headline with one or two lines, Delivery Bold, 18 </a:t>
            </a:r>
            <a:r>
              <a:rPr lang="en-US" err="1"/>
              <a:t>pt</a:t>
            </a:r>
            <a:endParaRPr lang="en-US"/>
          </a:p>
        </p:txBody>
      </p:sp>
      <p:sp>
        <p:nvSpPr>
          <p:cNvPr id="2" name="Textplatzhalter 1">
            <a:extLst>
              <a:ext uri="{FF2B5EF4-FFF2-40B4-BE49-F238E27FC236}">
                <a16:creationId xmlns:a16="http://schemas.microsoft.com/office/drawing/2014/main" id="{41540D8D-44A2-4357-96AC-187F9742D364}"/>
              </a:ext>
            </a:extLst>
          </p:cNvPr>
          <p:cNvSpPr>
            <a:spLocks noGrp="1"/>
          </p:cNvSpPr>
          <p:nvPr>
            <p:ph type="body" idx="1"/>
          </p:nvPr>
        </p:nvSpPr>
        <p:spPr>
          <a:xfrm>
            <a:off x="323999" y="1150938"/>
            <a:ext cx="8496151" cy="3530600"/>
          </a:xfrm>
          <a:prstGeom prst="rect">
            <a:avLst/>
          </a:prstGeom>
        </p:spPr>
        <p:txBody>
          <a:bodyPr vert="horz" lIns="0" tIns="0" rIns="0" bIns="0" rtlCol="0">
            <a:noAutofit/>
          </a:bodyPr>
          <a:lstStyle/>
          <a:p>
            <a:pPr lvl="0"/>
            <a:r>
              <a:rPr lang="de-DE"/>
              <a:t>Body </a:t>
            </a:r>
            <a:r>
              <a:rPr lang="de-DE" err="1"/>
              <a:t>text</a:t>
            </a:r>
            <a:r>
              <a:rPr lang="de-DE"/>
              <a:t> in </a:t>
            </a:r>
            <a:r>
              <a:rPr lang="de-DE" err="1"/>
              <a:t>Delivery</a:t>
            </a:r>
            <a:r>
              <a:rPr lang="de-DE"/>
              <a:t>, 12 </a:t>
            </a:r>
            <a:r>
              <a:rPr lang="de-DE" err="1"/>
              <a:t>pt</a:t>
            </a:r>
            <a:endParaRPr lang="de-DE"/>
          </a:p>
          <a:p>
            <a:pPr lvl="1"/>
            <a:r>
              <a:rPr lang="de-DE"/>
              <a:t>Bullet </a:t>
            </a:r>
            <a:r>
              <a:rPr lang="de-DE" err="1"/>
              <a:t>text</a:t>
            </a:r>
            <a:r>
              <a:rPr lang="de-DE"/>
              <a:t>, </a:t>
            </a:r>
            <a:r>
              <a:rPr lang="de-DE" err="1"/>
              <a:t>Delivery</a:t>
            </a:r>
            <a:r>
              <a:rPr lang="de-DE"/>
              <a:t>, 12 </a:t>
            </a:r>
            <a:r>
              <a:rPr lang="de-DE" err="1"/>
              <a:t>pt</a:t>
            </a:r>
            <a:endParaRPr lang="de-DE"/>
          </a:p>
          <a:p>
            <a:pPr lvl="2"/>
            <a:r>
              <a:rPr lang="de-DE"/>
              <a:t>Bullet </a:t>
            </a:r>
            <a:r>
              <a:rPr lang="de-DE" err="1"/>
              <a:t>text</a:t>
            </a:r>
            <a:r>
              <a:rPr lang="de-DE"/>
              <a:t>, </a:t>
            </a:r>
            <a:r>
              <a:rPr lang="de-DE" err="1"/>
              <a:t>Delivery</a:t>
            </a:r>
            <a:r>
              <a:rPr lang="de-DE"/>
              <a:t>, 12 </a:t>
            </a:r>
            <a:r>
              <a:rPr lang="de-DE" err="1"/>
              <a:t>pt</a:t>
            </a:r>
            <a:endParaRPr lang="de-DE"/>
          </a:p>
          <a:p>
            <a:pPr lvl="3"/>
            <a:r>
              <a:rPr lang="de-DE"/>
              <a:t>Bullet </a:t>
            </a:r>
            <a:r>
              <a:rPr lang="de-DE" err="1"/>
              <a:t>text</a:t>
            </a:r>
            <a:r>
              <a:rPr lang="de-DE"/>
              <a:t>, </a:t>
            </a:r>
            <a:r>
              <a:rPr lang="de-DE" err="1"/>
              <a:t>Delivery</a:t>
            </a:r>
            <a:r>
              <a:rPr lang="de-DE"/>
              <a:t>, 12 </a:t>
            </a:r>
            <a:r>
              <a:rPr lang="de-DE" err="1"/>
              <a:t>pt</a:t>
            </a:r>
            <a:endParaRPr lang="de-DE"/>
          </a:p>
          <a:p>
            <a:pPr lvl="4"/>
            <a:r>
              <a:rPr lang="de-DE"/>
              <a:t>Action title, </a:t>
            </a:r>
            <a:r>
              <a:rPr lang="de-DE" err="1"/>
              <a:t>Delivery</a:t>
            </a:r>
            <a:r>
              <a:rPr lang="de-DE"/>
              <a:t> Regular, 15 </a:t>
            </a:r>
            <a:r>
              <a:rPr lang="de-DE" err="1"/>
              <a:t>pt</a:t>
            </a:r>
            <a:endParaRPr lang="de-DE"/>
          </a:p>
          <a:p>
            <a:pPr lvl="5"/>
            <a:r>
              <a:rPr lang="de-DE"/>
              <a:t>Paragraph Headline, </a:t>
            </a:r>
            <a:r>
              <a:rPr lang="de-DE" err="1"/>
              <a:t>DeliveryBold</a:t>
            </a:r>
            <a:r>
              <a:rPr lang="de-DE"/>
              <a:t>, 12 </a:t>
            </a:r>
            <a:r>
              <a:rPr lang="de-DE" err="1"/>
              <a:t>pt</a:t>
            </a:r>
            <a:endParaRPr lang="de-DE"/>
          </a:p>
          <a:p>
            <a:pPr lvl="6"/>
            <a:r>
              <a:rPr lang="de-DE"/>
              <a:t>Bullet </a:t>
            </a:r>
            <a:r>
              <a:rPr lang="de-DE" err="1"/>
              <a:t>number</a:t>
            </a:r>
            <a:r>
              <a:rPr lang="de-DE"/>
              <a:t>, </a:t>
            </a:r>
            <a:r>
              <a:rPr lang="de-DE" err="1"/>
              <a:t>Delivery</a:t>
            </a:r>
            <a:r>
              <a:rPr lang="de-DE"/>
              <a:t>, 12 </a:t>
            </a:r>
            <a:r>
              <a:rPr lang="de-DE" err="1"/>
              <a:t>pt</a:t>
            </a:r>
            <a:endParaRPr lang="de-DE"/>
          </a:p>
        </p:txBody>
      </p:sp>
      <p:sp>
        <p:nvSpPr>
          <p:cNvPr id="5" name="TextBox 4">
            <a:extLst>
              <a:ext uri="{FF2B5EF4-FFF2-40B4-BE49-F238E27FC236}">
                <a16:creationId xmlns:a16="http://schemas.microsoft.com/office/drawing/2014/main" id="{83D254EE-4F2D-2832-95F5-539B9D40764F}"/>
              </a:ext>
            </a:extLst>
          </p:cNvPr>
          <p:cNvSpPr txBox="1"/>
          <p:nvPr>
            <p:extLst>
              <p:ext uri="{1162E1C5-73C7-4A58-AE30-91384D911F3F}">
                <p184:classification xmlns:p184="http://schemas.microsoft.com/office/powerpoint/2018/4/main" val="hdr"/>
              </p:ext>
            </p:extLst>
          </p:nvPr>
        </p:nvSpPr>
        <p:spPr>
          <a:xfrm>
            <a:off x="63500" y="63500"/>
            <a:ext cx="1014413" cy="152400"/>
          </a:xfrm>
          <a:prstGeom prst="rect">
            <a:avLst/>
          </a:prstGeom>
        </p:spPr>
        <p:txBody>
          <a:bodyPr horzOverflow="overflow" lIns="0" tIns="0" rIns="0" bIns="0">
            <a:spAutoFit/>
          </a:bodyPr>
          <a:lstStyle/>
          <a:p>
            <a:pPr algn="l"/>
            <a:r>
              <a:rPr lang="en-US" sz="1000">
                <a:solidFill>
                  <a:srgbClr val="747474"/>
                </a:solidFill>
                <a:latin typeface="Calibri" panose="020F0502020204030204" pitchFamily="34" charset="0"/>
                <a:ea typeface="Calibri" panose="020F0502020204030204" pitchFamily="34" charset="0"/>
                <a:cs typeface="Calibri" panose="020F0502020204030204" pitchFamily="34" charset="0"/>
              </a:rPr>
              <a:t>FOR INTERNAL USE</a:t>
            </a:r>
          </a:p>
        </p:txBody>
      </p:sp>
    </p:spTree>
    <p:extLst>
      <p:ext uri="{BB962C8B-B14F-4D97-AF65-F5344CB8AC3E}">
        <p14:creationId xmlns:p14="http://schemas.microsoft.com/office/powerpoint/2010/main" val="138446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9" r:id="rId5"/>
    <p:sldLayoutId id="2147483653" r:id="rId6"/>
    <p:sldLayoutId id="2147483654" r:id="rId7"/>
    <p:sldLayoutId id="2147483666" r:id="rId8"/>
    <p:sldLayoutId id="2147483655" r:id="rId9"/>
    <p:sldLayoutId id="2147483656" r:id="rId10"/>
    <p:sldLayoutId id="2147483657" r:id="rId11"/>
    <p:sldLayoutId id="2147483658" r:id="rId12"/>
    <p:sldLayoutId id="2147483670" r:id="rId13"/>
    <p:sldLayoutId id="2147483671" r:id="rId14"/>
    <p:sldLayoutId id="2147483672" r:id="rId15"/>
    <p:sldLayoutId id="2147483661" r:id="rId16"/>
    <p:sldLayoutId id="2147483662" r:id="rId17"/>
    <p:sldLayoutId id="2147483663" r:id="rId18"/>
    <p:sldLayoutId id="2147483668" r:id="rId19"/>
    <p:sldLayoutId id="2147483664" r:id="rId20"/>
    <p:sldLayoutId id="2147483665" r:id="rId21"/>
    <p:sldLayoutId id="2147483673" r:id="rId22"/>
  </p:sldLayoutIdLst>
  <p:hf hdr="0" dt="0"/>
  <p:txStyles>
    <p:titleStyle>
      <a:lvl1pPr algn="l" defTabSz="685800" rtl="0" eaLnBrk="1" latinLnBrk="0" hangingPunct="1">
        <a:lnSpc>
          <a:spcPct val="100000"/>
        </a:lnSpc>
        <a:spcBef>
          <a:spcPct val="0"/>
        </a:spcBef>
        <a:buNone/>
        <a:defRPr sz="1800" b="1" kern="1200">
          <a:solidFill>
            <a:schemeClr val="accent4"/>
          </a:solidFill>
          <a:latin typeface="+mj-lt"/>
          <a:ea typeface="+mj-ea"/>
          <a:cs typeface="+mj-cs"/>
        </a:defRPr>
      </a:lvl1pPr>
    </p:titleStyle>
    <p:body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20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20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userDrawn="1">
          <p15:clr>
            <a:srgbClr val="F26B43"/>
          </p15:clr>
        </p15:guide>
        <p15:guide id="3" pos="5556" userDrawn="1">
          <p15:clr>
            <a:srgbClr val="F26B43"/>
          </p15:clr>
        </p15:guide>
        <p15:guide id="6" orient="horz" pos="725" userDrawn="1">
          <p15:clr>
            <a:srgbClr val="F26B43"/>
          </p15:clr>
        </p15:guide>
        <p15:guide id="17" orient="horz" pos="2949" userDrawn="1">
          <p15:clr>
            <a:srgbClr val="F26B43"/>
          </p15:clr>
        </p15:guide>
        <p15:guide id="18"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3.xml"/><Relationship Id="rId7" Type="http://schemas.openxmlformats.org/officeDocument/2006/relationships/image" Target="../media/image8.svg"/><Relationship Id="rId2" Type="http://schemas.openxmlformats.org/officeDocument/2006/relationships/slideLayout" Target="../slideLayouts/slideLayout10.xml"/><Relationship Id="rId1" Type="http://schemas.openxmlformats.org/officeDocument/2006/relationships/tags" Target="../tags/tag9.xml"/><Relationship Id="rId6" Type="http://schemas.openxmlformats.org/officeDocument/2006/relationships/image" Target="../media/image1.emf"/><Relationship Id="rId11" Type="http://schemas.openxmlformats.org/officeDocument/2006/relationships/image" Target="../media/image12.png"/><Relationship Id="rId5" Type="http://schemas.openxmlformats.org/officeDocument/2006/relationships/oleObject" Target="../embeddings/oleObject5.bin"/><Relationship Id="rId10" Type="http://schemas.openxmlformats.org/officeDocument/2006/relationships/image" Target="../media/image11.png"/><Relationship Id="rId4" Type="http://schemas.openxmlformats.org/officeDocument/2006/relationships/image" Target="../media/image7.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svg"/><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DFD9A370-20BB-8DAA-59F7-B026799A3C00}"/>
              </a:ext>
            </a:extLst>
          </p:cNvPr>
          <p:cNvSpPr/>
          <p:nvPr/>
        </p:nvSpPr>
        <p:spPr>
          <a:xfrm>
            <a:off x="4464166" y="14015"/>
            <a:ext cx="4679834" cy="5115470"/>
          </a:xfrm>
          <a:custGeom>
            <a:avLst/>
            <a:gdLst/>
            <a:ahLst/>
            <a:cxnLst/>
            <a:rect l="l" t="t" r="r" b="b"/>
            <a:pathLst>
              <a:path w="9359668" h="10230940">
                <a:moveTo>
                  <a:pt x="0" y="0"/>
                </a:moveTo>
                <a:lnTo>
                  <a:pt x="9359668" y="0"/>
                </a:lnTo>
                <a:lnTo>
                  <a:pt x="9359668" y="10230940"/>
                </a:lnTo>
                <a:lnTo>
                  <a:pt x="0" y="10230940"/>
                </a:lnTo>
                <a:lnTo>
                  <a:pt x="0" y="0"/>
                </a:lnTo>
                <a:close/>
              </a:path>
            </a:pathLst>
          </a:custGeom>
          <a:blipFill>
            <a:blip>
              <a:extLst>
                <a:ext uri="{96DAC541-7B7A-43D3-8B79-37D633B846F1}">
                  <asvg:svgBlip xmlns:asvg="http://schemas.microsoft.com/office/drawing/2016/SVG/main" r:embed="rId3"/>
                </a:ext>
              </a:extLst>
            </a:blip>
            <a:stretch>
              <a:fillRect t="-5976" r="-23280" b="-7545"/>
            </a:stretch>
          </a:blipFill>
        </p:spPr>
        <p:txBody>
          <a:bodyPr/>
          <a:lstStyle/>
          <a:p>
            <a:endParaRPr lang="en-US" sz="675"/>
          </a:p>
        </p:txBody>
      </p:sp>
      <p:sp>
        <p:nvSpPr>
          <p:cNvPr id="2" name="Subtitle 1">
            <a:extLst>
              <a:ext uri="{FF2B5EF4-FFF2-40B4-BE49-F238E27FC236}">
                <a16:creationId xmlns:a16="http://schemas.microsoft.com/office/drawing/2014/main" id="{32735A3E-50EC-41EB-B9B5-CDDDBBBFDEDA}"/>
              </a:ext>
            </a:extLst>
          </p:cNvPr>
          <p:cNvSpPr>
            <a:spLocks noGrp="1"/>
          </p:cNvSpPr>
          <p:nvPr>
            <p:ph type="subTitle" idx="1"/>
          </p:nvPr>
        </p:nvSpPr>
        <p:spPr>
          <a:xfrm>
            <a:off x="324000" y="2017986"/>
            <a:ext cx="4962375" cy="400110"/>
          </a:xfrm>
        </p:spPr>
        <p:txBody>
          <a:bodyPr/>
          <a:lstStyle/>
          <a:p>
            <a:r>
              <a:rPr lang="en-US" sz="1200" dirty="0"/>
              <a:t>AI Workflow Engine for VULNERABILITY IDENTIFICATION AND </a:t>
            </a:r>
          </a:p>
          <a:p>
            <a:r>
              <a:rPr lang="en-US" sz="1200" dirty="0"/>
              <a:t>PENETRATION &amp; REPORTING</a:t>
            </a:r>
          </a:p>
        </p:txBody>
      </p:sp>
      <p:sp>
        <p:nvSpPr>
          <p:cNvPr id="3" name="Title 2">
            <a:extLst>
              <a:ext uri="{FF2B5EF4-FFF2-40B4-BE49-F238E27FC236}">
                <a16:creationId xmlns:a16="http://schemas.microsoft.com/office/drawing/2014/main" id="{01D8AA51-79C2-4231-920A-30B2017224DD}"/>
              </a:ext>
            </a:extLst>
          </p:cNvPr>
          <p:cNvSpPr>
            <a:spLocks noGrp="1"/>
          </p:cNvSpPr>
          <p:nvPr>
            <p:ph type="title"/>
          </p:nvPr>
        </p:nvSpPr>
        <p:spPr>
          <a:xfrm>
            <a:off x="323999" y="772912"/>
            <a:ext cx="5749667" cy="503216"/>
          </a:xfrm>
        </p:spPr>
        <p:txBody>
          <a:bodyPr/>
          <a:lstStyle/>
          <a:p>
            <a:r>
              <a:rPr lang="en-US" sz="2800" dirty="0">
                <a:ea typeface="Delivery Cd Black" panose="020F0906020204020204" pitchFamily="34" charset="0"/>
                <a:cs typeface="Delivery Cd Black" panose="020F0906020204020204" pitchFamily="34" charset="0"/>
              </a:rPr>
              <a:t>AGENT VIPER</a:t>
            </a:r>
            <a:endParaRPr lang="en-GB" sz="2800" dirty="0">
              <a:ea typeface="Delivery Cd Black" panose="020F0906020204020204" pitchFamily="34" charset="0"/>
              <a:cs typeface="Delivery Cd Black" panose="020F0906020204020204" pitchFamily="34" charset="0"/>
            </a:endParaRPr>
          </a:p>
        </p:txBody>
      </p:sp>
      <p:sp>
        <p:nvSpPr>
          <p:cNvPr id="4" name="Text Placeholder 3">
            <a:extLst>
              <a:ext uri="{FF2B5EF4-FFF2-40B4-BE49-F238E27FC236}">
                <a16:creationId xmlns:a16="http://schemas.microsoft.com/office/drawing/2014/main" id="{89D29B00-2C46-4986-B7E6-FADD134C5E47}"/>
              </a:ext>
            </a:extLst>
          </p:cNvPr>
          <p:cNvSpPr>
            <a:spLocks noGrp="1"/>
          </p:cNvSpPr>
          <p:nvPr>
            <p:ph type="body" sz="quarter" idx="13"/>
          </p:nvPr>
        </p:nvSpPr>
        <p:spPr>
          <a:xfrm>
            <a:off x="275508" y="3703575"/>
            <a:ext cx="4644724" cy="196977"/>
          </a:xfrm>
        </p:spPr>
        <p:txBody>
          <a:bodyPr/>
          <a:lstStyle/>
          <a:p>
            <a:r>
              <a:rPr lang="en-US" dirty="0"/>
              <a:t>CISO Technical Review  ·  Prototype Demo</a:t>
            </a:r>
          </a:p>
        </p:txBody>
      </p:sp>
      <p:sp>
        <p:nvSpPr>
          <p:cNvPr id="5" name="Text Placeholder 4">
            <a:extLst>
              <a:ext uri="{FF2B5EF4-FFF2-40B4-BE49-F238E27FC236}">
                <a16:creationId xmlns:a16="http://schemas.microsoft.com/office/drawing/2014/main" id="{8D60BD94-2CF9-4A9E-896A-A2DC09EE24A2}"/>
              </a:ext>
            </a:extLst>
          </p:cNvPr>
          <p:cNvSpPr>
            <a:spLocks noGrp="1"/>
          </p:cNvSpPr>
          <p:nvPr>
            <p:ph type="body" sz="quarter" idx="14"/>
          </p:nvPr>
        </p:nvSpPr>
        <p:spPr>
          <a:xfrm>
            <a:off x="323999" y="2897077"/>
            <a:ext cx="4644724" cy="400110"/>
          </a:xfrm>
        </p:spPr>
        <p:txBody>
          <a:bodyPr/>
          <a:lstStyle/>
          <a:p>
            <a:r>
              <a:rPr lang="en-US" dirty="0"/>
              <a:t>Syed Ibrahim  ·  ITS InfoSec Services</a:t>
            </a:r>
          </a:p>
        </p:txBody>
      </p:sp>
      <p:pic>
        <p:nvPicPr>
          <p:cNvPr id="7" name="Picture 6" descr="A red and black logo&#10;&#10;Description automatically generated">
            <a:extLst>
              <a:ext uri="{FF2B5EF4-FFF2-40B4-BE49-F238E27FC236}">
                <a16:creationId xmlns:a16="http://schemas.microsoft.com/office/drawing/2014/main" id="{2E3DDB9C-7B3F-D0E4-4DA8-A8EB98055BB0}"/>
              </a:ext>
            </a:extLst>
          </p:cNvPr>
          <p:cNvPicPr>
            <a:picLocks noChangeAspect="1"/>
          </p:cNvPicPr>
          <p:nvPr/>
        </p:nvPicPr>
        <p:blipFill>
          <a:blip r:embed="rId4"/>
          <a:stretch>
            <a:fillRect/>
          </a:stretch>
        </p:blipFill>
        <p:spPr>
          <a:xfrm>
            <a:off x="324284" y="4543922"/>
            <a:ext cx="1450133" cy="187886"/>
          </a:xfrm>
          <a:prstGeom prst="rect">
            <a:avLst/>
          </a:prstGeom>
        </p:spPr>
      </p:pic>
      <p:grpSp>
        <p:nvGrpSpPr>
          <p:cNvPr id="14" name="Group 6">
            <a:extLst>
              <a:ext uri="{FF2B5EF4-FFF2-40B4-BE49-F238E27FC236}">
                <a16:creationId xmlns:a16="http://schemas.microsoft.com/office/drawing/2014/main" id="{E7C7CCB5-2CE8-A388-6207-992564C366B5}"/>
              </a:ext>
            </a:extLst>
          </p:cNvPr>
          <p:cNvGrpSpPr/>
          <p:nvPr/>
        </p:nvGrpSpPr>
        <p:grpSpPr>
          <a:xfrm>
            <a:off x="5858588" y="1011065"/>
            <a:ext cx="3149627" cy="3149401"/>
            <a:chOff x="0" y="0"/>
            <a:chExt cx="9699605" cy="9698912"/>
          </a:xfrm>
        </p:grpSpPr>
        <p:sp>
          <p:nvSpPr>
            <p:cNvPr id="15" name="Freeform 7">
              <a:extLst>
                <a:ext uri="{FF2B5EF4-FFF2-40B4-BE49-F238E27FC236}">
                  <a16:creationId xmlns:a16="http://schemas.microsoft.com/office/drawing/2014/main" id="{FA18D2DF-F45E-F743-66AC-140DDBB48802}"/>
                </a:ext>
              </a:extLst>
            </p:cNvPr>
            <p:cNvSpPr/>
            <p:nvPr/>
          </p:nvSpPr>
          <p:spPr>
            <a:xfrm>
              <a:off x="0" y="0"/>
              <a:ext cx="9699498" cy="9698990"/>
            </a:xfrm>
            <a:custGeom>
              <a:avLst/>
              <a:gdLst/>
              <a:ahLst/>
              <a:cxnLst/>
              <a:rect l="l" t="t" r="r" b="b"/>
              <a:pathLst>
                <a:path w="9699498" h="9698990">
                  <a:moveTo>
                    <a:pt x="4849495" y="9698863"/>
                  </a:moveTo>
                  <a:cubicBezTo>
                    <a:pt x="4272788" y="9698863"/>
                    <a:pt x="3521837" y="9538716"/>
                    <a:pt x="2331466" y="8347583"/>
                  </a:cubicBezTo>
                  <a:lnTo>
                    <a:pt x="1350772" y="7366762"/>
                  </a:lnTo>
                  <a:cubicBezTo>
                    <a:pt x="160909" y="6176391"/>
                    <a:pt x="0" y="5426202"/>
                    <a:pt x="0" y="4849495"/>
                  </a:cubicBezTo>
                  <a:cubicBezTo>
                    <a:pt x="0" y="4272788"/>
                    <a:pt x="160274" y="3521837"/>
                    <a:pt x="1350645" y="2332101"/>
                  </a:cubicBezTo>
                  <a:lnTo>
                    <a:pt x="2331339" y="1351280"/>
                  </a:lnTo>
                  <a:cubicBezTo>
                    <a:pt x="3521837" y="160274"/>
                    <a:pt x="4272661" y="0"/>
                    <a:pt x="4849495" y="0"/>
                  </a:cubicBezTo>
                  <a:cubicBezTo>
                    <a:pt x="5426329" y="0"/>
                    <a:pt x="6177153" y="160274"/>
                    <a:pt x="7367524" y="1351280"/>
                  </a:cubicBezTo>
                  <a:lnTo>
                    <a:pt x="8348218" y="2332101"/>
                  </a:lnTo>
                  <a:cubicBezTo>
                    <a:pt x="9538589" y="3522472"/>
                    <a:pt x="9699498" y="4272661"/>
                    <a:pt x="9699498" y="4850130"/>
                  </a:cubicBezTo>
                  <a:cubicBezTo>
                    <a:pt x="9699498" y="5426837"/>
                    <a:pt x="9539351" y="6177788"/>
                    <a:pt x="8348853" y="7367524"/>
                  </a:cubicBezTo>
                  <a:lnTo>
                    <a:pt x="7368159" y="8348345"/>
                  </a:lnTo>
                  <a:cubicBezTo>
                    <a:pt x="6177788" y="9538716"/>
                    <a:pt x="5427599" y="9698990"/>
                    <a:pt x="4850765" y="9698990"/>
                  </a:cubicBezTo>
                  <a:close/>
                </a:path>
              </a:pathLst>
            </a:custGeom>
            <a:blipFill>
              <a:blip r:embed="rId5"/>
              <a:stretch>
                <a:fillRect r="-50265"/>
              </a:stretch>
            </a:blipFill>
          </p:spPr>
          <p:txBody>
            <a:bodyPr/>
            <a:lstStyle/>
            <a:p>
              <a:endParaRPr lang="en-US" sz="675"/>
            </a:p>
          </p:txBody>
        </p:sp>
      </p:grpSp>
      <p:sp>
        <p:nvSpPr>
          <p:cNvPr id="6" name="TextBox 5">
            <a:extLst>
              <a:ext uri="{FF2B5EF4-FFF2-40B4-BE49-F238E27FC236}">
                <a16:creationId xmlns:a16="http://schemas.microsoft.com/office/drawing/2014/main" id="{45C7E070-7650-8F43-361A-A77DF3D314CA}"/>
              </a:ext>
            </a:extLst>
          </p:cNvPr>
          <p:cNvSpPr txBox="1"/>
          <p:nvPr/>
        </p:nvSpPr>
        <p:spPr>
          <a:xfrm>
            <a:off x="323998" y="1302347"/>
            <a:ext cx="1958094" cy="309251"/>
          </a:xfrm>
          <a:prstGeom prst="rect">
            <a:avLst/>
          </a:prstGeom>
          <a:noFill/>
        </p:spPr>
        <p:txBody>
          <a:bodyPr wrap="none" lIns="0" tIns="0" rIns="0" bIns="0" rtlCol="0">
            <a:noAutofit/>
          </a:bodyPr>
          <a:lstStyle/>
          <a:p>
            <a:pPr algn="l">
              <a:lnSpc>
                <a:spcPct val="110000"/>
              </a:lnSpc>
              <a:spcAft>
                <a:spcPts val="500"/>
              </a:spcAft>
            </a:pPr>
            <a:r>
              <a:rPr lang="en-US" sz="1600" b="1" dirty="0">
                <a:solidFill>
                  <a:schemeClr val="accent4"/>
                </a:solidFill>
              </a:rPr>
              <a:t>(AI Assisted Pentest)</a:t>
            </a:r>
            <a:endParaRPr lang="en-GB" sz="1600" b="1" dirty="0" err="1">
              <a:solidFill>
                <a:schemeClr val="accent4"/>
              </a:solidFill>
            </a:endParaRPr>
          </a:p>
        </p:txBody>
      </p:sp>
    </p:spTree>
    <p:extLst>
      <p:ext uri="{BB962C8B-B14F-4D97-AF65-F5344CB8AC3E}">
        <p14:creationId xmlns:p14="http://schemas.microsoft.com/office/powerpoint/2010/main" val="3828801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14">
            <a:extLst>
              <a:ext uri="{FF2B5EF4-FFF2-40B4-BE49-F238E27FC236}">
                <a16:creationId xmlns:a16="http://schemas.microsoft.com/office/drawing/2014/main" id="{95D819ED-E86E-2AD6-5209-1ADE43B61D1A}"/>
              </a:ext>
            </a:extLst>
          </p:cNvPr>
          <p:cNvSpPr/>
          <p:nvPr/>
        </p:nvSpPr>
        <p:spPr>
          <a:xfrm>
            <a:off x="2963004" y="103480"/>
            <a:ext cx="3716005" cy="3620921"/>
          </a:xfrm>
          <a:custGeom>
            <a:avLst/>
            <a:gdLst/>
            <a:ahLst/>
            <a:cxnLst/>
            <a:rect l="l" t="t" r="r" b="b"/>
            <a:pathLst>
              <a:path w="2062629" h="2062629">
                <a:moveTo>
                  <a:pt x="0" y="0"/>
                </a:moveTo>
                <a:lnTo>
                  <a:pt x="2062628" y="0"/>
                </a:lnTo>
                <a:lnTo>
                  <a:pt x="2062628" y="2062628"/>
                </a:lnTo>
                <a:lnTo>
                  <a:pt x="0" y="2062628"/>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5">
            <a:extLst>
              <a:ext uri="{FF2B5EF4-FFF2-40B4-BE49-F238E27FC236}">
                <a16:creationId xmlns:a16="http://schemas.microsoft.com/office/drawing/2014/main" id="{186D7FE2-B1FB-425C-CD9C-629DAA4509CE}"/>
              </a:ext>
            </a:extLst>
          </p:cNvPr>
          <p:cNvSpPr/>
          <p:nvPr/>
        </p:nvSpPr>
        <p:spPr>
          <a:xfrm>
            <a:off x="0" y="1319273"/>
            <a:ext cx="2792785" cy="3752322"/>
          </a:xfrm>
          <a:custGeom>
            <a:avLst/>
            <a:gdLst/>
            <a:ahLst/>
            <a:cxnLst/>
            <a:rect l="l" t="t" r="r" b="b"/>
            <a:pathLst>
              <a:path w="5585570" h="7504643">
                <a:moveTo>
                  <a:pt x="0" y="0"/>
                </a:moveTo>
                <a:lnTo>
                  <a:pt x="5585570" y="0"/>
                </a:lnTo>
                <a:lnTo>
                  <a:pt x="5585570" y="7504642"/>
                </a:lnTo>
                <a:lnTo>
                  <a:pt x="0" y="7504642"/>
                </a:lnTo>
                <a:lnTo>
                  <a:pt x="0" y="0"/>
                </a:lnTo>
                <a:close/>
              </a:path>
            </a:pathLst>
          </a:custGeom>
          <a:blipFill>
            <a:blip>
              <a:alphaModFix amt="50000"/>
              <a:extLst>
                <a:ext uri="{96DAC541-7B7A-43D3-8B79-37D633B846F1}">
                  <asvg:svgBlip xmlns:asvg="http://schemas.microsoft.com/office/drawing/2016/SVG/main" r:embed="rId3"/>
                </a:ext>
              </a:extLst>
            </a:blip>
            <a:stretch>
              <a:fillRect l="-33014" r="-1343"/>
            </a:stretch>
          </a:blipFill>
        </p:spPr>
        <p:txBody>
          <a:bodyPr/>
          <a:lstStyle/>
          <a:p>
            <a:endParaRPr lang="en-US" sz="675"/>
          </a:p>
        </p:txBody>
      </p:sp>
      <p:sp>
        <p:nvSpPr>
          <p:cNvPr id="8" name="Freeform 6">
            <a:extLst>
              <a:ext uri="{FF2B5EF4-FFF2-40B4-BE49-F238E27FC236}">
                <a16:creationId xmlns:a16="http://schemas.microsoft.com/office/drawing/2014/main" id="{5EAED49D-BCA1-3B16-E2FB-55C6FCB3E3B3}"/>
              </a:ext>
            </a:extLst>
          </p:cNvPr>
          <p:cNvSpPr/>
          <p:nvPr/>
        </p:nvSpPr>
        <p:spPr>
          <a:xfrm>
            <a:off x="7059242" y="-35472"/>
            <a:ext cx="2092554" cy="2279465"/>
          </a:xfrm>
          <a:custGeom>
            <a:avLst/>
            <a:gdLst/>
            <a:ahLst/>
            <a:cxnLst/>
            <a:rect l="l" t="t" r="r" b="b"/>
            <a:pathLst>
              <a:path w="4185108" h="4558929">
                <a:moveTo>
                  <a:pt x="0" y="0"/>
                </a:moveTo>
                <a:lnTo>
                  <a:pt x="4185108" y="0"/>
                </a:lnTo>
                <a:lnTo>
                  <a:pt x="4185108" y="4558929"/>
                </a:lnTo>
                <a:lnTo>
                  <a:pt x="0" y="4558929"/>
                </a:lnTo>
                <a:lnTo>
                  <a:pt x="0" y="0"/>
                </a:lnTo>
                <a:close/>
              </a:path>
            </a:pathLst>
          </a:custGeom>
          <a:blipFill>
            <a:blip>
              <a:alphaModFix amt="50000"/>
              <a:extLst>
                <a:ext uri="{96DAC541-7B7A-43D3-8B79-37D633B846F1}">
                  <asvg:svgBlip xmlns:asvg="http://schemas.microsoft.com/office/drawing/2016/SVG/main" r:embed="rId3"/>
                </a:ext>
              </a:extLst>
            </a:blip>
            <a:stretch>
              <a:fillRect r="-8932"/>
            </a:stretch>
          </a:blipFill>
        </p:spPr>
        <p:txBody>
          <a:bodyPr/>
          <a:lstStyle/>
          <a:p>
            <a:endParaRPr lang="en-US" sz="675"/>
          </a:p>
        </p:txBody>
      </p:sp>
      <p:sp>
        <p:nvSpPr>
          <p:cNvPr id="2" name="Title 1">
            <a:extLst>
              <a:ext uri="{FF2B5EF4-FFF2-40B4-BE49-F238E27FC236}">
                <a16:creationId xmlns:a16="http://schemas.microsoft.com/office/drawing/2014/main" id="{DB8ADDB2-2047-47C9-9C76-D85D8512ECA8}"/>
              </a:ext>
            </a:extLst>
          </p:cNvPr>
          <p:cNvSpPr>
            <a:spLocks noGrp="1"/>
          </p:cNvSpPr>
          <p:nvPr>
            <p:ph type="title"/>
          </p:nvPr>
        </p:nvSpPr>
        <p:spPr>
          <a:xfrm>
            <a:off x="891839" y="306337"/>
            <a:ext cx="1922586" cy="493950"/>
          </a:xfrm>
        </p:spPr>
        <p:txBody>
          <a:bodyPr/>
          <a:lstStyle/>
          <a:p>
            <a:r>
              <a:rPr lang="en-GB" dirty="0"/>
              <a:t>Agenda</a:t>
            </a:r>
          </a:p>
        </p:txBody>
      </p:sp>
      <p:sp>
        <p:nvSpPr>
          <p:cNvPr id="3" name="Footer Placeholder 2">
            <a:extLst>
              <a:ext uri="{FF2B5EF4-FFF2-40B4-BE49-F238E27FC236}">
                <a16:creationId xmlns:a16="http://schemas.microsoft.com/office/drawing/2014/main" id="{4872F9AA-3C33-4A09-A010-583208DDD94B}"/>
              </a:ext>
            </a:extLst>
          </p:cNvPr>
          <p:cNvSpPr>
            <a:spLocks noGrp="1"/>
          </p:cNvSpPr>
          <p:nvPr>
            <p:ph type="ftr" sz="quarter" idx="10"/>
          </p:nvPr>
        </p:nvSpPr>
        <p:spPr/>
        <p:txBody>
          <a:bodyPr/>
          <a:lstStyle/>
          <a:p>
            <a:r>
              <a:rPr lang="en-US" dirty="0"/>
              <a:t>DHL |  Agent Viper | Chennai India | 03 July 2026</a:t>
            </a:r>
          </a:p>
        </p:txBody>
      </p:sp>
      <p:sp>
        <p:nvSpPr>
          <p:cNvPr id="4" name="Slide Number Placeholder 3">
            <a:extLst>
              <a:ext uri="{FF2B5EF4-FFF2-40B4-BE49-F238E27FC236}">
                <a16:creationId xmlns:a16="http://schemas.microsoft.com/office/drawing/2014/main" id="{BFF03C6A-7A2D-4919-9480-6E85898C66C6}"/>
              </a:ext>
            </a:extLst>
          </p:cNvPr>
          <p:cNvSpPr>
            <a:spLocks noGrp="1"/>
          </p:cNvSpPr>
          <p:nvPr>
            <p:ph type="sldNum" sz="quarter" idx="11"/>
          </p:nvPr>
        </p:nvSpPr>
        <p:spPr/>
        <p:txBody>
          <a:bodyPr/>
          <a:lstStyle/>
          <a:p>
            <a:fld id="{C2245BC1-4D7B-4ED3-8F01-840FA35126C6}" type="slidenum">
              <a:rPr lang="en-US" smtClean="0"/>
              <a:pPr/>
              <a:t>2</a:t>
            </a:fld>
            <a:endParaRPr lang="en-US"/>
          </a:p>
        </p:txBody>
      </p:sp>
      <p:sp>
        <p:nvSpPr>
          <p:cNvPr id="5" name="Text Placeholder 4">
            <a:extLst>
              <a:ext uri="{FF2B5EF4-FFF2-40B4-BE49-F238E27FC236}">
                <a16:creationId xmlns:a16="http://schemas.microsoft.com/office/drawing/2014/main" id="{5DCBF12F-87D6-4BAC-B992-9A13D4DAAFBD}"/>
              </a:ext>
            </a:extLst>
          </p:cNvPr>
          <p:cNvSpPr>
            <a:spLocks noGrp="1"/>
          </p:cNvSpPr>
          <p:nvPr>
            <p:ph type="body" sz="quarter" idx="15"/>
          </p:nvPr>
        </p:nvSpPr>
        <p:spPr>
          <a:xfrm>
            <a:off x="323850" y="1150938"/>
            <a:ext cx="5563072" cy="3530600"/>
          </a:xfrm>
        </p:spPr>
        <p:txBody>
          <a:bodyPr/>
          <a:lstStyle/>
          <a:p>
            <a:r>
              <a:rPr lang="en-GB" dirty="0"/>
              <a:t>About Agent Viper</a:t>
            </a:r>
          </a:p>
          <a:p>
            <a:pPr lvl="1"/>
            <a:r>
              <a:rPr lang="en-US" dirty="0"/>
              <a:t>What it is — inputs, workflow, outputs</a:t>
            </a:r>
          </a:p>
          <a:p>
            <a:r>
              <a:rPr lang="en-US" dirty="0"/>
              <a:t>Current Workflow vs Agent Viper</a:t>
            </a:r>
          </a:p>
          <a:p>
            <a:pPr lvl="1"/>
            <a:r>
              <a:rPr lang="en-US" dirty="0"/>
              <a:t>Side-by-side comparison — changes &amp; improves</a:t>
            </a:r>
          </a:p>
          <a:p>
            <a:r>
              <a:rPr lang="en-US" dirty="0"/>
              <a:t>Agent Viper  What It Covers &amp; What It Doesn't</a:t>
            </a:r>
            <a:r>
              <a:rPr lang="en-GB" dirty="0"/>
              <a:t> </a:t>
            </a:r>
          </a:p>
          <a:p>
            <a:pPr lvl="1"/>
            <a:r>
              <a:rPr lang="en-US" dirty="0"/>
              <a:t>Clarifies what Agent Viper automates and what remains the responsibility of penetration testers</a:t>
            </a:r>
            <a:endParaRPr lang="fr-FR" dirty="0"/>
          </a:p>
          <a:p>
            <a:r>
              <a:rPr lang="en-GB" dirty="0"/>
              <a:t>Guardrails &amp; key Capabilities </a:t>
            </a:r>
          </a:p>
          <a:p>
            <a:pPr lvl="1"/>
            <a:r>
              <a:rPr lang="fr-FR" dirty="0"/>
              <a:t>Planned control &amp; Key highlights</a:t>
            </a:r>
          </a:p>
          <a:p>
            <a:r>
              <a:rPr lang="en-GB" dirty="0"/>
              <a:t>Prototype Results</a:t>
            </a:r>
          </a:p>
          <a:p>
            <a:pPr lvl="1"/>
            <a:r>
              <a:rPr lang="en-US" dirty="0"/>
              <a:t>Built, tested — 91 vulnerabilities, including 13 attack chains and14 critical advisories</a:t>
            </a:r>
          </a:p>
          <a:p>
            <a:r>
              <a:rPr lang="en-GB" dirty="0"/>
              <a:t>Demo</a:t>
            </a:r>
          </a:p>
          <a:p>
            <a:pPr lvl="1"/>
            <a:r>
              <a:rPr lang="en-US" dirty="0"/>
              <a:t>Demo target, real tools, real reasoning</a:t>
            </a:r>
          </a:p>
          <a:p>
            <a:pPr lvl="1"/>
            <a:endParaRPr lang="fr-FR" dirty="0"/>
          </a:p>
          <a:p>
            <a:endParaRPr lang="en-GB" dirty="0"/>
          </a:p>
        </p:txBody>
      </p:sp>
      <p:sp>
        <p:nvSpPr>
          <p:cNvPr id="10" name="Freeform 13">
            <a:extLst>
              <a:ext uri="{FF2B5EF4-FFF2-40B4-BE49-F238E27FC236}">
                <a16:creationId xmlns:a16="http://schemas.microsoft.com/office/drawing/2014/main" id="{62438571-D2F3-851D-D892-F3738EDC64C0}"/>
              </a:ext>
            </a:extLst>
          </p:cNvPr>
          <p:cNvSpPr/>
          <p:nvPr/>
        </p:nvSpPr>
        <p:spPr>
          <a:xfrm>
            <a:off x="224121" y="425395"/>
            <a:ext cx="519139" cy="493950"/>
          </a:xfrm>
          <a:custGeom>
            <a:avLst/>
            <a:gdLst/>
            <a:ahLst/>
            <a:cxnLst/>
            <a:rect l="l" t="t" r="r" b="b"/>
            <a:pathLst>
              <a:path w="1612320" h="1547998">
                <a:moveTo>
                  <a:pt x="0" y="0"/>
                </a:moveTo>
                <a:lnTo>
                  <a:pt x="1612320" y="0"/>
                </a:lnTo>
                <a:lnTo>
                  <a:pt x="1612320" y="1547998"/>
                </a:lnTo>
                <a:lnTo>
                  <a:pt x="0" y="1547998"/>
                </a:lnTo>
                <a:lnTo>
                  <a:pt x="0" y="0"/>
                </a:lnTo>
                <a:close/>
              </a:path>
            </a:pathLst>
          </a:custGeom>
          <a:blipFill>
            <a:blip>
              <a:extLst>
                <a:ext uri="{96DAC541-7B7A-43D3-8B79-37D633B846F1}">
                  <asvg:svgBlip xmlns:asvg="http://schemas.microsoft.com/office/drawing/2016/SVG/main" r:embed="rId4"/>
                </a:ext>
              </a:extLst>
            </a:blip>
            <a:stretch>
              <a:fillRect l="2" r="-118209" b="-123"/>
            </a:stretch>
          </a:blipFill>
        </p:spPr>
        <p:txBody>
          <a:bodyPr/>
          <a:lstStyle/>
          <a:p>
            <a:endParaRPr lang="en-US"/>
          </a:p>
        </p:txBody>
      </p:sp>
    </p:spTree>
    <p:extLst>
      <p:ext uri="{BB962C8B-B14F-4D97-AF65-F5344CB8AC3E}">
        <p14:creationId xmlns:p14="http://schemas.microsoft.com/office/powerpoint/2010/main" val="128355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078A92E3-35B3-2465-E983-4CE9988F8F13}"/>
              </a:ext>
            </a:extLst>
          </p:cNvPr>
          <p:cNvSpPr/>
          <p:nvPr/>
        </p:nvSpPr>
        <p:spPr>
          <a:xfrm>
            <a:off x="6086617" y="1702676"/>
            <a:ext cx="3057383" cy="3284094"/>
          </a:xfrm>
          <a:custGeom>
            <a:avLst/>
            <a:gdLst/>
            <a:ahLst/>
            <a:cxnLst/>
            <a:rect l="l" t="t" r="r" b="b"/>
            <a:pathLst>
              <a:path w="4185108" h="4558929">
                <a:moveTo>
                  <a:pt x="0" y="0"/>
                </a:moveTo>
                <a:lnTo>
                  <a:pt x="4185108" y="0"/>
                </a:lnTo>
                <a:lnTo>
                  <a:pt x="4185108" y="4558929"/>
                </a:lnTo>
                <a:lnTo>
                  <a:pt x="0" y="4558929"/>
                </a:lnTo>
                <a:lnTo>
                  <a:pt x="0" y="0"/>
                </a:lnTo>
                <a:close/>
              </a:path>
            </a:pathLst>
          </a:custGeom>
          <a:blipFill>
            <a:blip>
              <a:alphaModFix amt="50000"/>
              <a:extLst>
                <a:ext uri="{96DAC541-7B7A-43D3-8B79-37D633B846F1}">
                  <asvg:svgBlip xmlns:asvg="http://schemas.microsoft.com/office/drawing/2016/SVG/main" r:embed="rId4"/>
                </a:ext>
              </a:extLst>
            </a:blip>
            <a:stretch>
              <a:fillRect r="-8932"/>
            </a:stretch>
          </a:blipFill>
        </p:spPr>
        <p:txBody>
          <a:bodyPr/>
          <a:lstStyle/>
          <a:p>
            <a:endParaRPr lang="en-US" sz="675">
              <a:latin typeface="+mj-lt"/>
            </a:endParaRPr>
          </a:p>
        </p:txBody>
      </p:sp>
      <p:graphicFrame>
        <p:nvGraphicFramePr>
          <p:cNvPr id="7" name="Objekt 6" hidden="1">
            <a:extLst>
              <a:ext uri="{FF2B5EF4-FFF2-40B4-BE49-F238E27FC236}">
                <a16:creationId xmlns:a16="http://schemas.microsoft.com/office/drawing/2014/main" id="{DE1C4F8F-B086-4A45-9025-D16E8E3B505E}"/>
              </a:ext>
            </a:extLst>
          </p:cNvPr>
          <p:cNvGraphicFramePr>
            <a:graphicFrameLocks noChangeAspect="1"/>
          </p:cNvGraphicFramePr>
          <p:nvPr>
            <p:custDataLst>
              <p:tags r:id="rId1"/>
            </p:custDataLst>
            <p:extLst>
              <p:ext uri="{D42A27DB-BD31-4B8C-83A1-F6EECF244321}">
                <p14:modId xmlns:p14="http://schemas.microsoft.com/office/powerpoint/2010/main" val="2139301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9" imgH="360" progId="TCLayout.ActiveDocument.1">
                  <p:embed/>
                </p:oleObj>
              </mc:Choice>
              <mc:Fallback>
                <p:oleObj name="think-cell Slide" r:id="rId5" imgW="359" imgH="360" progId="TCLayout.ActiveDocument.1">
                  <p:embed/>
                  <p:pic>
                    <p:nvPicPr>
                      <p:cNvPr id="7" name="Objekt 6" hidden="1">
                        <a:extLst>
                          <a:ext uri="{FF2B5EF4-FFF2-40B4-BE49-F238E27FC236}">
                            <a16:creationId xmlns:a16="http://schemas.microsoft.com/office/drawing/2014/main" id="{DE1C4F8F-B086-4A45-9025-D16E8E3B505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187DB55D-044D-49B7-8667-F5068D59CA71}"/>
              </a:ext>
            </a:extLst>
          </p:cNvPr>
          <p:cNvSpPr>
            <a:spLocks noGrp="1"/>
          </p:cNvSpPr>
          <p:nvPr>
            <p:ph type="sldNum" sz="quarter" idx="11"/>
          </p:nvPr>
        </p:nvSpPr>
        <p:spPr/>
        <p:txBody>
          <a:bodyPr/>
          <a:lstStyle/>
          <a:p>
            <a:fld id="{C2245BC1-4D7B-4ED3-8F01-840FA35126C6}" type="slidenum">
              <a:rPr lang="en-US" smtClean="0">
                <a:latin typeface="+mj-lt"/>
              </a:rPr>
              <a:pPr/>
              <a:t>3</a:t>
            </a:fld>
            <a:endParaRPr lang="en-US">
              <a:latin typeface="+mj-lt"/>
            </a:endParaRPr>
          </a:p>
        </p:txBody>
      </p:sp>
      <p:sp>
        <p:nvSpPr>
          <p:cNvPr id="16" name="Footer Placeholder 15">
            <a:extLst>
              <a:ext uri="{FF2B5EF4-FFF2-40B4-BE49-F238E27FC236}">
                <a16:creationId xmlns:a16="http://schemas.microsoft.com/office/drawing/2014/main" id="{1D3AA9C9-169D-4C8C-B959-336025C593C0}"/>
              </a:ext>
            </a:extLst>
          </p:cNvPr>
          <p:cNvSpPr>
            <a:spLocks noGrp="1"/>
          </p:cNvSpPr>
          <p:nvPr>
            <p:ph type="ftr" sz="quarter" idx="10"/>
          </p:nvPr>
        </p:nvSpPr>
        <p:spPr/>
        <p:txBody>
          <a:bodyPr/>
          <a:lstStyle/>
          <a:p>
            <a:r>
              <a:rPr lang="en-US" dirty="0">
                <a:latin typeface="+mj-lt"/>
              </a:rPr>
              <a:t>DHL |  Agent Viper| Chennai India | 03 July 2026</a:t>
            </a:r>
          </a:p>
        </p:txBody>
      </p:sp>
      <p:sp>
        <p:nvSpPr>
          <p:cNvPr id="14" name="Freeform 13">
            <a:extLst>
              <a:ext uri="{FF2B5EF4-FFF2-40B4-BE49-F238E27FC236}">
                <a16:creationId xmlns:a16="http://schemas.microsoft.com/office/drawing/2014/main" id="{C8F5EF48-D67C-1D87-9BF0-FD8F9613EC08}"/>
              </a:ext>
            </a:extLst>
          </p:cNvPr>
          <p:cNvSpPr/>
          <p:nvPr/>
        </p:nvSpPr>
        <p:spPr>
          <a:xfrm>
            <a:off x="224121" y="425395"/>
            <a:ext cx="519139" cy="493950"/>
          </a:xfrm>
          <a:custGeom>
            <a:avLst/>
            <a:gdLst/>
            <a:ahLst/>
            <a:cxnLst/>
            <a:rect l="l" t="t" r="r" b="b"/>
            <a:pathLst>
              <a:path w="1612320" h="1547998">
                <a:moveTo>
                  <a:pt x="0" y="0"/>
                </a:moveTo>
                <a:lnTo>
                  <a:pt x="1612320" y="0"/>
                </a:lnTo>
                <a:lnTo>
                  <a:pt x="1612320" y="1547998"/>
                </a:lnTo>
                <a:lnTo>
                  <a:pt x="0" y="1547998"/>
                </a:lnTo>
                <a:lnTo>
                  <a:pt x="0" y="0"/>
                </a:lnTo>
                <a:close/>
              </a:path>
            </a:pathLst>
          </a:custGeom>
          <a:blipFill>
            <a:blip>
              <a:extLst>
                <a:ext uri="{96DAC541-7B7A-43D3-8B79-37D633B846F1}">
                  <asvg:svgBlip xmlns:asvg="http://schemas.microsoft.com/office/drawing/2016/SVG/main" r:embed="rId7"/>
                </a:ext>
              </a:extLst>
            </a:blip>
            <a:stretch>
              <a:fillRect l="2" r="-118209" b="-123"/>
            </a:stretch>
          </a:blipFill>
        </p:spPr>
        <p:txBody>
          <a:bodyPr/>
          <a:lstStyle/>
          <a:p>
            <a:endParaRPr lang="en-US">
              <a:latin typeface="+mj-lt"/>
            </a:endParaRPr>
          </a:p>
        </p:txBody>
      </p:sp>
      <p:sp>
        <p:nvSpPr>
          <p:cNvPr id="15" name="Title 1">
            <a:extLst>
              <a:ext uri="{FF2B5EF4-FFF2-40B4-BE49-F238E27FC236}">
                <a16:creationId xmlns:a16="http://schemas.microsoft.com/office/drawing/2014/main" id="{1D0FAA8A-7555-9D82-9AC3-66B26598B603}"/>
              </a:ext>
            </a:extLst>
          </p:cNvPr>
          <p:cNvSpPr>
            <a:spLocks noGrp="1"/>
          </p:cNvSpPr>
          <p:nvPr>
            <p:ph type="title"/>
          </p:nvPr>
        </p:nvSpPr>
        <p:spPr>
          <a:xfrm>
            <a:off x="796966" y="315272"/>
            <a:ext cx="8122913" cy="493950"/>
          </a:xfrm>
        </p:spPr>
        <p:txBody>
          <a:bodyPr/>
          <a:lstStyle/>
          <a:p>
            <a:r>
              <a:rPr lang="en-US" sz="1700" kern="0" spc="100" dirty="0">
                <a:solidFill>
                  <a:srgbClr val="D40511"/>
                </a:solidFill>
                <a:ea typeface="Delivery Cd Black" panose="020F0906020204020204" pitchFamily="34" charset="0"/>
                <a:cs typeface="Delivery Cd Black" panose="020F0906020204020204" pitchFamily="34" charset="0"/>
              </a:rPr>
              <a:t>ACCELERATING DELIVERY — INTELLIGENCE ON DAY ONE, NOT DAY THREE</a:t>
            </a:r>
          </a:p>
        </p:txBody>
      </p:sp>
      <p:sp>
        <p:nvSpPr>
          <p:cNvPr id="2" name="Text 2">
            <a:extLst>
              <a:ext uri="{FF2B5EF4-FFF2-40B4-BE49-F238E27FC236}">
                <a16:creationId xmlns:a16="http://schemas.microsoft.com/office/drawing/2014/main" id="{2A875393-DA01-0276-3BD7-F47DC7FA864F}"/>
              </a:ext>
            </a:extLst>
          </p:cNvPr>
          <p:cNvSpPr/>
          <p:nvPr/>
        </p:nvSpPr>
        <p:spPr>
          <a:xfrm>
            <a:off x="697605" y="919345"/>
            <a:ext cx="8595360" cy="256032"/>
          </a:xfrm>
          <a:prstGeom prst="rect">
            <a:avLst/>
          </a:prstGeom>
          <a:noFill/>
          <a:ln/>
        </p:spPr>
        <p:txBody>
          <a:bodyPr wrap="square" lIns="0" tIns="0" rIns="0" bIns="0" rtlCol="0" anchor="ctr"/>
          <a:lstStyle/>
          <a:p>
            <a:pPr marL="0" indent="0">
              <a:buNone/>
            </a:pPr>
            <a:r>
              <a:rPr lang="en-US" sz="1050" i="1" dirty="0">
                <a:solidFill>
                  <a:srgbClr val="666666"/>
                </a:solidFill>
                <a:latin typeface="+mj-lt"/>
                <a:ea typeface="Arial" pitchFamily="34" charset="-122"/>
                <a:cs typeface="Arial" pitchFamily="34" charset="-120"/>
              </a:rPr>
              <a:t>Increased Scope Coverage — structured intelligence delivered on day one, not day three.</a:t>
            </a:r>
            <a:endParaRPr lang="en-US" sz="1050" dirty="0">
              <a:latin typeface="+mj-lt"/>
            </a:endParaRPr>
          </a:p>
        </p:txBody>
      </p:sp>
      <p:sp>
        <p:nvSpPr>
          <p:cNvPr id="10" name="Text 3">
            <a:extLst>
              <a:ext uri="{FF2B5EF4-FFF2-40B4-BE49-F238E27FC236}">
                <a16:creationId xmlns:a16="http://schemas.microsoft.com/office/drawing/2014/main" id="{A33FC704-69B6-E6AC-8A56-D6032BAE3250}"/>
              </a:ext>
            </a:extLst>
          </p:cNvPr>
          <p:cNvSpPr/>
          <p:nvPr/>
        </p:nvSpPr>
        <p:spPr>
          <a:xfrm>
            <a:off x="274320" y="1417320"/>
            <a:ext cx="2743200" cy="228600"/>
          </a:xfrm>
          <a:prstGeom prst="rect">
            <a:avLst/>
          </a:prstGeom>
          <a:noFill/>
          <a:ln/>
        </p:spPr>
        <p:txBody>
          <a:bodyPr wrap="square" lIns="0" tIns="0" rIns="0" bIns="0" rtlCol="0" anchor="ctr"/>
          <a:lstStyle/>
          <a:p>
            <a:pPr marL="0" indent="0">
              <a:buNone/>
            </a:pPr>
            <a:r>
              <a:rPr lang="en-US" sz="900" b="1" kern="0" spc="200" dirty="0">
                <a:solidFill>
                  <a:srgbClr val="8C8C8C"/>
                </a:solidFill>
                <a:latin typeface="+mj-lt"/>
                <a:ea typeface="Arial" pitchFamily="34" charset="-122"/>
                <a:cs typeface="Arial" pitchFamily="34" charset="-120"/>
              </a:rPr>
              <a:t>CURRENT WORKFLOW</a:t>
            </a:r>
            <a:endParaRPr lang="en-US" sz="900" dirty="0">
              <a:latin typeface="+mj-lt"/>
            </a:endParaRPr>
          </a:p>
        </p:txBody>
      </p:sp>
      <p:sp>
        <p:nvSpPr>
          <p:cNvPr id="11" name="Shape 4">
            <a:extLst>
              <a:ext uri="{FF2B5EF4-FFF2-40B4-BE49-F238E27FC236}">
                <a16:creationId xmlns:a16="http://schemas.microsoft.com/office/drawing/2014/main" id="{A62AD2EA-2280-F236-5D95-7BCAD88953C4}"/>
              </a:ext>
            </a:extLst>
          </p:cNvPr>
          <p:cNvSpPr/>
          <p:nvPr/>
        </p:nvSpPr>
        <p:spPr>
          <a:xfrm>
            <a:off x="274320" y="1691640"/>
            <a:ext cx="1508760" cy="658368"/>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13" name="Text 5">
            <a:extLst>
              <a:ext uri="{FF2B5EF4-FFF2-40B4-BE49-F238E27FC236}">
                <a16:creationId xmlns:a16="http://schemas.microsoft.com/office/drawing/2014/main" id="{E65BABCD-B24A-CADC-422F-FBA1F0B22EA4}"/>
              </a:ext>
            </a:extLst>
          </p:cNvPr>
          <p:cNvSpPr/>
          <p:nvPr/>
        </p:nvSpPr>
        <p:spPr>
          <a:xfrm>
            <a:off x="347472" y="1719072"/>
            <a:ext cx="1362456"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Requestor raises</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request</a:t>
            </a:r>
            <a:endParaRPr lang="en-US" sz="850" dirty="0">
              <a:latin typeface="+mj-lt"/>
            </a:endParaRPr>
          </a:p>
        </p:txBody>
      </p:sp>
      <p:sp>
        <p:nvSpPr>
          <p:cNvPr id="17" name="Text 6">
            <a:extLst>
              <a:ext uri="{FF2B5EF4-FFF2-40B4-BE49-F238E27FC236}">
                <a16:creationId xmlns:a16="http://schemas.microsoft.com/office/drawing/2014/main" id="{8587E19B-46CA-9A35-F08A-D79DF9D98D8A}"/>
              </a:ext>
            </a:extLst>
          </p:cNvPr>
          <p:cNvSpPr/>
          <p:nvPr/>
        </p:nvSpPr>
        <p:spPr>
          <a:xfrm>
            <a:off x="347472" y="2103120"/>
            <a:ext cx="1362456" cy="201168"/>
          </a:xfrm>
          <a:prstGeom prst="rect">
            <a:avLst/>
          </a:prstGeom>
          <a:noFill/>
          <a:ln/>
        </p:spPr>
        <p:txBody>
          <a:bodyPr wrap="square" lIns="0" tIns="0" rIns="0" bIns="0" rtlCol="0" anchor="ctr"/>
          <a:lstStyle/>
          <a:p>
            <a:pPr marL="0" indent="0" algn="ctr">
              <a:buNone/>
            </a:pPr>
            <a:r>
              <a:rPr lang="en-US" sz="700" dirty="0">
                <a:solidFill>
                  <a:srgbClr val="666666"/>
                </a:solidFill>
                <a:latin typeface="+mj-lt"/>
                <a:ea typeface="Arial" pitchFamily="34" charset="-122"/>
                <a:cs typeface="Arial" pitchFamily="34" charset="-120"/>
              </a:rPr>
              <a:t>In ReqIT</a:t>
            </a:r>
            <a:endParaRPr lang="en-US" sz="700" dirty="0">
              <a:latin typeface="+mj-lt"/>
            </a:endParaRPr>
          </a:p>
        </p:txBody>
      </p:sp>
      <p:pic>
        <p:nvPicPr>
          <p:cNvPr id="18" name="Image 0" descr="preencoded.png">
            <a:extLst>
              <a:ext uri="{FF2B5EF4-FFF2-40B4-BE49-F238E27FC236}">
                <a16:creationId xmlns:a16="http://schemas.microsoft.com/office/drawing/2014/main" id="{5F5DA783-6969-18AC-B7BE-C40792ED8B7D}"/>
              </a:ext>
            </a:extLst>
          </p:cNvPr>
          <p:cNvPicPr>
            <a:picLocks noChangeAspect="1"/>
          </p:cNvPicPr>
          <p:nvPr/>
        </p:nvPicPr>
        <p:blipFill>
          <a:blip r:embed="rId8"/>
          <a:stretch>
            <a:fillRect/>
          </a:stretch>
        </p:blipFill>
        <p:spPr>
          <a:xfrm>
            <a:off x="1792224" y="1901952"/>
            <a:ext cx="91440" cy="91440"/>
          </a:xfrm>
          <a:prstGeom prst="rect">
            <a:avLst/>
          </a:prstGeom>
        </p:spPr>
      </p:pic>
      <p:sp>
        <p:nvSpPr>
          <p:cNvPr id="19" name="Shape 7">
            <a:extLst>
              <a:ext uri="{FF2B5EF4-FFF2-40B4-BE49-F238E27FC236}">
                <a16:creationId xmlns:a16="http://schemas.microsoft.com/office/drawing/2014/main" id="{23C9DE3C-4150-42DC-D18B-9A3A2D87D64F}"/>
              </a:ext>
            </a:extLst>
          </p:cNvPr>
          <p:cNvSpPr/>
          <p:nvPr/>
        </p:nvSpPr>
        <p:spPr>
          <a:xfrm>
            <a:off x="1892808" y="1691640"/>
            <a:ext cx="1508760" cy="658368"/>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20" name="Text 8">
            <a:extLst>
              <a:ext uri="{FF2B5EF4-FFF2-40B4-BE49-F238E27FC236}">
                <a16:creationId xmlns:a16="http://schemas.microsoft.com/office/drawing/2014/main" id="{37662964-B507-79A8-314E-205172C2F1A0}"/>
              </a:ext>
            </a:extLst>
          </p:cNvPr>
          <p:cNvSpPr/>
          <p:nvPr/>
        </p:nvSpPr>
        <p:spPr>
          <a:xfrm>
            <a:off x="1965960" y="1719072"/>
            <a:ext cx="1362456"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QC performs</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validation</a:t>
            </a:r>
            <a:endParaRPr lang="en-US" sz="850" dirty="0">
              <a:latin typeface="+mj-lt"/>
            </a:endParaRPr>
          </a:p>
        </p:txBody>
      </p:sp>
      <p:sp>
        <p:nvSpPr>
          <p:cNvPr id="21" name="Text 9">
            <a:extLst>
              <a:ext uri="{FF2B5EF4-FFF2-40B4-BE49-F238E27FC236}">
                <a16:creationId xmlns:a16="http://schemas.microsoft.com/office/drawing/2014/main" id="{152BBB11-584B-9459-F56B-9C80C69AB41A}"/>
              </a:ext>
            </a:extLst>
          </p:cNvPr>
          <p:cNvSpPr/>
          <p:nvPr/>
        </p:nvSpPr>
        <p:spPr>
          <a:xfrm>
            <a:off x="1965960" y="2103120"/>
            <a:ext cx="1362456" cy="201168"/>
          </a:xfrm>
          <a:prstGeom prst="rect">
            <a:avLst/>
          </a:prstGeom>
          <a:noFill/>
          <a:ln/>
        </p:spPr>
        <p:txBody>
          <a:bodyPr wrap="square" lIns="0" tIns="0" rIns="0" bIns="0" rtlCol="0" anchor="ctr"/>
          <a:lstStyle/>
          <a:p>
            <a:pPr marL="0" indent="0" algn="ctr">
              <a:buNone/>
            </a:pPr>
            <a:r>
              <a:rPr lang="en-US" sz="700" dirty="0">
                <a:solidFill>
                  <a:srgbClr val="666666"/>
                </a:solidFill>
                <a:latin typeface="+mj-lt"/>
                <a:ea typeface="Arial" pitchFamily="34" charset="-122"/>
                <a:cs typeface="Arial" pitchFamily="34" charset="-120"/>
              </a:rPr>
              <a:t>QC + creds</a:t>
            </a:r>
            <a:endParaRPr lang="en-US" sz="700" dirty="0">
              <a:latin typeface="+mj-lt"/>
            </a:endParaRPr>
          </a:p>
        </p:txBody>
      </p:sp>
      <p:pic>
        <p:nvPicPr>
          <p:cNvPr id="22" name="Image 1" descr="preencoded.png">
            <a:extLst>
              <a:ext uri="{FF2B5EF4-FFF2-40B4-BE49-F238E27FC236}">
                <a16:creationId xmlns:a16="http://schemas.microsoft.com/office/drawing/2014/main" id="{C5FB0F98-8D1B-C503-73AF-EDDDFED99347}"/>
              </a:ext>
            </a:extLst>
          </p:cNvPr>
          <p:cNvPicPr>
            <a:picLocks noChangeAspect="1"/>
          </p:cNvPicPr>
          <p:nvPr/>
        </p:nvPicPr>
        <p:blipFill>
          <a:blip r:embed="rId8"/>
          <a:stretch>
            <a:fillRect/>
          </a:stretch>
        </p:blipFill>
        <p:spPr>
          <a:xfrm>
            <a:off x="3410712" y="1901952"/>
            <a:ext cx="91440" cy="91440"/>
          </a:xfrm>
          <a:prstGeom prst="rect">
            <a:avLst/>
          </a:prstGeom>
        </p:spPr>
      </p:pic>
      <p:sp>
        <p:nvSpPr>
          <p:cNvPr id="23" name="Shape 10">
            <a:extLst>
              <a:ext uri="{FF2B5EF4-FFF2-40B4-BE49-F238E27FC236}">
                <a16:creationId xmlns:a16="http://schemas.microsoft.com/office/drawing/2014/main" id="{AF012712-4F52-0A24-358F-82A7EF44341F}"/>
              </a:ext>
            </a:extLst>
          </p:cNvPr>
          <p:cNvSpPr/>
          <p:nvPr/>
        </p:nvSpPr>
        <p:spPr>
          <a:xfrm>
            <a:off x="3511296" y="1691640"/>
            <a:ext cx="1316736" cy="667512"/>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24" name="Text 11">
            <a:extLst>
              <a:ext uri="{FF2B5EF4-FFF2-40B4-BE49-F238E27FC236}">
                <a16:creationId xmlns:a16="http://schemas.microsoft.com/office/drawing/2014/main" id="{C798FF94-730C-1405-FB8E-B305D327F5CB}"/>
              </a:ext>
            </a:extLst>
          </p:cNvPr>
          <p:cNvSpPr/>
          <p:nvPr/>
        </p:nvSpPr>
        <p:spPr>
          <a:xfrm>
            <a:off x="3584448" y="1719072"/>
            <a:ext cx="1362456"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QC assign</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PT case</a:t>
            </a:r>
            <a:endParaRPr lang="en-US" sz="850" dirty="0">
              <a:latin typeface="+mj-lt"/>
            </a:endParaRPr>
          </a:p>
        </p:txBody>
      </p:sp>
      <p:sp>
        <p:nvSpPr>
          <p:cNvPr id="25" name="Text 12">
            <a:extLst>
              <a:ext uri="{FF2B5EF4-FFF2-40B4-BE49-F238E27FC236}">
                <a16:creationId xmlns:a16="http://schemas.microsoft.com/office/drawing/2014/main" id="{0731D74B-6CF8-8C37-3B7D-A1BFCFDB4E32}"/>
              </a:ext>
            </a:extLst>
          </p:cNvPr>
          <p:cNvSpPr/>
          <p:nvPr/>
        </p:nvSpPr>
        <p:spPr>
          <a:xfrm>
            <a:off x="3584448" y="2103120"/>
            <a:ext cx="1362456" cy="201168"/>
          </a:xfrm>
          <a:prstGeom prst="rect">
            <a:avLst/>
          </a:prstGeom>
          <a:noFill/>
          <a:ln/>
        </p:spPr>
        <p:txBody>
          <a:bodyPr wrap="square" lIns="0" tIns="0" rIns="0" bIns="0" rtlCol="0" anchor="ctr"/>
          <a:lstStyle/>
          <a:p>
            <a:pPr marL="0" indent="0" algn="ctr">
              <a:buNone/>
            </a:pPr>
            <a:r>
              <a:rPr lang="en-US" sz="700" dirty="0">
                <a:solidFill>
                  <a:srgbClr val="666666"/>
                </a:solidFill>
                <a:latin typeface="+mj-lt"/>
                <a:ea typeface="Arial" pitchFamily="34" charset="-122"/>
                <a:cs typeface="Arial" pitchFamily="34" charset="-120"/>
              </a:rPr>
              <a:t>Scheduled</a:t>
            </a:r>
            <a:endParaRPr lang="en-US" sz="700" dirty="0">
              <a:latin typeface="+mj-lt"/>
            </a:endParaRPr>
          </a:p>
        </p:txBody>
      </p:sp>
      <p:pic>
        <p:nvPicPr>
          <p:cNvPr id="26" name="Image 2" descr="preencoded.png">
            <a:extLst>
              <a:ext uri="{FF2B5EF4-FFF2-40B4-BE49-F238E27FC236}">
                <a16:creationId xmlns:a16="http://schemas.microsoft.com/office/drawing/2014/main" id="{9309D034-7850-3B58-CA29-234CC00308E4}"/>
              </a:ext>
            </a:extLst>
          </p:cNvPr>
          <p:cNvPicPr>
            <a:picLocks noChangeAspect="1"/>
          </p:cNvPicPr>
          <p:nvPr/>
        </p:nvPicPr>
        <p:blipFill>
          <a:blip r:embed="rId8"/>
          <a:stretch>
            <a:fillRect/>
          </a:stretch>
        </p:blipFill>
        <p:spPr>
          <a:xfrm>
            <a:off x="4921757" y="1924812"/>
            <a:ext cx="91440" cy="91440"/>
          </a:xfrm>
          <a:prstGeom prst="rect">
            <a:avLst/>
          </a:prstGeom>
        </p:spPr>
      </p:pic>
      <p:sp>
        <p:nvSpPr>
          <p:cNvPr id="27" name="Shape 13">
            <a:extLst>
              <a:ext uri="{FF2B5EF4-FFF2-40B4-BE49-F238E27FC236}">
                <a16:creationId xmlns:a16="http://schemas.microsoft.com/office/drawing/2014/main" id="{8469494D-030B-852B-28F2-99F10AD5E921}"/>
              </a:ext>
            </a:extLst>
          </p:cNvPr>
          <p:cNvSpPr/>
          <p:nvPr/>
        </p:nvSpPr>
        <p:spPr>
          <a:xfrm>
            <a:off x="5045202" y="1709931"/>
            <a:ext cx="1266444" cy="612643"/>
          </a:xfrm>
          <a:prstGeom prst="rect">
            <a:avLst/>
          </a:prstGeom>
          <a:solidFill>
            <a:srgbClr val="F2F2F2"/>
          </a:solidFill>
          <a:ln w="6350">
            <a:solidFill>
              <a:srgbClr val="E5E5E5"/>
            </a:solidFill>
            <a:prstDash val="solid"/>
          </a:ln>
        </p:spPr>
        <p:txBody>
          <a:bodyPr/>
          <a:lstStyle/>
          <a:p>
            <a:endParaRPr lang="en-US" dirty="0">
              <a:latin typeface="+mj-lt"/>
            </a:endParaRPr>
          </a:p>
        </p:txBody>
      </p:sp>
      <p:sp>
        <p:nvSpPr>
          <p:cNvPr id="28" name="Text 14">
            <a:extLst>
              <a:ext uri="{FF2B5EF4-FFF2-40B4-BE49-F238E27FC236}">
                <a16:creationId xmlns:a16="http://schemas.microsoft.com/office/drawing/2014/main" id="{B57C3DB1-8FF3-4A69-4870-75F981FEBD9A}"/>
              </a:ext>
            </a:extLst>
          </p:cNvPr>
          <p:cNvSpPr/>
          <p:nvPr/>
        </p:nvSpPr>
        <p:spPr>
          <a:xfrm>
            <a:off x="5095494" y="1740408"/>
            <a:ext cx="1362456"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Pentest</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perform </a:t>
            </a:r>
            <a:endParaRPr lang="en-US" sz="850" dirty="0">
              <a:latin typeface="+mj-lt"/>
            </a:endParaRPr>
          </a:p>
        </p:txBody>
      </p:sp>
      <p:sp>
        <p:nvSpPr>
          <p:cNvPr id="29" name="Text 15">
            <a:extLst>
              <a:ext uri="{FF2B5EF4-FFF2-40B4-BE49-F238E27FC236}">
                <a16:creationId xmlns:a16="http://schemas.microsoft.com/office/drawing/2014/main" id="{442B9F1A-B833-13C6-C4E1-C9C76575C6FA}"/>
              </a:ext>
            </a:extLst>
          </p:cNvPr>
          <p:cNvSpPr/>
          <p:nvPr/>
        </p:nvSpPr>
        <p:spPr>
          <a:xfrm>
            <a:off x="5118352" y="2087876"/>
            <a:ext cx="1362456" cy="201168"/>
          </a:xfrm>
          <a:prstGeom prst="rect">
            <a:avLst/>
          </a:prstGeom>
          <a:noFill/>
          <a:ln/>
        </p:spPr>
        <p:txBody>
          <a:bodyPr wrap="square" lIns="0" tIns="0" rIns="0" bIns="0" rtlCol="0" anchor="ctr"/>
          <a:lstStyle/>
          <a:p>
            <a:pPr marL="0" indent="0" algn="ctr">
              <a:buNone/>
            </a:pPr>
            <a:r>
              <a:rPr lang="en-US" sz="700" dirty="0">
                <a:solidFill>
                  <a:srgbClr val="666666"/>
                </a:solidFill>
                <a:latin typeface="+mj-lt"/>
                <a:ea typeface="Arial" pitchFamily="34" charset="-122"/>
                <a:cs typeface="Arial" pitchFamily="34" charset="-120"/>
              </a:rPr>
              <a:t>Starts on date</a:t>
            </a:r>
            <a:endParaRPr lang="en-US" sz="700" dirty="0">
              <a:latin typeface="+mj-lt"/>
            </a:endParaRPr>
          </a:p>
        </p:txBody>
      </p:sp>
      <p:pic>
        <p:nvPicPr>
          <p:cNvPr id="30" name="Image 3" descr="preencoded.png">
            <a:extLst>
              <a:ext uri="{FF2B5EF4-FFF2-40B4-BE49-F238E27FC236}">
                <a16:creationId xmlns:a16="http://schemas.microsoft.com/office/drawing/2014/main" id="{075AC90E-5EAD-8EED-7E2D-8AF57EBCF09A}"/>
              </a:ext>
            </a:extLst>
          </p:cNvPr>
          <p:cNvPicPr>
            <a:picLocks noChangeAspect="1"/>
          </p:cNvPicPr>
          <p:nvPr/>
        </p:nvPicPr>
        <p:blipFill>
          <a:blip r:embed="rId8"/>
          <a:stretch>
            <a:fillRect/>
          </a:stretch>
        </p:blipFill>
        <p:spPr>
          <a:xfrm>
            <a:off x="6367272" y="1886709"/>
            <a:ext cx="100579" cy="100579"/>
          </a:xfrm>
          <a:prstGeom prst="rect">
            <a:avLst/>
          </a:prstGeom>
        </p:spPr>
      </p:pic>
      <p:sp>
        <p:nvSpPr>
          <p:cNvPr id="31" name="Shape 16">
            <a:extLst>
              <a:ext uri="{FF2B5EF4-FFF2-40B4-BE49-F238E27FC236}">
                <a16:creationId xmlns:a16="http://schemas.microsoft.com/office/drawing/2014/main" id="{30B7E782-68B6-2E73-7D0F-9D0513687DF5}"/>
              </a:ext>
            </a:extLst>
          </p:cNvPr>
          <p:cNvSpPr/>
          <p:nvPr/>
        </p:nvSpPr>
        <p:spPr>
          <a:xfrm>
            <a:off x="7854695" y="1714504"/>
            <a:ext cx="1109471" cy="574540"/>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32" name="Text 17">
            <a:extLst>
              <a:ext uri="{FF2B5EF4-FFF2-40B4-BE49-F238E27FC236}">
                <a16:creationId xmlns:a16="http://schemas.microsoft.com/office/drawing/2014/main" id="{23532912-DE7D-ED01-EEF4-61C8698E8440}"/>
              </a:ext>
            </a:extLst>
          </p:cNvPr>
          <p:cNvSpPr/>
          <p:nvPr/>
        </p:nvSpPr>
        <p:spPr>
          <a:xfrm>
            <a:off x="7877553" y="1740408"/>
            <a:ext cx="1086614"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Report</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Delivery</a:t>
            </a:r>
            <a:endParaRPr lang="en-US" sz="850" dirty="0">
              <a:latin typeface="+mj-lt"/>
            </a:endParaRPr>
          </a:p>
        </p:txBody>
      </p:sp>
      <p:sp>
        <p:nvSpPr>
          <p:cNvPr id="33" name="Shape 18">
            <a:extLst>
              <a:ext uri="{FF2B5EF4-FFF2-40B4-BE49-F238E27FC236}">
                <a16:creationId xmlns:a16="http://schemas.microsoft.com/office/drawing/2014/main" id="{BA939745-6FFA-C678-F5D7-8212F3103E35}"/>
              </a:ext>
            </a:extLst>
          </p:cNvPr>
          <p:cNvSpPr/>
          <p:nvPr/>
        </p:nvSpPr>
        <p:spPr>
          <a:xfrm>
            <a:off x="274320" y="2450592"/>
            <a:ext cx="8321040" cy="0"/>
          </a:xfrm>
          <a:prstGeom prst="line">
            <a:avLst/>
          </a:prstGeom>
          <a:noFill/>
          <a:ln w="6350">
            <a:solidFill>
              <a:srgbClr val="8C8C8C"/>
            </a:solidFill>
            <a:prstDash val="dash"/>
          </a:ln>
        </p:spPr>
        <p:txBody>
          <a:bodyPr/>
          <a:lstStyle/>
          <a:p>
            <a:endParaRPr lang="en-US">
              <a:latin typeface="+mj-lt"/>
            </a:endParaRPr>
          </a:p>
        </p:txBody>
      </p:sp>
      <p:sp>
        <p:nvSpPr>
          <p:cNvPr id="34" name="Text 19">
            <a:extLst>
              <a:ext uri="{FF2B5EF4-FFF2-40B4-BE49-F238E27FC236}">
                <a16:creationId xmlns:a16="http://schemas.microsoft.com/office/drawing/2014/main" id="{A6FD71F1-ED1D-1A65-0550-8460A831A62F}"/>
              </a:ext>
            </a:extLst>
          </p:cNvPr>
          <p:cNvSpPr/>
          <p:nvPr/>
        </p:nvSpPr>
        <p:spPr>
          <a:xfrm>
            <a:off x="274320" y="2450592"/>
            <a:ext cx="457200" cy="201168"/>
          </a:xfrm>
          <a:prstGeom prst="rect">
            <a:avLst/>
          </a:prstGeom>
          <a:noFill/>
          <a:ln/>
        </p:spPr>
        <p:txBody>
          <a:bodyPr wrap="square" lIns="0" tIns="0" rIns="0" bIns="0" rtlCol="0" anchor="ctr"/>
          <a:lstStyle/>
          <a:p>
            <a:pPr marL="0" indent="0">
              <a:buNone/>
            </a:pPr>
            <a:r>
              <a:rPr lang="en-US" sz="750" dirty="0">
                <a:solidFill>
                  <a:srgbClr val="666666"/>
                </a:solidFill>
                <a:latin typeface="+mj-lt"/>
                <a:ea typeface="Arial" pitchFamily="34" charset="-122"/>
                <a:cs typeface="Arial" pitchFamily="34" charset="-120"/>
              </a:rPr>
              <a:t>N+0</a:t>
            </a:r>
            <a:endParaRPr lang="en-US" sz="750" dirty="0">
              <a:latin typeface="+mj-lt"/>
            </a:endParaRPr>
          </a:p>
        </p:txBody>
      </p:sp>
      <p:sp>
        <p:nvSpPr>
          <p:cNvPr id="35" name="Shape 20">
            <a:extLst>
              <a:ext uri="{FF2B5EF4-FFF2-40B4-BE49-F238E27FC236}">
                <a16:creationId xmlns:a16="http://schemas.microsoft.com/office/drawing/2014/main" id="{392C69FA-CC01-24CC-2817-A82F2C48083D}"/>
              </a:ext>
            </a:extLst>
          </p:cNvPr>
          <p:cNvSpPr/>
          <p:nvPr/>
        </p:nvSpPr>
        <p:spPr>
          <a:xfrm>
            <a:off x="5029200" y="2450592"/>
            <a:ext cx="1828800" cy="201168"/>
          </a:xfrm>
          <a:prstGeom prst="rect">
            <a:avLst/>
          </a:prstGeom>
          <a:solidFill>
            <a:srgbClr val="D40511"/>
          </a:solidFill>
          <a:ln w="12700">
            <a:solidFill>
              <a:srgbClr val="D40511"/>
            </a:solidFill>
            <a:prstDash val="solid"/>
          </a:ln>
        </p:spPr>
        <p:txBody>
          <a:bodyPr/>
          <a:lstStyle/>
          <a:p>
            <a:endParaRPr lang="en-US">
              <a:latin typeface="+mj-lt"/>
            </a:endParaRPr>
          </a:p>
        </p:txBody>
      </p:sp>
      <p:sp>
        <p:nvSpPr>
          <p:cNvPr id="36" name="Text 21">
            <a:extLst>
              <a:ext uri="{FF2B5EF4-FFF2-40B4-BE49-F238E27FC236}">
                <a16:creationId xmlns:a16="http://schemas.microsoft.com/office/drawing/2014/main" id="{B6B5750F-5608-63B8-F9F4-9E4AD9D96557}"/>
              </a:ext>
            </a:extLst>
          </p:cNvPr>
          <p:cNvSpPr/>
          <p:nvPr/>
        </p:nvSpPr>
        <p:spPr>
          <a:xfrm>
            <a:off x="5029200" y="2450592"/>
            <a:ext cx="182880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mj-lt"/>
                <a:ea typeface="Arial" pitchFamily="34" charset="-122"/>
                <a:cs typeface="Arial" pitchFamily="34" charset="-120"/>
              </a:rPr>
              <a:t>5.5 to 6 days</a:t>
            </a:r>
            <a:endParaRPr lang="en-US" sz="800" dirty="0">
              <a:latin typeface="+mj-lt"/>
            </a:endParaRPr>
          </a:p>
        </p:txBody>
      </p:sp>
      <p:sp>
        <p:nvSpPr>
          <p:cNvPr id="37" name="Text 22">
            <a:extLst>
              <a:ext uri="{FF2B5EF4-FFF2-40B4-BE49-F238E27FC236}">
                <a16:creationId xmlns:a16="http://schemas.microsoft.com/office/drawing/2014/main" id="{B4B4A57E-D764-381C-E4B4-B880859D8207}"/>
              </a:ext>
            </a:extLst>
          </p:cNvPr>
          <p:cNvSpPr/>
          <p:nvPr/>
        </p:nvSpPr>
        <p:spPr>
          <a:xfrm>
            <a:off x="7955280" y="2450592"/>
            <a:ext cx="685800" cy="201168"/>
          </a:xfrm>
          <a:prstGeom prst="rect">
            <a:avLst/>
          </a:prstGeom>
          <a:noFill/>
          <a:ln/>
        </p:spPr>
        <p:txBody>
          <a:bodyPr wrap="square" lIns="0" tIns="0" rIns="0" bIns="0" rtlCol="0" anchor="ctr"/>
          <a:lstStyle/>
          <a:p>
            <a:pPr marL="0" indent="0">
              <a:buNone/>
            </a:pPr>
            <a:r>
              <a:rPr lang="en-US" sz="750" b="1" dirty="0">
                <a:solidFill>
                  <a:srgbClr val="D40511"/>
                </a:solidFill>
                <a:latin typeface="+mj-lt"/>
                <a:ea typeface="Arial" pitchFamily="34" charset="-122"/>
                <a:cs typeface="Arial" pitchFamily="34" charset="-120"/>
              </a:rPr>
              <a:t>N+6 Days</a:t>
            </a:r>
            <a:endParaRPr lang="en-US" sz="750" dirty="0">
              <a:latin typeface="+mj-lt"/>
            </a:endParaRPr>
          </a:p>
        </p:txBody>
      </p:sp>
      <p:sp>
        <p:nvSpPr>
          <p:cNvPr id="38" name="Text 23">
            <a:extLst>
              <a:ext uri="{FF2B5EF4-FFF2-40B4-BE49-F238E27FC236}">
                <a16:creationId xmlns:a16="http://schemas.microsoft.com/office/drawing/2014/main" id="{02999E71-36F7-2607-5E74-936F444C48E6}"/>
              </a:ext>
            </a:extLst>
          </p:cNvPr>
          <p:cNvSpPr/>
          <p:nvPr/>
        </p:nvSpPr>
        <p:spPr>
          <a:xfrm>
            <a:off x="274320" y="2788920"/>
            <a:ext cx="2743200" cy="228600"/>
          </a:xfrm>
          <a:prstGeom prst="rect">
            <a:avLst/>
          </a:prstGeom>
          <a:noFill/>
          <a:ln/>
        </p:spPr>
        <p:txBody>
          <a:bodyPr wrap="square" lIns="0" tIns="0" rIns="0" bIns="0" rtlCol="0" anchor="ctr"/>
          <a:lstStyle/>
          <a:p>
            <a:pPr marL="0" indent="0">
              <a:buNone/>
            </a:pPr>
            <a:r>
              <a:rPr lang="en-US" sz="900" b="1" kern="0" spc="200" dirty="0">
                <a:solidFill>
                  <a:srgbClr val="007C39"/>
                </a:solidFill>
                <a:latin typeface="+mj-lt"/>
                <a:ea typeface="Arial" pitchFamily="34" charset="-122"/>
                <a:cs typeface="Arial" pitchFamily="34" charset="-120"/>
              </a:rPr>
              <a:t>AGENT WORKSTREAM</a:t>
            </a:r>
            <a:endParaRPr lang="en-US" sz="900" dirty="0">
              <a:latin typeface="+mj-lt"/>
            </a:endParaRPr>
          </a:p>
        </p:txBody>
      </p:sp>
      <p:sp>
        <p:nvSpPr>
          <p:cNvPr id="39" name="Shape 24">
            <a:extLst>
              <a:ext uri="{FF2B5EF4-FFF2-40B4-BE49-F238E27FC236}">
                <a16:creationId xmlns:a16="http://schemas.microsoft.com/office/drawing/2014/main" id="{52C3428A-74BC-9FED-D669-EA081843EB9A}"/>
              </a:ext>
            </a:extLst>
          </p:cNvPr>
          <p:cNvSpPr/>
          <p:nvPr/>
        </p:nvSpPr>
        <p:spPr>
          <a:xfrm>
            <a:off x="274320" y="3063240"/>
            <a:ext cx="1261872" cy="658368"/>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40" name="Text 25">
            <a:extLst>
              <a:ext uri="{FF2B5EF4-FFF2-40B4-BE49-F238E27FC236}">
                <a16:creationId xmlns:a16="http://schemas.microsoft.com/office/drawing/2014/main" id="{F138812D-67C8-76D9-D930-F63896671776}"/>
              </a:ext>
            </a:extLst>
          </p:cNvPr>
          <p:cNvSpPr/>
          <p:nvPr/>
        </p:nvSpPr>
        <p:spPr>
          <a:xfrm>
            <a:off x="329184" y="3090672"/>
            <a:ext cx="1152144" cy="384048"/>
          </a:xfrm>
          <a:prstGeom prst="rect">
            <a:avLst/>
          </a:prstGeom>
          <a:noFill/>
          <a:ln/>
        </p:spPr>
        <p:txBody>
          <a:bodyPr wrap="square" lIns="0" tIns="0" rIns="0" bIns="0" rtlCol="0" anchor="ctr"/>
          <a:lstStyle/>
          <a:p>
            <a:pPr algn="ctr"/>
            <a:r>
              <a:rPr lang="en-US" sz="850" b="1" dirty="0">
                <a:solidFill>
                  <a:srgbClr val="333333"/>
                </a:solidFill>
                <a:latin typeface="+mj-lt"/>
                <a:cs typeface="Arial" pitchFamily="34" charset="-120"/>
              </a:rPr>
              <a:t>Requestor raises</a:t>
            </a:r>
          </a:p>
          <a:p>
            <a:pPr algn="ctr"/>
            <a:r>
              <a:rPr lang="en-US" sz="850" b="1" dirty="0">
                <a:solidFill>
                  <a:srgbClr val="333333"/>
                </a:solidFill>
                <a:latin typeface="+mj-lt"/>
                <a:cs typeface="Arial" pitchFamily="34" charset="-120"/>
              </a:rPr>
              <a:t>request</a:t>
            </a:r>
          </a:p>
        </p:txBody>
      </p:sp>
      <p:sp>
        <p:nvSpPr>
          <p:cNvPr id="41" name="Text 26">
            <a:extLst>
              <a:ext uri="{FF2B5EF4-FFF2-40B4-BE49-F238E27FC236}">
                <a16:creationId xmlns:a16="http://schemas.microsoft.com/office/drawing/2014/main" id="{748C3CFD-3D1D-8ABF-E4AB-743DA3D29B78}"/>
              </a:ext>
            </a:extLst>
          </p:cNvPr>
          <p:cNvSpPr/>
          <p:nvPr/>
        </p:nvSpPr>
        <p:spPr>
          <a:xfrm>
            <a:off x="329184" y="3474720"/>
            <a:ext cx="1152144" cy="201168"/>
          </a:xfrm>
          <a:prstGeom prst="rect">
            <a:avLst/>
          </a:prstGeom>
          <a:noFill/>
          <a:ln/>
        </p:spPr>
        <p:txBody>
          <a:bodyPr wrap="square" lIns="0" tIns="0" rIns="0" bIns="0" rtlCol="0" anchor="ctr"/>
          <a:lstStyle/>
          <a:p>
            <a:pPr marL="0" indent="0" algn="ctr">
              <a:buNone/>
            </a:pPr>
            <a:r>
              <a:rPr lang="en-US" sz="700" b="1" dirty="0">
                <a:solidFill>
                  <a:srgbClr val="666666"/>
                </a:solidFill>
                <a:latin typeface="+mj-lt"/>
                <a:ea typeface="Arial" pitchFamily="34" charset="-122"/>
                <a:cs typeface="Arial" pitchFamily="34" charset="-120"/>
              </a:rPr>
              <a:t>In ReqIT</a:t>
            </a:r>
            <a:endParaRPr lang="en-US" sz="700" dirty="0">
              <a:latin typeface="+mj-lt"/>
            </a:endParaRPr>
          </a:p>
        </p:txBody>
      </p:sp>
      <p:pic>
        <p:nvPicPr>
          <p:cNvPr id="42" name="Image 4" descr="preencoded.png">
            <a:extLst>
              <a:ext uri="{FF2B5EF4-FFF2-40B4-BE49-F238E27FC236}">
                <a16:creationId xmlns:a16="http://schemas.microsoft.com/office/drawing/2014/main" id="{6E06ECE6-4838-3635-81B5-4C76086566AF}"/>
              </a:ext>
            </a:extLst>
          </p:cNvPr>
          <p:cNvPicPr>
            <a:picLocks noChangeAspect="1"/>
          </p:cNvPicPr>
          <p:nvPr/>
        </p:nvPicPr>
        <p:blipFill>
          <a:blip r:embed="rId8"/>
          <a:stretch>
            <a:fillRect/>
          </a:stretch>
        </p:blipFill>
        <p:spPr>
          <a:xfrm>
            <a:off x="1536192" y="3273552"/>
            <a:ext cx="73152" cy="73152"/>
          </a:xfrm>
          <a:prstGeom prst="rect">
            <a:avLst/>
          </a:prstGeom>
        </p:spPr>
      </p:pic>
      <p:sp>
        <p:nvSpPr>
          <p:cNvPr id="43" name="Shape 27">
            <a:extLst>
              <a:ext uri="{FF2B5EF4-FFF2-40B4-BE49-F238E27FC236}">
                <a16:creationId xmlns:a16="http://schemas.microsoft.com/office/drawing/2014/main" id="{6742C470-A415-A59B-67DA-2B327990F0EC}"/>
              </a:ext>
            </a:extLst>
          </p:cNvPr>
          <p:cNvSpPr/>
          <p:nvPr/>
        </p:nvSpPr>
        <p:spPr>
          <a:xfrm>
            <a:off x="1609344" y="3063240"/>
            <a:ext cx="1152144" cy="667512"/>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44" name="Text 28">
            <a:extLst>
              <a:ext uri="{FF2B5EF4-FFF2-40B4-BE49-F238E27FC236}">
                <a16:creationId xmlns:a16="http://schemas.microsoft.com/office/drawing/2014/main" id="{FFF92AA4-25C3-B0C3-2D5D-028491807528}"/>
              </a:ext>
            </a:extLst>
          </p:cNvPr>
          <p:cNvSpPr/>
          <p:nvPr/>
        </p:nvSpPr>
        <p:spPr>
          <a:xfrm>
            <a:off x="1664208" y="3090672"/>
            <a:ext cx="1152144" cy="384048"/>
          </a:xfrm>
          <a:prstGeom prst="rect">
            <a:avLst/>
          </a:prstGeom>
          <a:noFill/>
          <a:ln/>
        </p:spPr>
        <p:txBody>
          <a:bodyPr wrap="square" lIns="0" tIns="0" rIns="0" bIns="0" rtlCol="0" anchor="ctr"/>
          <a:lstStyle/>
          <a:p>
            <a:pPr indent="0" algn="ctr">
              <a:buNone/>
            </a:pPr>
            <a:r>
              <a:rPr lang="en-US" sz="850" b="1" dirty="0">
                <a:solidFill>
                  <a:srgbClr val="333333"/>
                </a:solidFill>
                <a:latin typeface="+mj-lt"/>
                <a:cs typeface="Arial" pitchFamily="34" charset="-120"/>
              </a:rPr>
              <a:t>QC validation</a:t>
            </a:r>
          </a:p>
          <a:p>
            <a:pPr indent="0" algn="ctr">
              <a:buNone/>
            </a:pPr>
            <a:r>
              <a:rPr lang="en-US" sz="850" b="1" dirty="0">
                <a:solidFill>
                  <a:srgbClr val="333333"/>
                </a:solidFill>
                <a:latin typeface="+mj-lt"/>
                <a:cs typeface="Arial" pitchFamily="34" charset="-120"/>
              </a:rPr>
              <a:t>in GSN</a:t>
            </a:r>
          </a:p>
        </p:txBody>
      </p:sp>
      <p:sp>
        <p:nvSpPr>
          <p:cNvPr id="45" name="Text 29">
            <a:extLst>
              <a:ext uri="{FF2B5EF4-FFF2-40B4-BE49-F238E27FC236}">
                <a16:creationId xmlns:a16="http://schemas.microsoft.com/office/drawing/2014/main" id="{398E7803-692D-BAE5-42C7-1F1509A85243}"/>
              </a:ext>
            </a:extLst>
          </p:cNvPr>
          <p:cNvSpPr/>
          <p:nvPr/>
        </p:nvSpPr>
        <p:spPr>
          <a:xfrm>
            <a:off x="1664208" y="3474720"/>
            <a:ext cx="1152144" cy="201168"/>
          </a:xfrm>
          <a:prstGeom prst="rect">
            <a:avLst/>
          </a:prstGeom>
          <a:noFill/>
          <a:ln/>
        </p:spPr>
        <p:txBody>
          <a:bodyPr wrap="square" lIns="0" tIns="0" rIns="0" bIns="0" rtlCol="0" anchor="ctr"/>
          <a:lstStyle/>
          <a:p>
            <a:pPr marL="0" indent="0" algn="ctr">
              <a:buNone/>
            </a:pPr>
            <a:r>
              <a:rPr lang="en-US" sz="700" b="1" dirty="0">
                <a:solidFill>
                  <a:srgbClr val="666666"/>
                </a:solidFill>
                <a:latin typeface="+mj-lt"/>
                <a:ea typeface="Arial" pitchFamily="34" charset="-122"/>
                <a:cs typeface="Arial" pitchFamily="34" charset="-120"/>
              </a:rPr>
              <a:t>QC + creds</a:t>
            </a:r>
            <a:endParaRPr lang="en-US" sz="700" dirty="0">
              <a:latin typeface="+mj-lt"/>
            </a:endParaRPr>
          </a:p>
        </p:txBody>
      </p:sp>
      <p:pic>
        <p:nvPicPr>
          <p:cNvPr id="46" name="Image 5" descr="preencoded.png">
            <a:extLst>
              <a:ext uri="{FF2B5EF4-FFF2-40B4-BE49-F238E27FC236}">
                <a16:creationId xmlns:a16="http://schemas.microsoft.com/office/drawing/2014/main" id="{EB66C383-33A1-477E-26FF-213509DDA4DE}"/>
              </a:ext>
            </a:extLst>
          </p:cNvPr>
          <p:cNvPicPr>
            <a:picLocks noChangeAspect="1"/>
          </p:cNvPicPr>
          <p:nvPr/>
        </p:nvPicPr>
        <p:blipFill>
          <a:blip r:embed="rId8"/>
          <a:stretch>
            <a:fillRect/>
          </a:stretch>
        </p:blipFill>
        <p:spPr>
          <a:xfrm>
            <a:off x="2871216" y="3273552"/>
            <a:ext cx="73152" cy="73152"/>
          </a:xfrm>
          <a:prstGeom prst="rect">
            <a:avLst/>
          </a:prstGeom>
        </p:spPr>
      </p:pic>
      <p:sp>
        <p:nvSpPr>
          <p:cNvPr id="47" name="Shape 30">
            <a:extLst>
              <a:ext uri="{FF2B5EF4-FFF2-40B4-BE49-F238E27FC236}">
                <a16:creationId xmlns:a16="http://schemas.microsoft.com/office/drawing/2014/main" id="{AF2FB734-B426-4638-2480-6C81176D0EDC}"/>
              </a:ext>
            </a:extLst>
          </p:cNvPr>
          <p:cNvSpPr/>
          <p:nvPr/>
        </p:nvSpPr>
        <p:spPr>
          <a:xfrm>
            <a:off x="2944368" y="3063240"/>
            <a:ext cx="1261872" cy="658368"/>
          </a:xfrm>
          <a:prstGeom prst="rect">
            <a:avLst/>
          </a:prstGeom>
          <a:solidFill>
            <a:srgbClr val="FFCC00"/>
          </a:solidFill>
          <a:ln w="12700">
            <a:solidFill>
              <a:srgbClr val="D40511"/>
            </a:solidFill>
            <a:prstDash val="solid"/>
          </a:ln>
        </p:spPr>
        <p:txBody>
          <a:bodyPr/>
          <a:lstStyle/>
          <a:p>
            <a:endParaRPr lang="en-US" dirty="0">
              <a:latin typeface="+mj-lt"/>
            </a:endParaRPr>
          </a:p>
        </p:txBody>
      </p:sp>
      <p:sp>
        <p:nvSpPr>
          <p:cNvPr id="48" name="Text 31">
            <a:extLst>
              <a:ext uri="{FF2B5EF4-FFF2-40B4-BE49-F238E27FC236}">
                <a16:creationId xmlns:a16="http://schemas.microsoft.com/office/drawing/2014/main" id="{903DD9ED-4577-0F81-826B-CC8A698CA4B6}"/>
              </a:ext>
            </a:extLst>
          </p:cNvPr>
          <p:cNvSpPr/>
          <p:nvPr/>
        </p:nvSpPr>
        <p:spPr>
          <a:xfrm>
            <a:off x="2999232" y="3090672"/>
            <a:ext cx="1152144"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Agent Scout</a:t>
            </a:r>
          </a:p>
          <a:p>
            <a:pPr marL="0" indent="0" algn="ctr">
              <a:buNone/>
            </a:pPr>
            <a:r>
              <a:rPr lang="en-US" sz="850" b="1" dirty="0">
                <a:solidFill>
                  <a:srgbClr val="333333"/>
                </a:solidFill>
                <a:latin typeface="+mj-lt"/>
                <a:ea typeface="Arial" pitchFamily="34" charset="-122"/>
                <a:cs typeface="Arial" pitchFamily="34" charset="-120"/>
              </a:rPr>
              <a:t>Recon phase</a:t>
            </a:r>
            <a:endParaRPr lang="en-US" sz="850" dirty="0">
              <a:latin typeface="+mj-lt"/>
            </a:endParaRPr>
          </a:p>
        </p:txBody>
      </p:sp>
      <p:sp>
        <p:nvSpPr>
          <p:cNvPr id="49" name="Text 32">
            <a:extLst>
              <a:ext uri="{FF2B5EF4-FFF2-40B4-BE49-F238E27FC236}">
                <a16:creationId xmlns:a16="http://schemas.microsoft.com/office/drawing/2014/main" id="{76058B7D-57DA-5675-FDB9-EA5D25474E0B}"/>
              </a:ext>
            </a:extLst>
          </p:cNvPr>
          <p:cNvSpPr/>
          <p:nvPr/>
        </p:nvSpPr>
        <p:spPr>
          <a:xfrm>
            <a:off x="2999232" y="3474720"/>
            <a:ext cx="1152144" cy="201168"/>
          </a:xfrm>
          <a:prstGeom prst="rect">
            <a:avLst/>
          </a:prstGeom>
          <a:noFill/>
          <a:ln/>
        </p:spPr>
        <p:txBody>
          <a:bodyPr wrap="square" lIns="0" tIns="0" rIns="0" bIns="0" rtlCol="0" anchor="ctr"/>
          <a:lstStyle/>
          <a:p>
            <a:pPr marL="0" indent="0" algn="ctr">
              <a:buNone/>
            </a:pPr>
            <a:r>
              <a:rPr lang="en-US" sz="700" b="1" dirty="0">
                <a:solidFill>
                  <a:srgbClr val="D40511"/>
                </a:solidFill>
                <a:latin typeface="+mj-lt"/>
                <a:ea typeface="Arial" pitchFamily="34" charset="-122"/>
                <a:cs typeface="Arial" pitchFamily="34" charset="-120"/>
              </a:rPr>
              <a:t>40–80 min</a:t>
            </a:r>
            <a:endParaRPr lang="en-US" sz="700" dirty="0">
              <a:latin typeface="+mj-lt"/>
            </a:endParaRPr>
          </a:p>
        </p:txBody>
      </p:sp>
      <p:pic>
        <p:nvPicPr>
          <p:cNvPr id="50" name="Image 6" descr="preencoded.png">
            <a:extLst>
              <a:ext uri="{FF2B5EF4-FFF2-40B4-BE49-F238E27FC236}">
                <a16:creationId xmlns:a16="http://schemas.microsoft.com/office/drawing/2014/main" id="{84E5337C-B7FB-CEB4-AB98-053675E5A920}"/>
              </a:ext>
            </a:extLst>
          </p:cNvPr>
          <p:cNvPicPr>
            <a:picLocks noChangeAspect="1"/>
          </p:cNvPicPr>
          <p:nvPr/>
        </p:nvPicPr>
        <p:blipFill>
          <a:blip r:embed="rId8"/>
          <a:stretch>
            <a:fillRect/>
          </a:stretch>
        </p:blipFill>
        <p:spPr>
          <a:xfrm>
            <a:off x="4206240" y="3273552"/>
            <a:ext cx="73152" cy="73152"/>
          </a:xfrm>
          <a:prstGeom prst="rect">
            <a:avLst/>
          </a:prstGeom>
        </p:spPr>
      </p:pic>
      <p:sp>
        <p:nvSpPr>
          <p:cNvPr id="51" name="Shape 33">
            <a:extLst>
              <a:ext uri="{FF2B5EF4-FFF2-40B4-BE49-F238E27FC236}">
                <a16:creationId xmlns:a16="http://schemas.microsoft.com/office/drawing/2014/main" id="{E8BA22B4-371E-F395-0791-61A0BBC0A167}"/>
              </a:ext>
            </a:extLst>
          </p:cNvPr>
          <p:cNvSpPr/>
          <p:nvPr/>
        </p:nvSpPr>
        <p:spPr>
          <a:xfrm>
            <a:off x="4279392" y="3063240"/>
            <a:ext cx="1261872" cy="658368"/>
          </a:xfrm>
          <a:prstGeom prst="rect">
            <a:avLst/>
          </a:prstGeom>
          <a:solidFill>
            <a:srgbClr val="FFCC00"/>
          </a:solidFill>
          <a:ln w="12700">
            <a:solidFill>
              <a:srgbClr val="D40511"/>
            </a:solidFill>
            <a:prstDash val="solid"/>
          </a:ln>
        </p:spPr>
        <p:txBody>
          <a:bodyPr/>
          <a:lstStyle/>
          <a:p>
            <a:endParaRPr lang="en-US">
              <a:latin typeface="+mj-lt"/>
            </a:endParaRPr>
          </a:p>
        </p:txBody>
      </p:sp>
      <p:sp>
        <p:nvSpPr>
          <p:cNvPr id="52" name="Text 34">
            <a:extLst>
              <a:ext uri="{FF2B5EF4-FFF2-40B4-BE49-F238E27FC236}">
                <a16:creationId xmlns:a16="http://schemas.microsoft.com/office/drawing/2014/main" id="{9340A6A8-B4BA-73EE-9757-81F7A7228F8A}"/>
              </a:ext>
            </a:extLst>
          </p:cNvPr>
          <p:cNvSpPr/>
          <p:nvPr/>
        </p:nvSpPr>
        <p:spPr>
          <a:xfrm>
            <a:off x="4334256" y="3090672"/>
            <a:ext cx="1152144"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Agent Viper</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Intelligence Analysis</a:t>
            </a:r>
            <a:endParaRPr lang="en-US" sz="850" dirty="0">
              <a:latin typeface="+mj-lt"/>
            </a:endParaRPr>
          </a:p>
        </p:txBody>
      </p:sp>
      <p:sp>
        <p:nvSpPr>
          <p:cNvPr id="53" name="Text 35">
            <a:extLst>
              <a:ext uri="{FF2B5EF4-FFF2-40B4-BE49-F238E27FC236}">
                <a16:creationId xmlns:a16="http://schemas.microsoft.com/office/drawing/2014/main" id="{94EDE8DD-4310-3DEC-2061-8E4CD3B3B22F}"/>
              </a:ext>
            </a:extLst>
          </p:cNvPr>
          <p:cNvSpPr/>
          <p:nvPr/>
        </p:nvSpPr>
        <p:spPr>
          <a:xfrm>
            <a:off x="4334256" y="3474720"/>
            <a:ext cx="1152144" cy="201168"/>
          </a:xfrm>
          <a:prstGeom prst="rect">
            <a:avLst/>
          </a:prstGeom>
          <a:noFill/>
          <a:ln/>
        </p:spPr>
        <p:txBody>
          <a:bodyPr wrap="square" lIns="0" tIns="0" rIns="0" bIns="0" rtlCol="0" anchor="ctr"/>
          <a:lstStyle/>
          <a:p>
            <a:pPr marL="0" indent="0" algn="ctr">
              <a:buNone/>
            </a:pPr>
            <a:r>
              <a:rPr lang="en-US" sz="700" b="1" dirty="0">
                <a:solidFill>
                  <a:srgbClr val="D40511"/>
                </a:solidFill>
                <a:latin typeface="+mj-lt"/>
                <a:ea typeface="Arial" pitchFamily="34" charset="-122"/>
                <a:cs typeface="Arial" pitchFamily="34" charset="-120"/>
              </a:rPr>
              <a:t>3–6 hours</a:t>
            </a:r>
            <a:endParaRPr lang="en-US" sz="700" dirty="0">
              <a:latin typeface="+mj-lt"/>
            </a:endParaRPr>
          </a:p>
        </p:txBody>
      </p:sp>
      <p:pic>
        <p:nvPicPr>
          <p:cNvPr id="54" name="Image 7" descr="preencoded.png">
            <a:extLst>
              <a:ext uri="{FF2B5EF4-FFF2-40B4-BE49-F238E27FC236}">
                <a16:creationId xmlns:a16="http://schemas.microsoft.com/office/drawing/2014/main" id="{6EDB30E6-7E75-92FF-2A6D-CEC1EF7AD3FB}"/>
              </a:ext>
            </a:extLst>
          </p:cNvPr>
          <p:cNvPicPr>
            <a:picLocks noChangeAspect="1"/>
          </p:cNvPicPr>
          <p:nvPr/>
        </p:nvPicPr>
        <p:blipFill>
          <a:blip r:embed="rId8"/>
          <a:stretch>
            <a:fillRect/>
          </a:stretch>
        </p:blipFill>
        <p:spPr>
          <a:xfrm>
            <a:off x="5541264" y="3273552"/>
            <a:ext cx="73152" cy="73152"/>
          </a:xfrm>
          <a:prstGeom prst="rect">
            <a:avLst/>
          </a:prstGeom>
        </p:spPr>
      </p:pic>
      <p:sp>
        <p:nvSpPr>
          <p:cNvPr id="55" name="Shape 36">
            <a:extLst>
              <a:ext uri="{FF2B5EF4-FFF2-40B4-BE49-F238E27FC236}">
                <a16:creationId xmlns:a16="http://schemas.microsoft.com/office/drawing/2014/main" id="{C15A4607-EA1D-6B52-ED19-F4D4410A443A}"/>
              </a:ext>
            </a:extLst>
          </p:cNvPr>
          <p:cNvSpPr/>
          <p:nvPr/>
        </p:nvSpPr>
        <p:spPr>
          <a:xfrm>
            <a:off x="5632704" y="3017520"/>
            <a:ext cx="1170432" cy="704088"/>
          </a:xfrm>
          <a:prstGeom prst="rect">
            <a:avLst/>
          </a:prstGeom>
          <a:solidFill>
            <a:srgbClr val="F2F2F2"/>
          </a:solidFill>
          <a:ln w="6350">
            <a:solidFill>
              <a:srgbClr val="E5E5E5"/>
            </a:solidFill>
            <a:prstDash val="solid"/>
          </a:ln>
        </p:spPr>
        <p:txBody>
          <a:bodyPr/>
          <a:lstStyle/>
          <a:p>
            <a:pPr algn="ctr"/>
            <a:endParaRPr lang="en-US" sz="800" b="1" dirty="0">
              <a:solidFill>
                <a:srgbClr val="333333"/>
              </a:solidFill>
              <a:latin typeface="+mj-lt"/>
              <a:cs typeface="Arial" pitchFamily="34" charset="-120"/>
            </a:endParaRPr>
          </a:p>
          <a:p>
            <a:pPr algn="ctr"/>
            <a:r>
              <a:rPr lang="en-US" sz="850" b="1" dirty="0">
                <a:solidFill>
                  <a:srgbClr val="333333"/>
                </a:solidFill>
                <a:latin typeface="+mj-lt"/>
                <a:cs typeface="Arial" pitchFamily="34" charset="-120"/>
              </a:rPr>
              <a:t>Manual Validation </a:t>
            </a:r>
          </a:p>
          <a:p>
            <a:pPr algn="ctr"/>
            <a:r>
              <a:rPr lang="en-US" sz="850" b="1" dirty="0">
                <a:solidFill>
                  <a:srgbClr val="333333"/>
                </a:solidFill>
                <a:latin typeface="+mj-lt"/>
                <a:cs typeface="Arial" pitchFamily="34" charset="-120"/>
              </a:rPr>
              <a:t>&amp; Pentest </a:t>
            </a:r>
          </a:p>
          <a:p>
            <a:pPr algn="ctr"/>
            <a:r>
              <a:rPr lang="en-US" sz="850" b="1" dirty="0">
                <a:solidFill>
                  <a:srgbClr val="333333"/>
                </a:solidFill>
                <a:latin typeface="+mj-lt"/>
                <a:cs typeface="Arial" pitchFamily="34" charset="-120"/>
              </a:rPr>
              <a:t>Perform</a:t>
            </a:r>
          </a:p>
        </p:txBody>
      </p:sp>
      <p:sp>
        <p:nvSpPr>
          <p:cNvPr id="56" name="Text 37">
            <a:extLst>
              <a:ext uri="{FF2B5EF4-FFF2-40B4-BE49-F238E27FC236}">
                <a16:creationId xmlns:a16="http://schemas.microsoft.com/office/drawing/2014/main" id="{8977AD63-3CE2-45FE-46CB-7B15E96A25A7}"/>
              </a:ext>
            </a:extLst>
          </p:cNvPr>
          <p:cNvSpPr/>
          <p:nvPr/>
        </p:nvSpPr>
        <p:spPr>
          <a:xfrm>
            <a:off x="6967728" y="3495540"/>
            <a:ext cx="1152144" cy="384048"/>
          </a:xfrm>
          <a:prstGeom prst="rect">
            <a:avLst/>
          </a:prstGeom>
          <a:noFill/>
          <a:ln/>
        </p:spPr>
        <p:txBody>
          <a:bodyPr wrap="square" lIns="0" tIns="0" rIns="0" bIns="0" rtlCol="0" anchor="ctr"/>
          <a:lstStyle/>
          <a:p>
            <a:pPr marL="0" indent="0" algn="ctr">
              <a:buNone/>
            </a:pPr>
            <a:endParaRPr lang="en-US" sz="800" dirty="0">
              <a:latin typeface="+mj-lt"/>
            </a:endParaRPr>
          </a:p>
        </p:txBody>
      </p:sp>
      <p:pic>
        <p:nvPicPr>
          <p:cNvPr id="57" name="Image 8" descr="preencoded.png">
            <a:extLst>
              <a:ext uri="{FF2B5EF4-FFF2-40B4-BE49-F238E27FC236}">
                <a16:creationId xmlns:a16="http://schemas.microsoft.com/office/drawing/2014/main" id="{A5C1040A-C35A-4B07-609A-3B745FC5506B}"/>
              </a:ext>
            </a:extLst>
          </p:cNvPr>
          <p:cNvPicPr>
            <a:picLocks noChangeAspect="1"/>
          </p:cNvPicPr>
          <p:nvPr/>
        </p:nvPicPr>
        <p:blipFill>
          <a:blip r:embed="rId8"/>
          <a:stretch>
            <a:fillRect/>
          </a:stretch>
        </p:blipFill>
        <p:spPr>
          <a:xfrm>
            <a:off x="6876288" y="3273552"/>
            <a:ext cx="73152" cy="73152"/>
          </a:xfrm>
          <a:prstGeom prst="rect">
            <a:avLst/>
          </a:prstGeom>
        </p:spPr>
      </p:pic>
      <p:sp>
        <p:nvSpPr>
          <p:cNvPr id="58" name="Shape 38">
            <a:extLst>
              <a:ext uri="{FF2B5EF4-FFF2-40B4-BE49-F238E27FC236}">
                <a16:creationId xmlns:a16="http://schemas.microsoft.com/office/drawing/2014/main" id="{350673A2-E20C-B3F5-158F-86E37C3E4E71}"/>
              </a:ext>
            </a:extLst>
          </p:cNvPr>
          <p:cNvSpPr/>
          <p:nvPr/>
        </p:nvSpPr>
        <p:spPr>
          <a:xfrm>
            <a:off x="8085038" y="3090672"/>
            <a:ext cx="987552" cy="603496"/>
          </a:xfrm>
          <a:prstGeom prst="rect">
            <a:avLst/>
          </a:prstGeom>
          <a:solidFill>
            <a:srgbClr val="F2F2F2"/>
          </a:solidFill>
          <a:ln w="6350">
            <a:solidFill>
              <a:srgbClr val="E5E5E5"/>
            </a:solidFill>
            <a:prstDash val="solid"/>
          </a:ln>
        </p:spPr>
        <p:txBody>
          <a:bodyPr/>
          <a:lstStyle/>
          <a:p>
            <a:endParaRPr lang="en-US">
              <a:latin typeface="+mj-lt"/>
            </a:endParaRPr>
          </a:p>
        </p:txBody>
      </p:sp>
      <p:sp>
        <p:nvSpPr>
          <p:cNvPr id="59" name="Text 39">
            <a:extLst>
              <a:ext uri="{FF2B5EF4-FFF2-40B4-BE49-F238E27FC236}">
                <a16:creationId xmlns:a16="http://schemas.microsoft.com/office/drawing/2014/main" id="{336F732B-ACBE-DB0E-75CA-FA8AD0A2B9F3}"/>
              </a:ext>
            </a:extLst>
          </p:cNvPr>
          <p:cNvSpPr/>
          <p:nvPr/>
        </p:nvSpPr>
        <p:spPr>
          <a:xfrm>
            <a:off x="8119872" y="3163825"/>
            <a:ext cx="1152144" cy="384048"/>
          </a:xfrm>
          <a:prstGeom prst="rect">
            <a:avLst/>
          </a:prstGeom>
          <a:noFill/>
          <a:ln/>
        </p:spPr>
        <p:txBody>
          <a:bodyPr wrap="square" lIns="0" tIns="0" rIns="0" bIns="0" rtlCol="0" anchor="ctr"/>
          <a:lstStyle/>
          <a:p>
            <a:pPr marL="0" indent="0" algn="ctr">
              <a:buNone/>
            </a:pPr>
            <a:r>
              <a:rPr lang="en-US" sz="850" b="1" dirty="0">
                <a:solidFill>
                  <a:srgbClr val="333333"/>
                </a:solidFill>
                <a:latin typeface="+mj-lt"/>
                <a:ea typeface="Arial" pitchFamily="34" charset="-122"/>
                <a:cs typeface="Arial" pitchFamily="34" charset="-120"/>
              </a:rPr>
              <a:t>Report</a:t>
            </a:r>
            <a:endParaRPr lang="en-US" sz="850" dirty="0">
              <a:latin typeface="+mj-lt"/>
            </a:endParaRPr>
          </a:p>
          <a:p>
            <a:pPr marL="0" indent="0" algn="ctr">
              <a:buNone/>
            </a:pPr>
            <a:r>
              <a:rPr lang="en-US" sz="850" b="1" dirty="0">
                <a:solidFill>
                  <a:srgbClr val="333333"/>
                </a:solidFill>
                <a:latin typeface="+mj-lt"/>
                <a:ea typeface="Arial" pitchFamily="34" charset="-122"/>
                <a:cs typeface="Arial" pitchFamily="34" charset="-120"/>
              </a:rPr>
              <a:t>Delivery</a:t>
            </a:r>
            <a:endParaRPr lang="en-US" sz="850" dirty="0">
              <a:latin typeface="+mj-lt"/>
            </a:endParaRPr>
          </a:p>
        </p:txBody>
      </p:sp>
      <p:sp>
        <p:nvSpPr>
          <p:cNvPr id="60" name="Shape 40">
            <a:extLst>
              <a:ext uri="{FF2B5EF4-FFF2-40B4-BE49-F238E27FC236}">
                <a16:creationId xmlns:a16="http://schemas.microsoft.com/office/drawing/2014/main" id="{7AB91DFC-78C0-3DBD-435E-4E73842DFE1F}"/>
              </a:ext>
            </a:extLst>
          </p:cNvPr>
          <p:cNvSpPr/>
          <p:nvPr/>
        </p:nvSpPr>
        <p:spPr>
          <a:xfrm>
            <a:off x="274320" y="3822192"/>
            <a:ext cx="8321040" cy="0"/>
          </a:xfrm>
          <a:prstGeom prst="line">
            <a:avLst/>
          </a:prstGeom>
          <a:noFill/>
          <a:ln w="6350">
            <a:solidFill>
              <a:srgbClr val="8C8C8C"/>
            </a:solidFill>
            <a:prstDash val="dash"/>
          </a:ln>
        </p:spPr>
        <p:txBody>
          <a:bodyPr/>
          <a:lstStyle/>
          <a:p>
            <a:endParaRPr lang="en-US">
              <a:latin typeface="+mj-lt"/>
            </a:endParaRPr>
          </a:p>
        </p:txBody>
      </p:sp>
      <p:sp>
        <p:nvSpPr>
          <p:cNvPr id="61" name="Text 41">
            <a:extLst>
              <a:ext uri="{FF2B5EF4-FFF2-40B4-BE49-F238E27FC236}">
                <a16:creationId xmlns:a16="http://schemas.microsoft.com/office/drawing/2014/main" id="{5A587CF2-B0C6-AB1B-BB4F-A25E771F270A}"/>
              </a:ext>
            </a:extLst>
          </p:cNvPr>
          <p:cNvSpPr/>
          <p:nvPr/>
        </p:nvSpPr>
        <p:spPr>
          <a:xfrm>
            <a:off x="274320" y="3822192"/>
            <a:ext cx="457200" cy="201168"/>
          </a:xfrm>
          <a:prstGeom prst="rect">
            <a:avLst/>
          </a:prstGeom>
          <a:noFill/>
          <a:ln/>
        </p:spPr>
        <p:txBody>
          <a:bodyPr wrap="square" lIns="0" tIns="0" rIns="0" bIns="0" rtlCol="0" anchor="ctr"/>
          <a:lstStyle/>
          <a:p>
            <a:pPr marL="0" indent="0">
              <a:buNone/>
            </a:pPr>
            <a:r>
              <a:rPr lang="en-US" sz="750" dirty="0">
                <a:solidFill>
                  <a:srgbClr val="666666"/>
                </a:solidFill>
                <a:latin typeface="+mj-lt"/>
                <a:ea typeface="Arial" pitchFamily="34" charset="-122"/>
                <a:cs typeface="Arial" pitchFamily="34" charset="-120"/>
              </a:rPr>
              <a:t>N+0</a:t>
            </a:r>
            <a:endParaRPr lang="en-US" sz="750" dirty="0">
              <a:latin typeface="+mj-lt"/>
            </a:endParaRPr>
          </a:p>
        </p:txBody>
      </p:sp>
      <p:sp>
        <p:nvSpPr>
          <p:cNvPr id="62" name="Shape 42">
            <a:extLst>
              <a:ext uri="{FF2B5EF4-FFF2-40B4-BE49-F238E27FC236}">
                <a16:creationId xmlns:a16="http://schemas.microsoft.com/office/drawing/2014/main" id="{B2963A0C-E13E-679D-1BF8-7637D047F78A}"/>
              </a:ext>
            </a:extLst>
          </p:cNvPr>
          <p:cNvSpPr/>
          <p:nvPr/>
        </p:nvSpPr>
        <p:spPr>
          <a:xfrm>
            <a:off x="2907792" y="3829554"/>
            <a:ext cx="2633472" cy="215658"/>
          </a:xfrm>
          <a:prstGeom prst="rect">
            <a:avLst/>
          </a:prstGeom>
          <a:solidFill>
            <a:srgbClr val="007C39"/>
          </a:solidFill>
          <a:ln w="12700">
            <a:solidFill>
              <a:srgbClr val="007C39"/>
            </a:solidFill>
            <a:prstDash val="solid"/>
          </a:ln>
        </p:spPr>
        <p:txBody>
          <a:bodyPr/>
          <a:lstStyle/>
          <a:p>
            <a:endParaRPr lang="en-US" dirty="0">
              <a:latin typeface="+mj-lt"/>
            </a:endParaRPr>
          </a:p>
        </p:txBody>
      </p:sp>
      <p:sp>
        <p:nvSpPr>
          <p:cNvPr id="63" name="Text 43">
            <a:extLst>
              <a:ext uri="{FF2B5EF4-FFF2-40B4-BE49-F238E27FC236}">
                <a16:creationId xmlns:a16="http://schemas.microsoft.com/office/drawing/2014/main" id="{DC0B73C6-D2FD-5599-E3C0-6C6EDB3FD36B}"/>
              </a:ext>
            </a:extLst>
          </p:cNvPr>
          <p:cNvSpPr/>
          <p:nvPr/>
        </p:nvSpPr>
        <p:spPr>
          <a:xfrm>
            <a:off x="3246120" y="3863340"/>
            <a:ext cx="1897380" cy="181872"/>
          </a:xfrm>
          <a:prstGeom prst="rect">
            <a:avLst/>
          </a:prstGeom>
          <a:noFill/>
          <a:ln/>
        </p:spPr>
        <p:txBody>
          <a:bodyPr wrap="square" lIns="0" tIns="0" rIns="0" bIns="0" rtlCol="0" anchor="ctr"/>
          <a:lstStyle/>
          <a:p>
            <a:pPr marL="0" indent="0" algn="ctr">
              <a:buNone/>
            </a:pPr>
            <a:r>
              <a:rPr lang="en-US" sz="700" b="1" dirty="0">
                <a:solidFill>
                  <a:srgbClr val="FFFFFF"/>
                </a:solidFill>
                <a:latin typeface="+mj-lt"/>
                <a:cs typeface="Arial" pitchFamily="34" charset="-120"/>
              </a:rPr>
              <a:t>1 days</a:t>
            </a:r>
            <a:endParaRPr lang="en-US" sz="700" dirty="0">
              <a:latin typeface="+mj-lt"/>
            </a:endParaRPr>
          </a:p>
        </p:txBody>
      </p:sp>
      <p:sp>
        <p:nvSpPr>
          <p:cNvPr id="64" name="Text 44">
            <a:extLst>
              <a:ext uri="{FF2B5EF4-FFF2-40B4-BE49-F238E27FC236}">
                <a16:creationId xmlns:a16="http://schemas.microsoft.com/office/drawing/2014/main" id="{8622180F-9617-0D99-00D5-CF65034E2831}"/>
              </a:ext>
            </a:extLst>
          </p:cNvPr>
          <p:cNvSpPr/>
          <p:nvPr/>
        </p:nvSpPr>
        <p:spPr>
          <a:xfrm>
            <a:off x="6781800" y="3822192"/>
            <a:ext cx="1463040" cy="201168"/>
          </a:xfrm>
          <a:prstGeom prst="rect">
            <a:avLst/>
          </a:prstGeom>
          <a:noFill/>
          <a:ln/>
        </p:spPr>
        <p:txBody>
          <a:bodyPr wrap="square" lIns="0" tIns="0" rIns="0" bIns="0" rtlCol="0" anchor="ctr"/>
          <a:lstStyle/>
          <a:p>
            <a:pPr marL="0" indent="0">
              <a:buNone/>
            </a:pPr>
            <a:r>
              <a:rPr lang="en-US" sz="800" b="1" dirty="0">
                <a:solidFill>
                  <a:srgbClr val="007C39"/>
                </a:solidFill>
                <a:latin typeface="+mj-lt"/>
                <a:ea typeface="Arial" pitchFamily="34" charset="-122"/>
                <a:cs typeface="Arial" pitchFamily="34" charset="-120"/>
              </a:rPr>
              <a:t>N+4 days total</a:t>
            </a:r>
            <a:endParaRPr lang="en-US" sz="800" dirty="0">
              <a:latin typeface="+mj-lt"/>
            </a:endParaRPr>
          </a:p>
        </p:txBody>
      </p:sp>
      <p:pic>
        <p:nvPicPr>
          <p:cNvPr id="65" name="Picture 64">
            <a:extLst>
              <a:ext uri="{FF2B5EF4-FFF2-40B4-BE49-F238E27FC236}">
                <a16:creationId xmlns:a16="http://schemas.microsoft.com/office/drawing/2014/main" id="{2BFA298D-C4DC-FBAB-4DDA-7C96D046AF6F}"/>
              </a:ext>
            </a:extLst>
          </p:cNvPr>
          <p:cNvPicPr>
            <a:picLocks noChangeAspect="1"/>
          </p:cNvPicPr>
          <p:nvPr/>
        </p:nvPicPr>
        <p:blipFill>
          <a:blip r:embed="rId9"/>
          <a:stretch>
            <a:fillRect/>
          </a:stretch>
        </p:blipFill>
        <p:spPr>
          <a:xfrm>
            <a:off x="6513569" y="1753417"/>
            <a:ext cx="1111110" cy="567556"/>
          </a:xfrm>
          <a:prstGeom prst="rect">
            <a:avLst/>
          </a:prstGeom>
        </p:spPr>
      </p:pic>
      <p:sp>
        <p:nvSpPr>
          <p:cNvPr id="66" name="TextBox 65">
            <a:extLst>
              <a:ext uri="{FF2B5EF4-FFF2-40B4-BE49-F238E27FC236}">
                <a16:creationId xmlns:a16="http://schemas.microsoft.com/office/drawing/2014/main" id="{080543C1-FA3C-6A78-B433-27CF1C785BF1}"/>
              </a:ext>
            </a:extLst>
          </p:cNvPr>
          <p:cNvSpPr txBox="1"/>
          <p:nvPr/>
        </p:nvSpPr>
        <p:spPr>
          <a:xfrm>
            <a:off x="6501770" y="1795011"/>
            <a:ext cx="1095172" cy="223138"/>
          </a:xfrm>
          <a:prstGeom prst="rect">
            <a:avLst/>
          </a:prstGeom>
          <a:noFill/>
        </p:spPr>
        <p:txBody>
          <a:bodyPr wrap="none" rtlCol="0">
            <a:spAutoFit/>
          </a:bodyPr>
          <a:lstStyle/>
          <a:p>
            <a:r>
              <a:rPr lang="en-US" sz="850" b="1" dirty="0">
                <a:latin typeface="+mj-lt"/>
              </a:rPr>
              <a:t>Quality Advocates </a:t>
            </a:r>
          </a:p>
        </p:txBody>
      </p:sp>
      <p:pic>
        <p:nvPicPr>
          <p:cNvPr id="67" name="Picture 66">
            <a:extLst>
              <a:ext uri="{FF2B5EF4-FFF2-40B4-BE49-F238E27FC236}">
                <a16:creationId xmlns:a16="http://schemas.microsoft.com/office/drawing/2014/main" id="{010E6098-5A50-4642-4153-AFEA9727EE4F}"/>
              </a:ext>
            </a:extLst>
          </p:cNvPr>
          <p:cNvPicPr>
            <a:picLocks noChangeAspect="1"/>
          </p:cNvPicPr>
          <p:nvPr/>
        </p:nvPicPr>
        <p:blipFill>
          <a:blip r:embed="rId10"/>
          <a:stretch>
            <a:fillRect/>
          </a:stretch>
        </p:blipFill>
        <p:spPr>
          <a:xfrm>
            <a:off x="6961632" y="3047257"/>
            <a:ext cx="1027176" cy="645316"/>
          </a:xfrm>
          <a:prstGeom prst="rect">
            <a:avLst/>
          </a:prstGeom>
        </p:spPr>
      </p:pic>
      <p:sp>
        <p:nvSpPr>
          <p:cNvPr id="68" name="TextBox 67">
            <a:extLst>
              <a:ext uri="{FF2B5EF4-FFF2-40B4-BE49-F238E27FC236}">
                <a16:creationId xmlns:a16="http://schemas.microsoft.com/office/drawing/2014/main" id="{E7833718-8384-A376-A7F2-DD6208AF3EC8}"/>
              </a:ext>
            </a:extLst>
          </p:cNvPr>
          <p:cNvSpPr txBox="1"/>
          <p:nvPr/>
        </p:nvSpPr>
        <p:spPr>
          <a:xfrm>
            <a:off x="7040880" y="3200060"/>
            <a:ext cx="947928" cy="353943"/>
          </a:xfrm>
          <a:prstGeom prst="rect">
            <a:avLst/>
          </a:prstGeom>
          <a:noFill/>
        </p:spPr>
        <p:txBody>
          <a:bodyPr wrap="square">
            <a:spAutoFit/>
          </a:bodyPr>
          <a:lstStyle/>
          <a:p>
            <a:pPr indent="0" algn="ctr">
              <a:buNone/>
            </a:pPr>
            <a:r>
              <a:rPr lang="en-US" sz="850" b="1" dirty="0">
                <a:solidFill>
                  <a:srgbClr val="333333"/>
                </a:solidFill>
                <a:latin typeface="+mj-lt"/>
                <a:cs typeface="Arial" pitchFamily="34" charset="-120"/>
              </a:rPr>
              <a:t>Quality Advocates</a:t>
            </a:r>
          </a:p>
        </p:txBody>
      </p:sp>
      <p:pic>
        <p:nvPicPr>
          <p:cNvPr id="69" name="Picture 68">
            <a:extLst>
              <a:ext uri="{FF2B5EF4-FFF2-40B4-BE49-F238E27FC236}">
                <a16:creationId xmlns:a16="http://schemas.microsoft.com/office/drawing/2014/main" id="{7D2FB724-DFEA-3F7B-FB07-982EA0C40729}"/>
              </a:ext>
            </a:extLst>
          </p:cNvPr>
          <p:cNvPicPr>
            <a:picLocks noChangeAspect="1"/>
          </p:cNvPicPr>
          <p:nvPr/>
        </p:nvPicPr>
        <p:blipFill>
          <a:blip r:embed="rId11"/>
          <a:stretch>
            <a:fillRect/>
          </a:stretch>
        </p:blipFill>
        <p:spPr>
          <a:xfrm>
            <a:off x="8043672" y="3330718"/>
            <a:ext cx="66675" cy="66675"/>
          </a:xfrm>
          <a:prstGeom prst="rect">
            <a:avLst/>
          </a:prstGeom>
        </p:spPr>
      </p:pic>
      <p:pic>
        <p:nvPicPr>
          <p:cNvPr id="70" name="Image 1" descr="preencoded.png">
            <a:extLst>
              <a:ext uri="{FF2B5EF4-FFF2-40B4-BE49-F238E27FC236}">
                <a16:creationId xmlns:a16="http://schemas.microsoft.com/office/drawing/2014/main" id="{921440C4-FA43-3335-5CC9-08451ECC4C60}"/>
              </a:ext>
            </a:extLst>
          </p:cNvPr>
          <p:cNvPicPr>
            <a:picLocks noChangeAspect="1"/>
          </p:cNvPicPr>
          <p:nvPr/>
        </p:nvPicPr>
        <p:blipFill>
          <a:blip r:embed="rId8"/>
          <a:stretch>
            <a:fillRect/>
          </a:stretch>
        </p:blipFill>
        <p:spPr>
          <a:xfrm>
            <a:off x="7736186" y="1924812"/>
            <a:ext cx="91440" cy="91440"/>
          </a:xfrm>
          <a:prstGeom prst="rect">
            <a:avLst/>
          </a:prstGeom>
        </p:spPr>
      </p:pic>
    </p:spTree>
    <p:extLst>
      <p:ext uri="{BB962C8B-B14F-4D97-AF65-F5344CB8AC3E}">
        <p14:creationId xmlns:p14="http://schemas.microsoft.com/office/powerpoint/2010/main" val="1416260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BC18-DCE7-0DF4-6E3F-C0E2776C75E7}"/>
            </a:ext>
          </a:extLst>
        </p:cNvPr>
        <p:cNvGrpSpPr/>
        <p:nvPr/>
      </p:nvGrpSpPr>
      <p:grpSpPr>
        <a:xfrm>
          <a:off x="0" y="0"/>
          <a:ext cx="0" cy="0"/>
          <a:chOff x="0" y="0"/>
          <a:chExt cx="0" cy="0"/>
        </a:xfrm>
      </p:grpSpPr>
      <p:sp>
        <p:nvSpPr>
          <p:cNvPr id="8" name="Freeform 5">
            <a:extLst>
              <a:ext uri="{FF2B5EF4-FFF2-40B4-BE49-F238E27FC236}">
                <a16:creationId xmlns:a16="http://schemas.microsoft.com/office/drawing/2014/main" id="{174771E1-AF17-F010-16D0-056909CED86F}"/>
              </a:ext>
            </a:extLst>
          </p:cNvPr>
          <p:cNvSpPr/>
          <p:nvPr/>
        </p:nvSpPr>
        <p:spPr>
          <a:xfrm>
            <a:off x="0" y="1933475"/>
            <a:ext cx="3298723" cy="3210025"/>
          </a:xfrm>
          <a:custGeom>
            <a:avLst/>
            <a:gdLst/>
            <a:ahLst/>
            <a:cxnLst/>
            <a:rect l="l" t="t" r="r" b="b"/>
            <a:pathLst>
              <a:path w="6597445" h="6420050">
                <a:moveTo>
                  <a:pt x="0" y="0"/>
                </a:moveTo>
                <a:lnTo>
                  <a:pt x="6597445" y="0"/>
                </a:lnTo>
                <a:lnTo>
                  <a:pt x="6597445" y="6420050"/>
                </a:lnTo>
                <a:lnTo>
                  <a:pt x="0" y="6420050"/>
                </a:lnTo>
                <a:lnTo>
                  <a:pt x="0" y="0"/>
                </a:lnTo>
                <a:close/>
              </a:path>
            </a:pathLst>
          </a:custGeom>
          <a:blipFill>
            <a:blip>
              <a:alphaModFix amt="99000"/>
              <a:extLst>
                <a:ext uri="{96DAC541-7B7A-43D3-8B79-37D633B846F1}">
                  <asvg:svgBlip xmlns:asvg="http://schemas.microsoft.com/office/drawing/2016/SVG/main" r:embed="rId3"/>
                </a:ext>
              </a:extLst>
            </a:blip>
            <a:stretch>
              <a:fillRect l="-20593" b="-23925"/>
            </a:stretch>
          </a:blipFill>
        </p:spPr>
        <p:txBody>
          <a:bodyPr/>
          <a:lstStyle/>
          <a:p>
            <a:endParaRPr lang="en-US" sz="675"/>
          </a:p>
        </p:txBody>
      </p:sp>
      <p:sp>
        <p:nvSpPr>
          <p:cNvPr id="9" name="Freeform 6">
            <a:extLst>
              <a:ext uri="{FF2B5EF4-FFF2-40B4-BE49-F238E27FC236}">
                <a16:creationId xmlns:a16="http://schemas.microsoft.com/office/drawing/2014/main" id="{3F4826AE-C33F-7A12-584A-133C56FB62CE}"/>
              </a:ext>
            </a:extLst>
          </p:cNvPr>
          <p:cNvSpPr/>
          <p:nvPr/>
        </p:nvSpPr>
        <p:spPr>
          <a:xfrm>
            <a:off x="7028048" y="0"/>
            <a:ext cx="2095718" cy="2084545"/>
          </a:xfrm>
          <a:custGeom>
            <a:avLst/>
            <a:gdLst/>
            <a:ahLst/>
            <a:cxnLst/>
            <a:rect l="l" t="t" r="r" b="b"/>
            <a:pathLst>
              <a:path w="4191435" h="4169090">
                <a:moveTo>
                  <a:pt x="0" y="0"/>
                </a:moveTo>
                <a:lnTo>
                  <a:pt x="4191435" y="0"/>
                </a:lnTo>
                <a:lnTo>
                  <a:pt x="4191435" y="4169090"/>
                </a:lnTo>
                <a:lnTo>
                  <a:pt x="0" y="4169090"/>
                </a:lnTo>
                <a:lnTo>
                  <a:pt x="0" y="0"/>
                </a:lnTo>
                <a:close/>
              </a:path>
            </a:pathLst>
          </a:custGeom>
          <a:blipFill>
            <a:blip>
              <a:alphaModFix amt="99000"/>
              <a:extLst>
                <a:ext uri="{96DAC541-7B7A-43D3-8B79-37D633B846F1}">
                  <asvg:svgBlip xmlns:asvg="http://schemas.microsoft.com/office/drawing/2016/SVG/main" r:embed="rId3"/>
                </a:ext>
              </a:extLst>
            </a:blip>
            <a:stretch>
              <a:fillRect t="-10491" r="-9902"/>
            </a:stretch>
          </a:blipFill>
        </p:spPr>
        <p:txBody>
          <a:bodyPr/>
          <a:lstStyle/>
          <a:p>
            <a:endParaRPr lang="en-US" sz="675"/>
          </a:p>
        </p:txBody>
      </p:sp>
      <p:sp>
        <p:nvSpPr>
          <p:cNvPr id="3" name="Footer Placeholder 2">
            <a:extLst>
              <a:ext uri="{FF2B5EF4-FFF2-40B4-BE49-F238E27FC236}">
                <a16:creationId xmlns:a16="http://schemas.microsoft.com/office/drawing/2014/main" id="{89471A33-6A61-547E-DEFF-F2D368403036}"/>
              </a:ext>
            </a:extLst>
          </p:cNvPr>
          <p:cNvSpPr>
            <a:spLocks noGrp="1"/>
          </p:cNvSpPr>
          <p:nvPr>
            <p:ph type="ftr" sz="quarter" idx="10"/>
          </p:nvPr>
        </p:nvSpPr>
        <p:spPr/>
        <p:txBody>
          <a:bodyPr/>
          <a:lstStyle/>
          <a:p>
            <a:r>
              <a:rPr lang="en-US" dirty="0"/>
              <a:t>DHL |  Agent Viper | Chennai India | 03 July 2026</a:t>
            </a:r>
          </a:p>
        </p:txBody>
      </p:sp>
      <p:sp>
        <p:nvSpPr>
          <p:cNvPr id="4" name="Slide Number Placeholder 3">
            <a:extLst>
              <a:ext uri="{FF2B5EF4-FFF2-40B4-BE49-F238E27FC236}">
                <a16:creationId xmlns:a16="http://schemas.microsoft.com/office/drawing/2014/main" id="{33549360-B671-3833-9945-9D401B3E4605}"/>
              </a:ext>
            </a:extLst>
          </p:cNvPr>
          <p:cNvSpPr>
            <a:spLocks noGrp="1"/>
          </p:cNvSpPr>
          <p:nvPr>
            <p:ph type="sldNum" sz="quarter" idx="11"/>
          </p:nvPr>
        </p:nvSpPr>
        <p:spPr/>
        <p:txBody>
          <a:bodyPr/>
          <a:lstStyle/>
          <a:p>
            <a:fld id="{C2245BC1-4D7B-4ED3-8F01-840FA35126C6}" type="slidenum">
              <a:rPr lang="en-US" smtClean="0"/>
              <a:pPr/>
              <a:t>4</a:t>
            </a:fld>
            <a:endParaRPr lang="en-US"/>
          </a:p>
        </p:txBody>
      </p:sp>
      <p:sp>
        <p:nvSpPr>
          <p:cNvPr id="11" name="Freeform 13">
            <a:extLst>
              <a:ext uri="{FF2B5EF4-FFF2-40B4-BE49-F238E27FC236}">
                <a16:creationId xmlns:a16="http://schemas.microsoft.com/office/drawing/2014/main" id="{82E59298-D283-DD69-CD6B-340D94A8DAAC}"/>
              </a:ext>
            </a:extLst>
          </p:cNvPr>
          <p:cNvSpPr/>
          <p:nvPr/>
        </p:nvSpPr>
        <p:spPr>
          <a:xfrm>
            <a:off x="224121" y="425395"/>
            <a:ext cx="519139" cy="493950"/>
          </a:xfrm>
          <a:custGeom>
            <a:avLst/>
            <a:gdLst/>
            <a:ahLst/>
            <a:cxnLst/>
            <a:rect l="l" t="t" r="r" b="b"/>
            <a:pathLst>
              <a:path w="1612320" h="1547998">
                <a:moveTo>
                  <a:pt x="0" y="0"/>
                </a:moveTo>
                <a:lnTo>
                  <a:pt x="1612320" y="0"/>
                </a:lnTo>
                <a:lnTo>
                  <a:pt x="1612320" y="1547998"/>
                </a:lnTo>
                <a:lnTo>
                  <a:pt x="0" y="1547998"/>
                </a:lnTo>
                <a:lnTo>
                  <a:pt x="0" y="0"/>
                </a:lnTo>
                <a:close/>
              </a:path>
            </a:pathLst>
          </a:custGeom>
          <a:blipFill>
            <a:blip>
              <a:extLst>
                <a:ext uri="{96DAC541-7B7A-43D3-8B79-37D633B846F1}">
                  <asvg:svgBlip xmlns:asvg="http://schemas.microsoft.com/office/drawing/2016/SVG/main" r:embed="rId4"/>
                </a:ext>
              </a:extLst>
            </a:blip>
            <a:stretch>
              <a:fillRect l="2" r="-118209" b="-123"/>
            </a:stretch>
          </a:blipFill>
        </p:spPr>
        <p:txBody>
          <a:bodyPr/>
          <a:lstStyle/>
          <a:p>
            <a:endParaRPr lang="en-US"/>
          </a:p>
        </p:txBody>
      </p:sp>
      <p:sp>
        <p:nvSpPr>
          <p:cNvPr id="14" name="Title 1">
            <a:extLst>
              <a:ext uri="{FF2B5EF4-FFF2-40B4-BE49-F238E27FC236}">
                <a16:creationId xmlns:a16="http://schemas.microsoft.com/office/drawing/2014/main" id="{FAA2DD7D-3438-426E-1482-8B03F10AF675}"/>
              </a:ext>
            </a:extLst>
          </p:cNvPr>
          <p:cNvSpPr>
            <a:spLocks noGrp="1"/>
          </p:cNvSpPr>
          <p:nvPr>
            <p:ph type="title"/>
          </p:nvPr>
        </p:nvSpPr>
        <p:spPr>
          <a:xfrm>
            <a:off x="796966" y="315272"/>
            <a:ext cx="8495999" cy="493950"/>
          </a:xfrm>
        </p:spPr>
        <p:txBody>
          <a:bodyPr/>
          <a:lstStyle/>
          <a:p>
            <a:r>
              <a:rPr lang="en-US" dirty="0"/>
              <a:t>Agent Viper:  What It Covers &amp; What It Doesn't</a:t>
            </a:r>
            <a:endParaRPr lang="en-GB" dirty="0"/>
          </a:p>
        </p:txBody>
      </p:sp>
      <p:sp>
        <p:nvSpPr>
          <p:cNvPr id="16" name="Rectangle 21">
            <a:extLst>
              <a:ext uri="{FF2B5EF4-FFF2-40B4-BE49-F238E27FC236}">
                <a16:creationId xmlns:a16="http://schemas.microsoft.com/office/drawing/2014/main" id="{A1CE9276-C175-E3B0-405A-45A81BCC9F81}"/>
              </a:ext>
            </a:extLst>
          </p:cNvPr>
          <p:cNvSpPr/>
          <p:nvPr/>
        </p:nvSpPr>
        <p:spPr>
          <a:xfrm>
            <a:off x="323999" y="1099897"/>
            <a:ext cx="4087260" cy="3357803"/>
          </a:xfrm>
          <a:prstGeom prst="rect">
            <a:avLst/>
          </a:prstGeom>
          <a:solidFill>
            <a:srgbClr val="E8EDF9"/>
          </a:solidFill>
          <a:ln>
            <a:noFill/>
          </a:ln>
        </p:spPr>
        <p:style>
          <a:lnRef idx="2">
            <a:schemeClr val="accent1">
              <a:shade val="50000"/>
            </a:schemeClr>
          </a:lnRef>
          <a:fillRef idx="1">
            <a:schemeClr val="accent1"/>
          </a:fillRef>
          <a:effectRef idx="0">
            <a:schemeClr val="accent1"/>
          </a:effectRef>
          <a:fontRef idx="minor">
            <a:schemeClr val="lt1"/>
          </a:fontRef>
        </p:style>
        <p:txBody>
          <a:bodyPr lIns="162000" tIns="108000" rIns="162000" bIns="108000" rtlCol="0" anchor="t"/>
          <a:lstStyle/>
          <a:p>
            <a:r>
              <a:rPr lang="en-US" sz="1400" b="1" dirty="0">
                <a:solidFill>
                  <a:schemeClr val="tx1"/>
                </a:solidFill>
              </a:rPr>
              <a:t>Agent  Viper What It Does</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Correlates Agent Scout, SAST, and DAST data </a:t>
            </a:r>
            <a:r>
              <a:rPr lang="en-US" sz="1200" dirty="0">
                <a:solidFill>
                  <a:schemeClr val="tx1"/>
                </a:solidFill>
              </a:rPr>
              <a:t>to produce a unified, risk-prioritized attack surface.</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b="1" dirty="0">
                <a:solidFill>
                  <a:schemeClr val="tx1"/>
                </a:solidFill>
              </a:rPr>
              <a:t>Expands assessment coverage </a:t>
            </a:r>
            <a:r>
              <a:rPr lang="en-US" sz="1200" dirty="0">
                <a:solidFill>
                  <a:schemeClr val="tx1"/>
                </a:solidFill>
              </a:rPr>
              <a:t>through automated correlation, VDP knowledge reuse, and runtime attack-vector mapping. </a:t>
            </a:r>
          </a:p>
          <a:p>
            <a:pPr marL="171450" indent="-171450">
              <a:buFont typeface="Arial" panose="020B0604020202020204" pitchFamily="34" charset="0"/>
              <a:buChar char="•"/>
            </a:pPr>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Generates actionable intelligence </a:t>
            </a:r>
            <a:r>
              <a:rPr lang="en-US" sz="1200" dirty="0">
                <a:solidFill>
                  <a:schemeClr val="tx1"/>
                </a:solidFill>
              </a:rPr>
              <a:t>including attack paths, CVE enrichment, and validation test cases.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b="1" dirty="0">
                <a:solidFill>
                  <a:schemeClr val="tx1"/>
                </a:solidFill>
              </a:rPr>
              <a:t>Accelerates penetration testing </a:t>
            </a:r>
            <a:r>
              <a:rPr lang="en-US" sz="1200" dirty="0">
                <a:solidFill>
                  <a:schemeClr val="tx1"/>
                </a:solidFill>
              </a:rPr>
              <a:t>by reducing manual analysis and enabling testers to focus on high-risk validation. </a:t>
            </a:r>
          </a:p>
        </p:txBody>
      </p:sp>
      <p:sp>
        <p:nvSpPr>
          <p:cNvPr id="17" name="Rectangle 20">
            <a:extLst>
              <a:ext uri="{FF2B5EF4-FFF2-40B4-BE49-F238E27FC236}">
                <a16:creationId xmlns:a16="http://schemas.microsoft.com/office/drawing/2014/main" id="{3BE49E36-039B-0EBA-7566-AEBF6F403717}"/>
              </a:ext>
            </a:extLst>
          </p:cNvPr>
          <p:cNvSpPr/>
          <p:nvPr/>
        </p:nvSpPr>
        <p:spPr>
          <a:xfrm>
            <a:off x="4572000" y="1099896"/>
            <a:ext cx="4391025" cy="3357803"/>
          </a:xfrm>
          <a:prstGeom prst="rect">
            <a:avLst/>
          </a:prstGeom>
          <a:solidFill>
            <a:srgbClr val="DAECE3"/>
          </a:solidFill>
          <a:ln>
            <a:noFill/>
          </a:ln>
        </p:spPr>
        <p:style>
          <a:lnRef idx="2">
            <a:schemeClr val="accent1">
              <a:shade val="50000"/>
            </a:schemeClr>
          </a:lnRef>
          <a:fillRef idx="1">
            <a:schemeClr val="accent1"/>
          </a:fillRef>
          <a:effectRef idx="0">
            <a:schemeClr val="accent1"/>
          </a:effectRef>
          <a:fontRef idx="minor">
            <a:schemeClr val="lt1"/>
          </a:fontRef>
        </p:style>
        <p:txBody>
          <a:bodyPr lIns="162000" tIns="108000" rIns="162000" bIns="108000" rtlCol="0" anchor="t"/>
          <a:lstStyle/>
          <a:p>
            <a:r>
              <a:rPr lang="en-US" sz="1400" b="1" dirty="0">
                <a:solidFill>
                  <a:schemeClr val="tx1"/>
                </a:solidFill>
              </a:rPr>
              <a:t>Agent  Viper What It Doesn’t Do</a:t>
            </a:r>
          </a:p>
          <a:p>
            <a:endParaRPr lang="en-US" sz="1200" b="1" dirty="0">
              <a:solidFill>
                <a:schemeClr val="tx1"/>
              </a:solidFill>
            </a:endParaRPr>
          </a:p>
          <a:p>
            <a:pPr marL="171450" indent="-171450">
              <a:buFont typeface="Arial" panose="020B0604020202020204" pitchFamily="34" charset="0"/>
              <a:buChar char="•"/>
            </a:pPr>
            <a:r>
              <a:rPr lang="en-US" sz="1200" b="1" dirty="0">
                <a:solidFill>
                  <a:schemeClr val="tx1"/>
                </a:solidFill>
              </a:rPr>
              <a:t>Does not confirm or exploit vulnerabilities</a:t>
            </a:r>
            <a:r>
              <a:rPr lang="en-US" sz="1200" dirty="0">
                <a:solidFill>
                  <a:schemeClr val="tx1"/>
                </a:solidFill>
              </a:rPr>
              <a:t>—it generates possible findings and validation test cases; confirmation is performed manually.</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b="1" dirty="0">
                <a:solidFill>
                  <a:schemeClr val="tx1"/>
                </a:solidFill>
              </a:rPr>
              <a:t>Does not reliably identify business logic, IDOR, or application-specific authorization </a:t>
            </a:r>
            <a:r>
              <a:rPr lang="en-US" sz="1200" dirty="0">
                <a:solidFill>
                  <a:schemeClr val="tx1"/>
                </a:solidFill>
              </a:rPr>
              <a:t>flaws without human expertise.</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b="1" dirty="0">
                <a:solidFill>
                  <a:schemeClr val="tx1"/>
                </a:solidFill>
              </a:rPr>
              <a:t>Does not perform autonomous penetration testing </a:t>
            </a:r>
            <a:r>
              <a:rPr lang="en-US" sz="1200" dirty="0">
                <a:solidFill>
                  <a:schemeClr val="tx1"/>
                </a:solidFill>
              </a:rPr>
              <a:t>— The platform generates intelligence and validation guidance; testing actions remain analyst-driven. </a:t>
            </a:r>
          </a:p>
        </p:txBody>
      </p:sp>
    </p:spTree>
    <p:extLst>
      <p:ext uri="{BB962C8B-B14F-4D97-AF65-F5344CB8AC3E}">
        <p14:creationId xmlns:p14="http://schemas.microsoft.com/office/powerpoint/2010/main" val="1794442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C682-C18F-3AF6-6C69-DD67200B295E}"/>
            </a:ext>
          </a:extLst>
        </p:cNvPr>
        <p:cNvGrpSpPr/>
        <p:nvPr/>
      </p:nvGrpSpPr>
      <p:grpSpPr>
        <a:xfrm>
          <a:off x="0" y="0"/>
          <a:ext cx="0" cy="0"/>
          <a:chOff x="0" y="0"/>
          <a:chExt cx="0" cy="0"/>
        </a:xfrm>
      </p:grpSpPr>
      <p:sp>
        <p:nvSpPr>
          <p:cNvPr id="6" name="Freeform 5">
            <a:extLst>
              <a:ext uri="{FF2B5EF4-FFF2-40B4-BE49-F238E27FC236}">
                <a16:creationId xmlns:a16="http://schemas.microsoft.com/office/drawing/2014/main" id="{9DCB87A0-C4AF-7494-3196-9196F06CCE46}"/>
              </a:ext>
            </a:extLst>
          </p:cNvPr>
          <p:cNvSpPr/>
          <p:nvPr/>
        </p:nvSpPr>
        <p:spPr>
          <a:xfrm>
            <a:off x="995011" y="137633"/>
            <a:ext cx="7153978" cy="5129491"/>
          </a:xfrm>
          <a:custGeom>
            <a:avLst/>
            <a:gdLst/>
            <a:ahLst/>
            <a:cxnLst/>
            <a:rect l="l" t="t" r="r" b="b"/>
            <a:pathLst>
              <a:path w="14307955" h="10258981">
                <a:moveTo>
                  <a:pt x="0" y="0"/>
                </a:moveTo>
                <a:lnTo>
                  <a:pt x="14307956" y="0"/>
                </a:lnTo>
                <a:lnTo>
                  <a:pt x="14307956" y="10258980"/>
                </a:lnTo>
                <a:lnTo>
                  <a:pt x="0" y="10258980"/>
                </a:lnTo>
                <a:lnTo>
                  <a:pt x="0" y="0"/>
                </a:lnTo>
                <a:close/>
              </a:path>
            </a:pathLst>
          </a:custGeom>
          <a:blipFill>
            <a:blip r:embed="rId3">
              <a:alphaModFix amt="61000"/>
            </a:blip>
            <a:stretch>
              <a:fillRect t="-14645" b="-24821"/>
            </a:stretch>
          </a:blipFill>
        </p:spPr>
        <p:txBody>
          <a:bodyPr/>
          <a:lstStyle/>
          <a:p>
            <a:endParaRPr lang="en-US" sz="675"/>
          </a:p>
        </p:txBody>
      </p:sp>
      <p:sp>
        <p:nvSpPr>
          <p:cNvPr id="4" name="Footer Placeholder 3">
            <a:extLst>
              <a:ext uri="{FF2B5EF4-FFF2-40B4-BE49-F238E27FC236}">
                <a16:creationId xmlns:a16="http://schemas.microsoft.com/office/drawing/2014/main" id="{27183641-BF3B-10B8-02D6-C31AA3F69263}"/>
              </a:ext>
            </a:extLst>
          </p:cNvPr>
          <p:cNvSpPr>
            <a:spLocks noGrp="1"/>
          </p:cNvSpPr>
          <p:nvPr>
            <p:ph type="ftr" sz="quarter" idx="10"/>
          </p:nvPr>
        </p:nvSpPr>
        <p:spPr>
          <a:xfrm>
            <a:off x="323999" y="4917434"/>
            <a:ext cx="8117532" cy="138499"/>
          </a:xfrm>
        </p:spPr>
        <p:txBody>
          <a:bodyPr/>
          <a:lstStyle/>
          <a:p>
            <a:r>
              <a:rPr lang="en-US" dirty="0"/>
              <a:t>DHL |  Agent Viper | Chennai India | 03 July 2026</a:t>
            </a:r>
          </a:p>
        </p:txBody>
      </p:sp>
      <p:sp>
        <p:nvSpPr>
          <p:cNvPr id="5" name="Slide Number Placeholder 4">
            <a:extLst>
              <a:ext uri="{FF2B5EF4-FFF2-40B4-BE49-F238E27FC236}">
                <a16:creationId xmlns:a16="http://schemas.microsoft.com/office/drawing/2014/main" id="{69F0CB38-EF4C-E32A-8DFC-CD710EB401F4}"/>
              </a:ext>
            </a:extLst>
          </p:cNvPr>
          <p:cNvSpPr>
            <a:spLocks noGrp="1"/>
          </p:cNvSpPr>
          <p:nvPr>
            <p:ph type="sldNum" sz="quarter" idx="11"/>
          </p:nvPr>
        </p:nvSpPr>
        <p:spPr/>
        <p:txBody>
          <a:bodyPr/>
          <a:lstStyle/>
          <a:p>
            <a:fld id="{C2245BC1-4D7B-4ED3-8F01-840FA35126C6}" type="slidenum">
              <a:rPr lang="en-US" smtClean="0"/>
              <a:pPr/>
              <a:t>5</a:t>
            </a:fld>
            <a:endParaRPr lang="en-US"/>
          </a:p>
        </p:txBody>
      </p:sp>
      <p:pic>
        <p:nvPicPr>
          <p:cNvPr id="3" name="Picture 2">
            <a:extLst>
              <a:ext uri="{FF2B5EF4-FFF2-40B4-BE49-F238E27FC236}">
                <a16:creationId xmlns:a16="http://schemas.microsoft.com/office/drawing/2014/main" id="{681E22C0-11F9-700B-C95B-F63B624F2559}"/>
              </a:ext>
            </a:extLst>
          </p:cNvPr>
          <p:cNvPicPr>
            <a:picLocks noChangeAspect="1"/>
          </p:cNvPicPr>
          <p:nvPr/>
        </p:nvPicPr>
        <p:blipFill>
          <a:blip r:embed="rId4"/>
          <a:stretch>
            <a:fillRect/>
          </a:stretch>
        </p:blipFill>
        <p:spPr>
          <a:xfrm>
            <a:off x="836829" y="236239"/>
            <a:ext cx="7793936" cy="4681196"/>
          </a:xfrm>
          <a:prstGeom prst="rect">
            <a:avLst/>
          </a:prstGeom>
        </p:spPr>
      </p:pic>
    </p:spTree>
    <p:extLst>
      <p:ext uri="{BB962C8B-B14F-4D97-AF65-F5344CB8AC3E}">
        <p14:creationId xmlns:p14="http://schemas.microsoft.com/office/powerpoint/2010/main" val="199150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C8DC-6E75-6E05-3683-9198FE4A8B44}"/>
            </a:ext>
          </a:extLst>
        </p:cNvPr>
        <p:cNvGrpSpPr/>
        <p:nvPr/>
      </p:nvGrpSpPr>
      <p:grpSpPr>
        <a:xfrm>
          <a:off x="0" y="0"/>
          <a:ext cx="0" cy="0"/>
          <a:chOff x="0" y="0"/>
          <a:chExt cx="0" cy="0"/>
        </a:xfrm>
      </p:grpSpPr>
      <p:sp>
        <p:nvSpPr>
          <p:cNvPr id="7" name="Freeform 3">
            <a:extLst>
              <a:ext uri="{FF2B5EF4-FFF2-40B4-BE49-F238E27FC236}">
                <a16:creationId xmlns:a16="http://schemas.microsoft.com/office/drawing/2014/main" id="{87A19007-F3C1-263B-C2E9-4453580DD642}"/>
              </a:ext>
            </a:extLst>
          </p:cNvPr>
          <p:cNvSpPr/>
          <p:nvPr/>
        </p:nvSpPr>
        <p:spPr>
          <a:xfrm>
            <a:off x="14015" y="28030"/>
            <a:ext cx="2113349" cy="2317405"/>
          </a:xfrm>
          <a:custGeom>
            <a:avLst/>
            <a:gdLst/>
            <a:ahLst/>
            <a:cxnLst/>
            <a:rect l="l" t="t" r="r" b="b"/>
            <a:pathLst>
              <a:path w="4226698" h="4634810">
                <a:moveTo>
                  <a:pt x="0" y="0"/>
                </a:moveTo>
                <a:lnTo>
                  <a:pt x="4226698" y="0"/>
                </a:lnTo>
                <a:lnTo>
                  <a:pt x="4226698" y="4634810"/>
                </a:lnTo>
                <a:lnTo>
                  <a:pt x="0" y="4634810"/>
                </a:lnTo>
                <a:lnTo>
                  <a:pt x="0" y="0"/>
                </a:lnTo>
                <a:close/>
              </a:path>
            </a:pathLst>
          </a:custGeom>
          <a:blipFill>
            <a:blip>
              <a:alphaModFix amt="30000"/>
              <a:extLst>
                <a:ext uri="{96DAC541-7B7A-43D3-8B79-37D633B846F1}">
                  <asvg:svgBlip xmlns:asvg="http://schemas.microsoft.com/office/drawing/2016/SVG/main" r:embed="rId3"/>
                </a:ext>
              </a:extLst>
            </a:blip>
            <a:stretch>
              <a:fillRect l="-10837" t="-1077"/>
            </a:stretch>
          </a:blipFill>
        </p:spPr>
        <p:txBody>
          <a:bodyPr/>
          <a:lstStyle/>
          <a:p>
            <a:endParaRPr lang="en-US" sz="675"/>
          </a:p>
        </p:txBody>
      </p:sp>
      <p:sp>
        <p:nvSpPr>
          <p:cNvPr id="3" name="Fußzeilenplatzhalter 2">
            <a:extLst>
              <a:ext uri="{FF2B5EF4-FFF2-40B4-BE49-F238E27FC236}">
                <a16:creationId xmlns:a16="http://schemas.microsoft.com/office/drawing/2014/main" id="{1ECF858F-ACD3-7FF5-620B-7ABF58433B59}"/>
              </a:ext>
            </a:extLst>
          </p:cNvPr>
          <p:cNvSpPr>
            <a:spLocks noGrp="1"/>
          </p:cNvSpPr>
          <p:nvPr>
            <p:ph type="ftr" sz="quarter" idx="10"/>
          </p:nvPr>
        </p:nvSpPr>
        <p:spPr/>
        <p:txBody>
          <a:bodyPr/>
          <a:lstStyle/>
          <a:p>
            <a:r>
              <a:rPr lang="en-US" dirty="0"/>
              <a:t>DHL |  Agent Viper | Chennai India | 03 July 2026</a:t>
            </a:r>
          </a:p>
        </p:txBody>
      </p:sp>
      <p:sp>
        <p:nvSpPr>
          <p:cNvPr id="4" name="Foliennummernplatzhalter 3">
            <a:extLst>
              <a:ext uri="{FF2B5EF4-FFF2-40B4-BE49-F238E27FC236}">
                <a16:creationId xmlns:a16="http://schemas.microsoft.com/office/drawing/2014/main" id="{72058B7F-5329-C24B-CE56-4F19218D9EC3}"/>
              </a:ext>
            </a:extLst>
          </p:cNvPr>
          <p:cNvSpPr>
            <a:spLocks noGrp="1"/>
          </p:cNvSpPr>
          <p:nvPr>
            <p:ph type="sldNum" sz="quarter" idx="11"/>
          </p:nvPr>
        </p:nvSpPr>
        <p:spPr/>
        <p:txBody>
          <a:bodyPr/>
          <a:lstStyle/>
          <a:p>
            <a:fld id="{C2245BC1-4D7B-4ED3-8F01-840FA35126C6}" type="slidenum">
              <a:rPr lang="en-US" smtClean="0"/>
              <a:pPr/>
              <a:t>6</a:t>
            </a:fld>
            <a:endParaRPr lang="en-US"/>
          </a:p>
        </p:txBody>
      </p:sp>
      <p:sp>
        <p:nvSpPr>
          <p:cNvPr id="70" name="Content Placeholder 5">
            <a:extLst>
              <a:ext uri="{FF2B5EF4-FFF2-40B4-BE49-F238E27FC236}">
                <a16:creationId xmlns:a16="http://schemas.microsoft.com/office/drawing/2014/main" id="{42A801A4-979A-2ACF-2563-5B465CF0E3CA}"/>
              </a:ext>
            </a:extLst>
          </p:cNvPr>
          <p:cNvSpPr txBox="1">
            <a:spLocks/>
          </p:cNvSpPr>
          <p:nvPr/>
        </p:nvSpPr>
        <p:spPr>
          <a:xfrm>
            <a:off x="835211" y="1210327"/>
            <a:ext cx="3908239" cy="421467"/>
          </a:xfrm>
          <a:prstGeom prst="rect">
            <a:avLst/>
          </a:prstGeom>
        </p:spPr>
        <p:txBody>
          <a:bodyPr lIns="0" tIns="0" rIns="0" bIns="0"/>
          <a:lst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35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7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5"/>
            <a:r>
              <a:rPr lang="en-US" dirty="0"/>
              <a:t>Scope Guard</a:t>
            </a:r>
          </a:p>
          <a:p>
            <a:r>
              <a:rPr lang="en-US" dirty="0"/>
              <a:t>Constrains pipeline execution strictly to authorized target scope — prevents unintended scanning</a:t>
            </a:r>
            <a:r>
              <a:rPr lang="en-US" dirty="0">
                <a:solidFill>
                  <a:srgbClr val="666666"/>
                </a:solidFill>
                <a:latin typeface="Arial" pitchFamily="34" charset="0"/>
                <a:ea typeface="Arial" pitchFamily="34" charset="-122"/>
                <a:cs typeface="Arial" pitchFamily="34" charset="-120"/>
              </a:rPr>
              <a:t>.</a:t>
            </a:r>
            <a:endParaRPr lang="en-US" dirty="0"/>
          </a:p>
        </p:txBody>
      </p:sp>
      <p:sp>
        <p:nvSpPr>
          <p:cNvPr id="72" name="Content Placeholder 5">
            <a:extLst>
              <a:ext uri="{FF2B5EF4-FFF2-40B4-BE49-F238E27FC236}">
                <a16:creationId xmlns:a16="http://schemas.microsoft.com/office/drawing/2014/main" id="{550BBB8A-B091-A126-7572-C52078385C00}"/>
              </a:ext>
            </a:extLst>
          </p:cNvPr>
          <p:cNvSpPr txBox="1">
            <a:spLocks/>
          </p:cNvSpPr>
          <p:nvPr/>
        </p:nvSpPr>
        <p:spPr>
          <a:xfrm>
            <a:off x="835210" y="1891803"/>
            <a:ext cx="4013015" cy="421467"/>
          </a:xfrm>
          <a:prstGeom prst="rect">
            <a:avLst/>
          </a:prstGeom>
        </p:spPr>
        <p:txBody>
          <a:bodyPr lIns="0" tIns="0" rIns="0" bIns="0"/>
          <a:lst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35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7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5"/>
            <a:r>
              <a:rPr lang="en-US" dirty="0"/>
              <a:t>LLM Token Execution Limits</a:t>
            </a:r>
          </a:p>
          <a:p>
            <a:r>
              <a:rPr lang="en-US" dirty="0"/>
              <a:t>Hard cap on token usage per execution. If the threshold is exceeded, the pipeline stops and displays the triggered guardrail, scan ID, and event details in the monitoring dashboard.</a:t>
            </a:r>
          </a:p>
          <a:p>
            <a:endParaRPr lang="en-US" dirty="0"/>
          </a:p>
        </p:txBody>
      </p:sp>
      <p:sp>
        <p:nvSpPr>
          <p:cNvPr id="74" name="Content Placeholder 5">
            <a:extLst>
              <a:ext uri="{FF2B5EF4-FFF2-40B4-BE49-F238E27FC236}">
                <a16:creationId xmlns:a16="http://schemas.microsoft.com/office/drawing/2014/main" id="{3B23F197-2D2D-D367-A8EA-47CB9EF09B8C}"/>
              </a:ext>
            </a:extLst>
          </p:cNvPr>
          <p:cNvSpPr txBox="1">
            <a:spLocks/>
          </p:cNvSpPr>
          <p:nvPr/>
        </p:nvSpPr>
        <p:spPr>
          <a:xfrm>
            <a:off x="841854" y="2958590"/>
            <a:ext cx="3822515" cy="421467"/>
          </a:xfrm>
          <a:prstGeom prst="rect">
            <a:avLst/>
          </a:prstGeom>
        </p:spPr>
        <p:txBody>
          <a:bodyPr lIns="0" tIns="0" rIns="0" bIns="0"/>
          <a:lst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35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7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5"/>
            <a:r>
              <a:rPr lang="en-US" dirty="0"/>
              <a:t>Kill Switch</a:t>
            </a:r>
          </a:p>
          <a:p>
            <a:r>
              <a:rPr lang="en-US" dirty="0"/>
              <a:t>Instant termination of full pipeline execution — admin can stop and debug at any point.</a:t>
            </a:r>
          </a:p>
        </p:txBody>
      </p:sp>
      <p:pic>
        <p:nvPicPr>
          <p:cNvPr id="86" name="Grafik 85">
            <a:extLst>
              <a:ext uri="{FF2B5EF4-FFF2-40B4-BE49-F238E27FC236}">
                <a16:creationId xmlns:a16="http://schemas.microsoft.com/office/drawing/2014/main" id="{F84A27E8-520E-F99F-38EC-1E01E56CEC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5910" y="1875975"/>
            <a:ext cx="392375" cy="392375"/>
          </a:xfrm>
          <a:prstGeom prst="rect">
            <a:avLst/>
          </a:prstGeom>
        </p:spPr>
      </p:pic>
      <p:pic>
        <p:nvPicPr>
          <p:cNvPr id="87" name="Grafik 86">
            <a:extLst>
              <a:ext uri="{FF2B5EF4-FFF2-40B4-BE49-F238E27FC236}">
                <a16:creationId xmlns:a16="http://schemas.microsoft.com/office/drawing/2014/main" id="{F2AE0C34-58AA-B729-8D5A-5B73CA2B41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910" y="1210327"/>
            <a:ext cx="392375" cy="392375"/>
          </a:xfrm>
          <a:prstGeom prst="rect">
            <a:avLst/>
          </a:prstGeom>
        </p:spPr>
      </p:pic>
      <p:pic>
        <p:nvPicPr>
          <p:cNvPr id="88" name="Grafik 87">
            <a:extLst>
              <a:ext uri="{FF2B5EF4-FFF2-40B4-BE49-F238E27FC236}">
                <a16:creationId xmlns:a16="http://schemas.microsoft.com/office/drawing/2014/main" id="{AB7484FC-BDE9-CAD9-0EFD-5B572100AC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8482" y="2989310"/>
            <a:ext cx="392375" cy="392375"/>
          </a:xfrm>
          <a:prstGeom prst="rect">
            <a:avLst/>
          </a:prstGeom>
        </p:spPr>
      </p:pic>
      <p:sp>
        <p:nvSpPr>
          <p:cNvPr id="13" name="Freeform 13">
            <a:extLst>
              <a:ext uri="{FF2B5EF4-FFF2-40B4-BE49-F238E27FC236}">
                <a16:creationId xmlns:a16="http://schemas.microsoft.com/office/drawing/2014/main" id="{4D6C94F2-E73A-CB6F-F285-8CF6C6CA972C}"/>
              </a:ext>
            </a:extLst>
          </p:cNvPr>
          <p:cNvSpPr/>
          <p:nvPr/>
        </p:nvSpPr>
        <p:spPr>
          <a:xfrm>
            <a:off x="224121" y="425395"/>
            <a:ext cx="519139" cy="493950"/>
          </a:xfrm>
          <a:custGeom>
            <a:avLst/>
            <a:gdLst/>
            <a:ahLst/>
            <a:cxnLst/>
            <a:rect l="l" t="t" r="r" b="b"/>
            <a:pathLst>
              <a:path w="1612320" h="1547998">
                <a:moveTo>
                  <a:pt x="0" y="0"/>
                </a:moveTo>
                <a:lnTo>
                  <a:pt x="1612320" y="0"/>
                </a:lnTo>
                <a:lnTo>
                  <a:pt x="1612320" y="1547998"/>
                </a:lnTo>
                <a:lnTo>
                  <a:pt x="0" y="1547998"/>
                </a:lnTo>
                <a:lnTo>
                  <a:pt x="0" y="0"/>
                </a:lnTo>
                <a:close/>
              </a:path>
            </a:pathLst>
          </a:custGeom>
          <a:blipFill>
            <a:blip>
              <a:extLst>
                <a:ext uri="{96DAC541-7B7A-43D3-8B79-37D633B846F1}">
                  <asvg:svgBlip xmlns:asvg="http://schemas.microsoft.com/office/drawing/2016/SVG/main" r:embed="rId7"/>
                </a:ext>
              </a:extLst>
            </a:blip>
            <a:stretch>
              <a:fillRect l="2" r="-118209" b="-123"/>
            </a:stretch>
          </a:blipFill>
        </p:spPr>
        <p:txBody>
          <a:bodyPr/>
          <a:lstStyle/>
          <a:p>
            <a:endParaRPr lang="en-US"/>
          </a:p>
        </p:txBody>
      </p:sp>
      <p:sp>
        <p:nvSpPr>
          <p:cNvPr id="14" name="Title 1">
            <a:extLst>
              <a:ext uri="{FF2B5EF4-FFF2-40B4-BE49-F238E27FC236}">
                <a16:creationId xmlns:a16="http://schemas.microsoft.com/office/drawing/2014/main" id="{56B3A07A-2387-E79D-6CBF-1434C3F679C2}"/>
              </a:ext>
            </a:extLst>
          </p:cNvPr>
          <p:cNvSpPr>
            <a:spLocks noGrp="1"/>
          </p:cNvSpPr>
          <p:nvPr>
            <p:ph type="title"/>
          </p:nvPr>
        </p:nvSpPr>
        <p:spPr>
          <a:xfrm>
            <a:off x="796966" y="315272"/>
            <a:ext cx="8495999" cy="493950"/>
          </a:xfrm>
        </p:spPr>
        <p:txBody>
          <a:bodyPr/>
          <a:lstStyle/>
          <a:p>
            <a:r>
              <a:rPr lang="en-GB" dirty="0"/>
              <a:t>Guardrails &amp; key Capabilities </a:t>
            </a:r>
          </a:p>
        </p:txBody>
      </p:sp>
      <p:sp>
        <p:nvSpPr>
          <p:cNvPr id="2" name="Content Placeholder 5">
            <a:extLst>
              <a:ext uri="{FF2B5EF4-FFF2-40B4-BE49-F238E27FC236}">
                <a16:creationId xmlns:a16="http://schemas.microsoft.com/office/drawing/2014/main" id="{14DAF950-FF76-FD21-3822-CD52F0089656}"/>
              </a:ext>
            </a:extLst>
          </p:cNvPr>
          <p:cNvSpPr txBox="1">
            <a:spLocks/>
          </p:cNvSpPr>
          <p:nvPr/>
        </p:nvSpPr>
        <p:spPr>
          <a:xfrm>
            <a:off x="835210" y="3615475"/>
            <a:ext cx="3736790" cy="421467"/>
          </a:xfrm>
          <a:prstGeom prst="rect">
            <a:avLst/>
          </a:prstGeom>
        </p:spPr>
        <p:txBody>
          <a:bodyPr lIns="0" tIns="0" rIns="0" bIns="0"/>
          <a:lst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35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7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5"/>
            <a:r>
              <a:rPr lang="en-US" dirty="0"/>
              <a:t>Credentials Isolation</a:t>
            </a:r>
          </a:p>
          <a:p>
            <a:r>
              <a:rPr lang="en-US" dirty="0"/>
              <a:t>Credentials are never exposed to the LLM — secrets stripped before every agent call; tools usage will use credential from database. </a:t>
            </a:r>
          </a:p>
        </p:txBody>
      </p:sp>
      <p:pic>
        <p:nvPicPr>
          <p:cNvPr id="11" name="Grafik 85">
            <a:extLst>
              <a:ext uri="{FF2B5EF4-FFF2-40B4-BE49-F238E27FC236}">
                <a16:creationId xmlns:a16="http://schemas.microsoft.com/office/drawing/2014/main" id="{C89E8FAD-8010-E5D2-5DF5-BC6876796E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591" y="3741461"/>
            <a:ext cx="392375" cy="392375"/>
          </a:xfrm>
          <a:prstGeom prst="rect">
            <a:avLst/>
          </a:prstGeom>
        </p:spPr>
      </p:pic>
      <p:sp>
        <p:nvSpPr>
          <p:cNvPr id="6" name="Freeform 3">
            <a:extLst>
              <a:ext uri="{FF2B5EF4-FFF2-40B4-BE49-F238E27FC236}">
                <a16:creationId xmlns:a16="http://schemas.microsoft.com/office/drawing/2014/main" id="{4B788780-D66D-9851-2A7C-878C568AF02F}"/>
              </a:ext>
            </a:extLst>
          </p:cNvPr>
          <p:cNvSpPr/>
          <p:nvPr/>
        </p:nvSpPr>
        <p:spPr>
          <a:xfrm>
            <a:off x="5471356" y="840419"/>
            <a:ext cx="2113349" cy="2317405"/>
          </a:xfrm>
          <a:custGeom>
            <a:avLst/>
            <a:gdLst/>
            <a:ahLst/>
            <a:cxnLst/>
            <a:rect l="l" t="t" r="r" b="b"/>
            <a:pathLst>
              <a:path w="4226698" h="4634810">
                <a:moveTo>
                  <a:pt x="0" y="0"/>
                </a:moveTo>
                <a:lnTo>
                  <a:pt x="4226698" y="0"/>
                </a:lnTo>
                <a:lnTo>
                  <a:pt x="4226698" y="4634810"/>
                </a:lnTo>
                <a:lnTo>
                  <a:pt x="0" y="4634810"/>
                </a:lnTo>
                <a:lnTo>
                  <a:pt x="0" y="0"/>
                </a:lnTo>
                <a:close/>
              </a:path>
            </a:pathLst>
          </a:custGeom>
          <a:blipFill>
            <a:blip>
              <a:alphaModFix amt="30000"/>
              <a:extLst>
                <a:ext uri="{96DAC541-7B7A-43D3-8B79-37D633B846F1}">
                  <asvg:svgBlip xmlns:asvg="http://schemas.microsoft.com/office/drawing/2016/SVG/main" r:embed="rId3"/>
                </a:ext>
              </a:extLst>
            </a:blip>
            <a:stretch>
              <a:fillRect l="-10837" t="-1077"/>
            </a:stretch>
          </a:blipFill>
        </p:spPr>
        <p:txBody>
          <a:bodyPr/>
          <a:lstStyle/>
          <a:p>
            <a:endParaRPr lang="en-US" sz="675"/>
          </a:p>
        </p:txBody>
      </p:sp>
      <p:sp>
        <p:nvSpPr>
          <p:cNvPr id="9" name="Rectangle 20">
            <a:extLst>
              <a:ext uri="{FF2B5EF4-FFF2-40B4-BE49-F238E27FC236}">
                <a16:creationId xmlns:a16="http://schemas.microsoft.com/office/drawing/2014/main" id="{FC83738C-1884-F045-21FB-48477683229C}"/>
              </a:ext>
            </a:extLst>
          </p:cNvPr>
          <p:cNvSpPr/>
          <p:nvPr/>
        </p:nvSpPr>
        <p:spPr>
          <a:xfrm>
            <a:off x="4978584" y="1118971"/>
            <a:ext cx="4013015" cy="3596375"/>
          </a:xfrm>
          <a:prstGeom prst="rect">
            <a:avLst/>
          </a:prstGeom>
          <a:solidFill>
            <a:srgbClr val="E7EDD7"/>
          </a:solidFill>
          <a:ln>
            <a:noFill/>
          </a:ln>
        </p:spPr>
        <p:style>
          <a:lnRef idx="2">
            <a:schemeClr val="accent1">
              <a:shade val="50000"/>
            </a:schemeClr>
          </a:lnRef>
          <a:fillRef idx="1">
            <a:schemeClr val="accent1"/>
          </a:fillRef>
          <a:effectRef idx="0">
            <a:schemeClr val="accent1"/>
          </a:effectRef>
          <a:fontRef idx="minor">
            <a:schemeClr val="lt1"/>
          </a:fontRef>
        </p:style>
        <p:txBody>
          <a:bodyPr lIns="162000" tIns="108000" rIns="162000" bIns="108000" rtlCol="0" anchor="t"/>
          <a:lstStyle/>
          <a:p>
            <a:r>
              <a:rPr lang="en-US" sz="1400" b="1" dirty="0">
                <a:solidFill>
                  <a:schemeClr val="tx1"/>
                </a:solidFill>
              </a:rPr>
              <a:t>Key Capabilities:</a:t>
            </a:r>
          </a:p>
          <a:p>
            <a:endParaRPr lang="en-US" sz="1200" dirty="0">
              <a:solidFill>
                <a:schemeClr val="tx1"/>
              </a:solidFill>
            </a:endParaRP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Dynamic SAST to attack vector mapping</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Automated CVE enrichment via NVD + CISA KEV</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 VDP Intelligence &amp; Pattern Reuse.</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Broader Attack Surface Coverage</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Automated Attack Chain Generation</a:t>
            </a: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p:txBody>
      </p:sp>
      <p:sp>
        <p:nvSpPr>
          <p:cNvPr id="10" name="Freeform 19">
            <a:extLst>
              <a:ext uri="{FF2B5EF4-FFF2-40B4-BE49-F238E27FC236}">
                <a16:creationId xmlns:a16="http://schemas.microsoft.com/office/drawing/2014/main" id="{F1A948ED-0C94-F1A6-4913-4D86383A68A9}"/>
              </a:ext>
            </a:extLst>
          </p:cNvPr>
          <p:cNvSpPr/>
          <p:nvPr/>
        </p:nvSpPr>
        <p:spPr>
          <a:xfrm>
            <a:off x="2755794" y="482142"/>
            <a:ext cx="4505721" cy="4664685"/>
          </a:xfrm>
          <a:custGeom>
            <a:avLst/>
            <a:gdLst/>
            <a:ahLst/>
            <a:cxnLst/>
            <a:rect l="l" t="t" r="r" b="b"/>
            <a:pathLst>
              <a:path w="1828583" h="1828583">
                <a:moveTo>
                  <a:pt x="0" y="0"/>
                </a:moveTo>
                <a:lnTo>
                  <a:pt x="1828582" y="0"/>
                </a:lnTo>
                <a:lnTo>
                  <a:pt x="1828582" y="1828583"/>
                </a:lnTo>
                <a:lnTo>
                  <a:pt x="0" y="1828583"/>
                </a:lnTo>
                <a:lnTo>
                  <a:pt x="0" y="0"/>
                </a:lnTo>
                <a:close/>
              </a:path>
            </a:pathLst>
          </a:custGeom>
          <a:blipFill>
            <a:blip>
              <a:alphaModFix amt="50000"/>
              <a:extLst>
                <a:ext uri="{96DAC541-7B7A-43D3-8B79-37D633B846F1}">
                  <asvg:svgBlip xmlns:asvg="http://schemas.microsoft.com/office/drawing/2016/SVG/main" r:embed="rId8"/>
                </a:ext>
              </a:extLst>
            </a:blip>
            <a:stretch>
              <a:fillRect/>
            </a:stretch>
          </a:blipFill>
        </p:spPr>
        <p:txBody>
          <a:bodyPr/>
          <a:lstStyle/>
          <a:p>
            <a:endParaRPr lang="en-US" dirty="0"/>
          </a:p>
        </p:txBody>
      </p:sp>
    </p:spTree>
    <p:extLst>
      <p:ext uri="{BB962C8B-B14F-4D97-AF65-F5344CB8AC3E}">
        <p14:creationId xmlns:p14="http://schemas.microsoft.com/office/powerpoint/2010/main" val="1018022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18567-14DA-DE3A-A0AC-6990590ADED1}"/>
            </a:ext>
          </a:extLst>
        </p:cNvPr>
        <p:cNvGrpSpPr/>
        <p:nvPr/>
      </p:nvGrpSpPr>
      <p:grpSpPr>
        <a:xfrm>
          <a:off x="0" y="0"/>
          <a:ext cx="0" cy="0"/>
          <a:chOff x="0" y="0"/>
          <a:chExt cx="0" cy="0"/>
        </a:xfrm>
      </p:grpSpPr>
      <p:sp>
        <p:nvSpPr>
          <p:cNvPr id="11" name="Freeform 2">
            <a:extLst>
              <a:ext uri="{FF2B5EF4-FFF2-40B4-BE49-F238E27FC236}">
                <a16:creationId xmlns:a16="http://schemas.microsoft.com/office/drawing/2014/main" id="{0CFD9142-C79E-06D5-336B-0543CE195EF1}"/>
              </a:ext>
            </a:extLst>
          </p:cNvPr>
          <p:cNvSpPr/>
          <p:nvPr/>
        </p:nvSpPr>
        <p:spPr>
          <a:xfrm>
            <a:off x="6372133" y="1807631"/>
            <a:ext cx="2771867" cy="3210039"/>
          </a:xfrm>
          <a:custGeom>
            <a:avLst/>
            <a:gdLst/>
            <a:ahLst/>
            <a:cxnLst/>
            <a:rect l="l" t="t" r="r" b="b"/>
            <a:pathLst>
              <a:path w="5543734" h="6420077">
                <a:moveTo>
                  <a:pt x="0" y="0"/>
                </a:moveTo>
                <a:lnTo>
                  <a:pt x="5543734" y="0"/>
                </a:lnTo>
                <a:lnTo>
                  <a:pt x="5543734" y="6420076"/>
                </a:lnTo>
                <a:lnTo>
                  <a:pt x="0" y="6420076"/>
                </a:lnTo>
                <a:lnTo>
                  <a:pt x="0" y="0"/>
                </a:lnTo>
                <a:close/>
              </a:path>
            </a:pathLst>
          </a:custGeom>
          <a:blipFill>
            <a:blip>
              <a:alphaModFix amt="30000"/>
              <a:extLst>
                <a:ext uri="{96DAC541-7B7A-43D3-8B79-37D633B846F1}">
                  <asvg:svgBlip xmlns:asvg="http://schemas.microsoft.com/office/drawing/2016/SVG/main" r:embed="rId3"/>
                </a:ext>
              </a:extLst>
            </a:blip>
            <a:stretch>
              <a:fillRect t="-18" r="-15829"/>
            </a:stretch>
          </a:blipFill>
        </p:spPr>
        <p:txBody>
          <a:bodyPr/>
          <a:lstStyle/>
          <a:p>
            <a:endParaRPr lang="en-US" sz="675"/>
          </a:p>
        </p:txBody>
      </p:sp>
      <p:sp>
        <p:nvSpPr>
          <p:cNvPr id="18" name="Freeform 3">
            <a:extLst>
              <a:ext uri="{FF2B5EF4-FFF2-40B4-BE49-F238E27FC236}">
                <a16:creationId xmlns:a16="http://schemas.microsoft.com/office/drawing/2014/main" id="{30C4A5F9-AC26-A8C4-7FB6-AB7EAEEDF116}"/>
              </a:ext>
            </a:extLst>
          </p:cNvPr>
          <p:cNvSpPr/>
          <p:nvPr/>
        </p:nvSpPr>
        <p:spPr>
          <a:xfrm>
            <a:off x="14015" y="28030"/>
            <a:ext cx="2113349" cy="2317405"/>
          </a:xfrm>
          <a:custGeom>
            <a:avLst/>
            <a:gdLst/>
            <a:ahLst/>
            <a:cxnLst/>
            <a:rect l="l" t="t" r="r" b="b"/>
            <a:pathLst>
              <a:path w="4226698" h="4634810">
                <a:moveTo>
                  <a:pt x="0" y="0"/>
                </a:moveTo>
                <a:lnTo>
                  <a:pt x="4226698" y="0"/>
                </a:lnTo>
                <a:lnTo>
                  <a:pt x="4226698" y="4634810"/>
                </a:lnTo>
                <a:lnTo>
                  <a:pt x="0" y="4634810"/>
                </a:lnTo>
                <a:lnTo>
                  <a:pt x="0" y="0"/>
                </a:lnTo>
                <a:close/>
              </a:path>
            </a:pathLst>
          </a:custGeom>
          <a:blipFill>
            <a:blip>
              <a:alphaModFix amt="30000"/>
              <a:extLst>
                <a:ext uri="{96DAC541-7B7A-43D3-8B79-37D633B846F1}">
                  <asvg:svgBlip xmlns:asvg="http://schemas.microsoft.com/office/drawing/2016/SVG/main" r:embed="rId3"/>
                </a:ext>
              </a:extLst>
            </a:blip>
            <a:stretch>
              <a:fillRect l="-10837" t="-1077"/>
            </a:stretch>
          </a:blipFill>
        </p:spPr>
        <p:txBody>
          <a:bodyPr/>
          <a:lstStyle/>
          <a:p>
            <a:endParaRPr lang="en-US" sz="675"/>
          </a:p>
        </p:txBody>
      </p:sp>
      <p:sp>
        <p:nvSpPr>
          <p:cNvPr id="2" name="Title 1">
            <a:extLst>
              <a:ext uri="{FF2B5EF4-FFF2-40B4-BE49-F238E27FC236}">
                <a16:creationId xmlns:a16="http://schemas.microsoft.com/office/drawing/2014/main" id="{E4F240F8-93B8-11A7-B4D2-FE61BFB1DEAD}"/>
              </a:ext>
            </a:extLst>
          </p:cNvPr>
          <p:cNvSpPr>
            <a:spLocks noGrp="1"/>
          </p:cNvSpPr>
          <p:nvPr>
            <p:ph type="title"/>
          </p:nvPr>
        </p:nvSpPr>
        <p:spPr>
          <a:xfrm>
            <a:off x="860806" y="253522"/>
            <a:ext cx="3274479" cy="493950"/>
          </a:xfrm>
        </p:spPr>
        <p:txBody>
          <a:bodyPr/>
          <a:lstStyle/>
          <a:p>
            <a:r>
              <a:rPr lang="en-GB" dirty="0"/>
              <a:t>Prototype Results</a:t>
            </a:r>
          </a:p>
        </p:txBody>
      </p:sp>
      <p:sp>
        <p:nvSpPr>
          <p:cNvPr id="3" name="Footer Placeholder 2">
            <a:extLst>
              <a:ext uri="{FF2B5EF4-FFF2-40B4-BE49-F238E27FC236}">
                <a16:creationId xmlns:a16="http://schemas.microsoft.com/office/drawing/2014/main" id="{7A475E19-EB08-8600-858A-759F75B5DFA5}"/>
              </a:ext>
            </a:extLst>
          </p:cNvPr>
          <p:cNvSpPr>
            <a:spLocks noGrp="1"/>
          </p:cNvSpPr>
          <p:nvPr>
            <p:ph type="ftr" sz="quarter" idx="10"/>
          </p:nvPr>
        </p:nvSpPr>
        <p:spPr/>
        <p:txBody>
          <a:bodyPr/>
          <a:lstStyle/>
          <a:p>
            <a:r>
              <a:rPr lang="en-US" dirty="0"/>
              <a:t>DHL |  Agent Viper| Chennai India | 03 July 2026</a:t>
            </a:r>
          </a:p>
        </p:txBody>
      </p:sp>
      <p:sp>
        <p:nvSpPr>
          <p:cNvPr id="4" name="Slide Number Placeholder 3">
            <a:extLst>
              <a:ext uri="{FF2B5EF4-FFF2-40B4-BE49-F238E27FC236}">
                <a16:creationId xmlns:a16="http://schemas.microsoft.com/office/drawing/2014/main" id="{C9E2C522-DAEE-9F5C-1050-943971D2D586}"/>
              </a:ext>
            </a:extLst>
          </p:cNvPr>
          <p:cNvSpPr>
            <a:spLocks noGrp="1"/>
          </p:cNvSpPr>
          <p:nvPr>
            <p:ph type="sldNum" sz="quarter" idx="11"/>
          </p:nvPr>
        </p:nvSpPr>
        <p:spPr/>
        <p:txBody>
          <a:bodyPr/>
          <a:lstStyle/>
          <a:p>
            <a:fld id="{C2245BC1-4D7B-4ED3-8F01-840FA35126C6}" type="slidenum">
              <a:rPr lang="en-US" smtClean="0"/>
              <a:pPr/>
              <a:t>7</a:t>
            </a:fld>
            <a:endParaRPr lang="en-US"/>
          </a:p>
        </p:txBody>
      </p:sp>
      <p:sp>
        <p:nvSpPr>
          <p:cNvPr id="20" name="Freeform 13">
            <a:extLst>
              <a:ext uri="{FF2B5EF4-FFF2-40B4-BE49-F238E27FC236}">
                <a16:creationId xmlns:a16="http://schemas.microsoft.com/office/drawing/2014/main" id="{5D1E2DC1-1C2F-502C-8E7A-4868DFEAEA59}"/>
              </a:ext>
            </a:extLst>
          </p:cNvPr>
          <p:cNvSpPr/>
          <p:nvPr/>
        </p:nvSpPr>
        <p:spPr>
          <a:xfrm>
            <a:off x="247769" y="374157"/>
            <a:ext cx="519139" cy="493950"/>
          </a:xfrm>
          <a:custGeom>
            <a:avLst/>
            <a:gdLst/>
            <a:ahLst/>
            <a:cxnLst/>
            <a:rect l="l" t="t" r="r" b="b"/>
            <a:pathLst>
              <a:path w="1612320" h="1547998">
                <a:moveTo>
                  <a:pt x="0" y="0"/>
                </a:moveTo>
                <a:lnTo>
                  <a:pt x="1612320" y="0"/>
                </a:lnTo>
                <a:lnTo>
                  <a:pt x="1612320" y="1547998"/>
                </a:lnTo>
                <a:lnTo>
                  <a:pt x="0" y="1547998"/>
                </a:lnTo>
                <a:lnTo>
                  <a:pt x="0" y="0"/>
                </a:lnTo>
                <a:close/>
              </a:path>
            </a:pathLst>
          </a:custGeom>
          <a:blipFill>
            <a:blip>
              <a:extLst>
                <a:ext uri="{96DAC541-7B7A-43D3-8B79-37D633B846F1}">
                  <asvg:svgBlip xmlns:asvg="http://schemas.microsoft.com/office/drawing/2016/SVG/main" r:embed="rId4"/>
                </a:ext>
              </a:extLst>
            </a:blip>
            <a:stretch>
              <a:fillRect l="2" r="-118209" b="-123"/>
            </a:stretch>
          </a:blipFill>
        </p:spPr>
        <p:txBody>
          <a:bodyPr/>
          <a:lstStyle/>
          <a:p>
            <a:endParaRPr lang="en-US"/>
          </a:p>
        </p:txBody>
      </p:sp>
      <p:sp>
        <p:nvSpPr>
          <p:cNvPr id="66" name="Text 10">
            <a:extLst>
              <a:ext uri="{FF2B5EF4-FFF2-40B4-BE49-F238E27FC236}">
                <a16:creationId xmlns:a16="http://schemas.microsoft.com/office/drawing/2014/main" id="{B62979D5-A846-DFF9-94C8-EAF6C6C23A76}"/>
              </a:ext>
            </a:extLst>
          </p:cNvPr>
          <p:cNvSpPr/>
          <p:nvPr/>
        </p:nvSpPr>
        <p:spPr>
          <a:xfrm>
            <a:off x="323998" y="2103294"/>
            <a:ext cx="3731291"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rgbClr val="FFFFFF"/>
                </a:solidFill>
                <a:ea typeface="Arial" pitchFamily="34" charset="-122"/>
                <a:cs typeface="Arial" pitchFamily="34" charset="-120"/>
              </a:rPr>
              <a:t>Scout Input</a:t>
            </a:r>
            <a:endParaRPr lang="en-US" sz="2400" dirty="0"/>
          </a:p>
        </p:txBody>
      </p:sp>
      <p:sp>
        <p:nvSpPr>
          <p:cNvPr id="8" name="Text 5">
            <a:extLst>
              <a:ext uri="{FF2B5EF4-FFF2-40B4-BE49-F238E27FC236}">
                <a16:creationId xmlns:a16="http://schemas.microsoft.com/office/drawing/2014/main" id="{7F8A3F18-6488-B605-8C2A-E9078B1793B7}"/>
              </a:ext>
            </a:extLst>
          </p:cNvPr>
          <p:cNvSpPr/>
          <p:nvPr/>
        </p:nvSpPr>
        <p:spPr>
          <a:xfrm>
            <a:off x="6210426" y="1310532"/>
            <a:ext cx="2532888" cy="352044"/>
          </a:xfrm>
          <a:prstGeom prst="rect">
            <a:avLst/>
          </a:prstGeom>
          <a:noFill/>
          <a:ln/>
        </p:spPr>
        <p:txBody>
          <a:bodyPr wrap="square" rtlCol="0" anchor="ctr"/>
          <a:lstStyle/>
          <a:p>
            <a:pPr marL="0" indent="0" algn="ctr">
              <a:buNone/>
            </a:pPr>
            <a:endParaRPr lang="en-US" sz="1000" dirty="0"/>
          </a:p>
        </p:txBody>
      </p:sp>
      <p:sp>
        <p:nvSpPr>
          <p:cNvPr id="32" name="TextBox 31">
            <a:extLst>
              <a:ext uri="{FF2B5EF4-FFF2-40B4-BE49-F238E27FC236}">
                <a16:creationId xmlns:a16="http://schemas.microsoft.com/office/drawing/2014/main" id="{9C8AD1D1-F10A-D8E6-D892-EBFC5ECB4A0A}"/>
              </a:ext>
            </a:extLst>
          </p:cNvPr>
          <p:cNvSpPr txBox="1"/>
          <p:nvPr/>
        </p:nvSpPr>
        <p:spPr>
          <a:xfrm>
            <a:off x="2452577" y="4543647"/>
            <a:ext cx="914400" cy="914400"/>
          </a:xfrm>
          <a:prstGeom prst="rect">
            <a:avLst/>
          </a:prstGeom>
          <a:noFill/>
        </p:spPr>
        <p:txBody>
          <a:bodyPr wrap="none" lIns="0" tIns="0" rIns="0" bIns="0" rtlCol="0">
            <a:noAutofit/>
          </a:bodyPr>
          <a:lstStyle/>
          <a:p>
            <a:pPr algn="l">
              <a:lnSpc>
                <a:spcPct val="110000"/>
              </a:lnSpc>
              <a:spcAft>
                <a:spcPts val="500"/>
              </a:spcAft>
            </a:pPr>
            <a:endParaRPr lang="en-US" sz="1200" dirty="0" err="1"/>
          </a:p>
        </p:txBody>
      </p:sp>
      <p:sp>
        <p:nvSpPr>
          <p:cNvPr id="33" name="TextBox 32">
            <a:extLst>
              <a:ext uri="{FF2B5EF4-FFF2-40B4-BE49-F238E27FC236}">
                <a16:creationId xmlns:a16="http://schemas.microsoft.com/office/drawing/2014/main" id="{FE91434E-8BE1-5EBA-1EAD-6B839976A1F1}"/>
              </a:ext>
            </a:extLst>
          </p:cNvPr>
          <p:cNvSpPr txBox="1"/>
          <p:nvPr/>
        </p:nvSpPr>
        <p:spPr>
          <a:xfrm>
            <a:off x="1896867" y="4447431"/>
            <a:ext cx="914400" cy="423542"/>
          </a:xfrm>
          <a:prstGeom prst="rect">
            <a:avLst/>
          </a:prstGeom>
          <a:noFill/>
        </p:spPr>
        <p:txBody>
          <a:bodyPr wrap="none" lIns="0" tIns="0" rIns="0" bIns="0" rtlCol="0">
            <a:noAutofit/>
          </a:bodyPr>
          <a:lstStyle/>
          <a:p>
            <a:pPr algn="l">
              <a:lnSpc>
                <a:spcPct val="110000"/>
              </a:lnSpc>
              <a:spcAft>
                <a:spcPts val="500"/>
              </a:spcAft>
            </a:pPr>
            <a:r>
              <a:rPr lang="en-US" sz="1100" dirty="0">
                <a:solidFill>
                  <a:srgbClr val="FFFFFF"/>
                </a:solidFill>
                <a:latin typeface="+mj-lt"/>
                <a:cs typeface="Arial" pitchFamily="34" charset="-120"/>
              </a:rPr>
              <a:t>Confirmed</a:t>
            </a:r>
            <a:r>
              <a:rPr lang="en-US" sz="1200" dirty="0">
                <a:solidFill>
                  <a:srgbClr val="FFFFFF"/>
                </a:solidFill>
                <a:latin typeface="+mj-lt"/>
              </a:rPr>
              <a:t> Findings</a:t>
            </a:r>
          </a:p>
          <a:p>
            <a:pPr algn="l">
              <a:lnSpc>
                <a:spcPct val="110000"/>
              </a:lnSpc>
              <a:spcAft>
                <a:spcPts val="500"/>
              </a:spcAft>
            </a:pPr>
            <a:endParaRPr lang="en-US" sz="1200" dirty="0" err="1"/>
          </a:p>
        </p:txBody>
      </p:sp>
      <p:sp>
        <p:nvSpPr>
          <p:cNvPr id="113" name="Text 33">
            <a:extLst>
              <a:ext uri="{FF2B5EF4-FFF2-40B4-BE49-F238E27FC236}">
                <a16:creationId xmlns:a16="http://schemas.microsoft.com/office/drawing/2014/main" id="{16FDD14A-FA77-1A16-A492-9A144A66FB1B}"/>
              </a:ext>
            </a:extLst>
          </p:cNvPr>
          <p:cNvSpPr/>
          <p:nvPr/>
        </p:nvSpPr>
        <p:spPr>
          <a:xfrm>
            <a:off x="274320" y="4005072"/>
            <a:ext cx="868680" cy="621792"/>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10</a:t>
            </a:r>
            <a:endParaRPr lang="en-US" sz="2800" dirty="0"/>
          </a:p>
        </p:txBody>
      </p:sp>
      <p:pic>
        <p:nvPicPr>
          <p:cNvPr id="117" name="Picture 116">
            <a:extLst>
              <a:ext uri="{FF2B5EF4-FFF2-40B4-BE49-F238E27FC236}">
                <a16:creationId xmlns:a16="http://schemas.microsoft.com/office/drawing/2014/main" id="{765B2522-A427-C2B8-068E-C0B60718AA58}"/>
              </a:ext>
            </a:extLst>
          </p:cNvPr>
          <p:cNvPicPr>
            <a:picLocks noChangeAspect="1"/>
          </p:cNvPicPr>
          <p:nvPr/>
        </p:nvPicPr>
        <p:blipFill>
          <a:blip r:embed="rId5"/>
          <a:stretch>
            <a:fillRect/>
          </a:stretch>
        </p:blipFill>
        <p:spPr>
          <a:xfrm>
            <a:off x="5703583" y="1184687"/>
            <a:ext cx="2863997" cy="2171812"/>
          </a:xfrm>
          <a:prstGeom prst="rect">
            <a:avLst/>
          </a:prstGeom>
        </p:spPr>
      </p:pic>
      <p:sp>
        <p:nvSpPr>
          <p:cNvPr id="118" name="Textplatzhalter 5">
            <a:extLst>
              <a:ext uri="{FF2B5EF4-FFF2-40B4-BE49-F238E27FC236}">
                <a16:creationId xmlns:a16="http://schemas.microsoft.com/office/drawing/2014/main" id="{E15ED3DC-6636-E273-21F1-8961D9E61BCB}"/>
              </a:ext>
            </a:extLst>
          </p:cNvPr>
          <p:cNvSpPr txBox="1">
            <a:spLocks/>
          </p:cNvSpPr>
          <p:nvPr/>
        </p:nvSpPr>
        <p:spPr bwMode="gray">
          <a:xfrm>
            <a:off x="5703583" y="790993"/>
            <a:ext cx="2616000" cy="216000"/>
          </a:xfrm>
          <a:prstGeom prst="rect">
            <a:avLst/>
          </a:prstGeom>
        </p:spPr>
        <p:txBody>
          <a:bodyPr lIns="0" tIns="0" rIns="0" bIns="0" anchor="t"/>
          <a:lstStyle/>
          <a:p>
            <a:pPr>
              <a:spcAft>
                <a:spcPts val="500"/>
              </a:spcAft>
              <a:buFont typeface="Arial" pitchFamily="34" charset="0"/>
              <a:buNone/>
              <a:defRPr/>
            </a:pPr>
            <a:r>
              <a:rPr lang="en-US" sz="1200" b="1" dirty="0">
                <a:solidFill>
                  <a:schemeClr val="accent4"/>
                </a:solidFill>
                <a:sym typeface="Delivery" panose="020F0503020204020204" pitchFamily="34" charset="0"/>
              </a:rPr>
              <a:t>LLM CONFIGURATION</a:t>
            </a:r>
          </a:p>
        </p:txBody>
      </p:sp>
      <p:cxnSp>
        <p:nvCxnSpPr>
          <p:cNvPr id="119" name="Gerade Verbindung 34">
            <a:extLst>
              <a:ext uri="{FF2B5EF4-FFF2-40B4-BE49-F238E27FC236}">
                <a16:creationId xmlns:a16="http://schemas.microsoft.com/office/drawing/2014/main" id="{72E44EA7-D1F0-5186-A863-F54766A5ADF7}"/>
              </a:ext>
            </a:extLst>
          </p:cNvPr>
          <p:cNvCxnSpPr>
            <a:cxnSpLocks/>
          </p:cNvCxnSpPr>
          <p:nvPr/>
        </p:nvCxnSpPr>
        <p:spPr bwMode="gray">
          <a:xfrm>
            <a:off x="5703583" y="1006993"/>
            <a:ext cx="2737948"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21" name="Text 26">
            <a:extLst>
              <a:ext uri="{FF2B5EF4-FFF2-40B4-BE49-F238E27FC236}">
                <a16:creationId xmlns:a16="http://schemas.microsoft.com/office/drawing/2014/main" id="{67871EE3-DD01-8F65-F57C-CCC866C34DCA}"/>
              </a:ext>
            </a:extLst>
          </p:cNvPr>
          <p:cNvSpPr/>
          <p:nvPr/>
        </p:nvSpPr>
        <p:spPr>
          <a:xfrm>
            <a:off x="5703583" y="3642193"/>
            <a:ext cx="2389635" cy="1828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solidFill>
                  <a:schemeClr val="accent4"/>
                </a:solidFill>
              </a:rPr>
              <a:t>Security By Design</a:t>
            </a:r>
            <a:r>
              <a:rPr lang="en-US" sz="800" b="1" kern="0" spc="300" dirty="0">
                <a:solidFill>
                  <a:srgbClr val="D40511"/>
                </a:solidFill>
                <a:latin typeface="Arial" pitchFamily="34" charset="0"/>
                <a:ea typeface="Arial" pitchFamily="34" charset="-122"/>
                <a:cs typeface="Arial" pitchFamily="34" charset="-120"/>
              </a:rPr>
              <a:t> </a:t>
            </a:r>
            <a:endParaRPr lang="en-US" sz="800" dirty="0"/>
          </a:p>
        </p:txBody>
      </p:sp>
      <p:cxnSp>
        <p:nvCxnSpPr>
          <p:cNvPr id="122" name="Gerade Verbindung 34">
            <a:extLst>
              <a:ext uri="{FF2B5EF4-FFF2-40B4-BE49-F238E27FC236}">
                <a16:creationId xmlns:a16="http://schemas.microsoft.com/office/drawing/2014/main" id="{A0BAC7EE-69D5-0A49-8A49-946DFCF7319E}"/>
              </a:ext>
            </a:extLst>
          </p:cNvPr>
          <p:cNvCxnSpPr>
            <a:cxnSpLocks/>
          </p:cNvCxnSpPr>
          <p:nvPr/>
        </p:nvCxnSpPr>
        <p:spPr bwMode="gray">
          <a:xfrm>
            <a:off x="5785448" y="3953871"/>
            <a:ext cx="2737948"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23" name="Shape 6">
            <a:extLst>
              <a:ext uri="{FF2B5EF4-FFF2-40B4-BE49-F238E27FC236}">
                <a16:creationId xmlns:a16="http://schemas.microsoft.com/office/drawing/2014/main" id="{AB2BBBA5-74C9-0BED-0691-33EE6C3AE022}"/>
              </a:ext>
            </a:extLst>
          </p:cNvPr>
          <p:cNvSpPr/>
          <p:nvPr/>
        </p:nvSpPr>
        <p:spPr>
          <a:xfrm>
            <a:off x="5800361" y="4073742"/>
            <a:ext cx="2641169" cy="758025"/>
          </a:xfrm>
          <a:prstGeom prst="rect">
            <a:avLst/>
          </a:prstGeom>
          <a:solidFill>
            <a:srgbClr val="FFFFFF"/>
          </a:solidFill>
          <a:ln w="6350">
            <a:solidFill>
              <a:srgbClr val="E5E5E5"/>
            </a:solidFill>
            <a:prstDash val="solid"/>
          </a:ln>
          <a:effectLst>
            <a:outerShdw algn="bl" rotWithShape="0">
              <a:srgbClr val="9AA0A6">
                <a:alpha val="0"/>
              </a:srgbClr>
            </a:outerShdw>
          </a:effectLst>
        </p:spPr>
        <p:txBody>
          <a:bodyPr/>
          <a:lstStyle/>
          <a:p>
            <a:endParaRPr lang="en-US"/>
          </a:p>
        </p:txBody>
      </p:sp>
      <p:sp>
        <p:nvSpPr>
          <p:cNvPr id="124" name="Text 7">
            <a:extLst>
              <a:ext uri="{FF2B5EF4-FFF2-40B4-BE49-F238E27FC236}">
                <a16:creationId xmlns:a16="http://schemas.microsoft.com/office/drawing/2014/main" id="{98A2285C-D4BF-4102-0266-018D1BCE23F8}"/>
              </a:ext>
            </a:extLst>
          </p:cNvPr>
          <p:cNvSpPr/>
          <p:nvPr/>
        </p:nvSpPr>
        <p:spPr>
          <a:xfrm>
            <a:off x="6108192" y="4032504"/>
            <a:ext cx="2114864" cy="594360"/>
          </a:xfrm>
          <a:prstGeom prst="rect">
            <a:avLst/>
          </a:prstGeom>
          <a:noFill/>
          <a:ln/>
        </p:spPr>
        <p:txBody>
          <a:bodyPr wrap="square" rtlCol="0" anchor="ctr"/>
          <a:lstStyle/>
          <a:p>
            <a:pPr marL="0" indent="0" algn="ctr">
              <a:buNone/>
            </a:pPr>
            <a:r>
              <a:rPr lang="en-US" sz="3200" b="1" dirty="0">
                <a:solidFill>
                  <a:srgbClr val="D40511"/>
                </a:solidFill>
                <a:latin typeface="Delivery Condensed Black" pitchFamily="34" charset="0"/>
                <a:ea typeface="Delivery Condensed Black" pitchFamily="34" charset="-122"/>
                <a:cs typeface="Delivery Condensed Black" pitchFamily="34" charset="-120"/>
              </a:rPr>
              <a:t>75%</a:t>
            </a:r>
            <a:endParaRPr lang="en-US" sz="3200" dirty="0"/>
          </a:p>
        </p:txBody>
      </p:sp>
      <p:sp>
        <p:nvSpPr>
          <p:cNvPr id="129" name="Text 11">
            <a:extLst>
              <a:ext uri="{FF2B5EF4-FFF2-40B4-BE49-F238E27FC236}">
                <a16:creationId xmlns:a16="http://schemas.microsoft.com/office/drawing/2014/main" id="{BE9C5F9D-D713-E3CE-7EDF-757A08DEF930}"/>
              </a:ext>
            </a:extLst>
          </p:cNvPr>
          <p:cNvSpPr/>
          <p:nvPr/>
        </p:nvSpPr>
        <p:spPr>
          <a:xfrm>
            <a:off x="5816423" y="4455596"/>
            <a:ext cx="2532888" cy="352044"/>
          </a:xfrm>
          <a:prstGeom prst="rect">
            <a:avLst/>
          </a:prstGeom>
          <a:noFill/>
          <a:ln/>
        </p:spPr>
        <p:txBody>
          <a:bodyPr wrap="square" rtlCol="0" anchor="ctr"/>
          <a:lstStyle/>
          <a:p>
            <a:pPr algn="ctr"/>
            <a:r>
              <a:rPr lang="en-US" sz="1000" dirty="0">
                <a:solidFill>
                  <a:srgbClr val="333333"/>
                </a:solidFill>
                <a:latin typeface="Delivery" pitchFamily="34" charset="0"/>
                <a:ea typeface="Delivery" pitchFamily="34" charset="-122"/>
                <a:cs typeface="Delivery" pitchFamily="34" charset="-120"/>
              </a:rPr>
              <a:t>Security by Design – Continuous SAST,  DAST, Threat Modeling</a:t>
            </a:r>
            <a:endParaRPr lang="en-US" sz="1000" dirty="0"/>
          </a:p>
        </p:txBody>
      </p:sp>
      <p:pic>
        <p:nvPicPr>
          <p:cNvPr id="285" name="Image 2" descr="preencoded.png">
            <a:extLst>
              <a:ext uri="{FF2B5EF4-FFF2-40B4-BE49-F238E27FC236}">
                <a16:creationId xmlns:a16="http://schemas.microsoft.com/office/drawing/2014/main" id="{4855F55E-E81B-E736-290E-9AF4D06B10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7520" y="918014"/>
            <a:ext cx="5143500" cy="2928938"/>
          </a:xfrm>
          <a:prstGeom prst="rect">
            <a:avLst/>
          </a:prstGeom>
        </p:spPr>
      </p:pic>
      <p:sp>
        <p:nvSpPr>
          <p:cNvPr id="286" name="Shape 4">
            <a:extLst>
              <a:ext uri="{FF2B5EF4-FFF2-40B4-BE49-F238E27FC236}">
                <a16:creationId xmlns:a16="http://schemas.microsoft.com/office/drawing/2014/main" id="{5F00419A-2738-66CB-69FC-8216C0B24DB7}"/>
              </a:ext>
            </a:extLst>
          </p:cNvPr>
          <p:cNvSpPr/>
          <p:nvPr/>
        </p:nvSpPr>
        <p:spPr>
          <a:xfrm>
            <a:off x="320370" y="1560951"/>
            <a:ext cx="5286375" cy="2314503"/>
          </a:xfrm>
          <a:prstGeom prst="roundRect">
            <a:avLst>
              <a:gd name="adj" fmla="val 2994"/>
            </a:avLst>
          </a:prstGeom>
          <a:ln w="19050">
            <a:solidFill>
              <a:srgbClr val="1B2D4E">
                <a:alpha val="45000"/>
              </a:srgbClr>
            </a:solidFill>
            <a:prstDash val="dash"/>
          </a:ln>
        </p:spPr>
        <p:txBody>
          <a:bodyPr/>
          <a:lstStyle/>
          <a:p>
            <a:endParaRPr lang="en-US" sz="1013"/>
          </a:p>
        </p:txBody>
      </p:sp>
      <p:sp>
        <p:nvSpPr>
          <p:cNvPr id="287" name="Shape 5">
            <a:extLst>
              <a:ext uri="{FF2B5EF4-FFF2-40B4-BE49-F238E27FC236}">
                <a16:creationId xmlns:a16="http://schemas.microsoft.com/office/drawing/2014/main" id="{60D10444-A40D-AAD3-22AF-07514ED4E1A4}"/>
              </a:ext>
            </a:extLst>
          </p:cNvPr>
          <p:cNvSpPr/>
          <p:nvPr/>
        </p:nvSpPr>
        <p:spPr>
          <a:xfrm>
            <a:off x="377520" y="918014"/>
            <a:ext cx="5143500" cy="314325"/>
          </a:xfrm>
          <a:prstGeom prst="rect">
            <a:avLst/>
          </a:prstGeom>
          <a:solidFill>
            <a:srgbClr val="FFCC00"/>
          </a:solidFill>
          <a:ln/>
        </p:spPr>
        <p:txBody>
          <a:bodyPr/>
          <a:lstStyle/>
          <a:p>
            <a:endParaRPr lang="en-US" sz="1013" dirty="0"/>
          </a:p>
        </p:txBody>
      </p:sp>
      <p:sp>
        <p:nvSpPr>
          <p:cNvPr id="288" name="Text 6">
            <a:extLst>
              <a:ext uri="{FF2B5EF4-FFF2-40B4-BE49-F238E27FC236}">
                <a16:creationId xmlns:a16="http://schemas.microsoft.com/office/drawing/2014/main" id="{287BA527-D7BB-4A04-23CA-739931BBE543}"/>
              </a:ext>
            </a:extLst>
          </p:cNvPr>
          <p:cNvSpPr/>
          <p:nvPr/>
        </p:nvSpPr>
        <p:spPr>
          <a:xfrm>
            <a:off x="2234895" y="962871"/>
            <a:ext cx="1171108" cy="128357"/>
          </a:xfrm>
          <a:prstGeom prst="rect">
            <a:avLst/>
          </a:prstGeom>
          <a:noFill/>
          <a:ln/>
        </p:spPr>
        <p:txBody>
          <a:bodyPr wrap="square" lIns="19050" tIns="19050" rIns="19050" bIns="19050" rtlCol="0" anchor="t">
            <a:noAutofit/>
          </a:bodyPr>
          <a:lstStyle/>
          <a:p>
            <a:r>
              <a:rPr lang="en-US" sz="1200" b="1" kern="0" spc="47" dirty="0">
                <a:latin typeface="+mj-lt"/>
                <a:ea typeface="Barlow" pitchFamily="34" charset="-122"/>
                <a:cs typeface="Barlow" pitchFamily="34" charset="-120"/>
              </a:rPr>
              <a:t>SCOUT INPUT</a:t>
            </a:r>
            <a:endParaRPr lang="en-US" sz="1200" dirty="0">
              <a:latin typeface="+mj-lt"/>
            </a:endParaRPr>
          </a:p>
        </p:txBody>
      </p:sp>
      <p:sp>
        <p:nvSpPr>
          <p:cNvPr id="289" name="Shape 7">
            <a:extLst>
              <a:ext uri="{FF2B5EF4-FFF2-40B4-BE49-F238E27FC236}">
                <a16:creationId xmlns:a16="http://schemas.microsoft.com/office/drawing/2014/main" id="{0C274CE1-C017-901B-AC6B-32910E04CB4D}"/>
              </a:ext>
            </a:extLst>
          </p:cNvPr>
          <p:cNvSpPr/>
          <p:nvPr/>
        </p:nvSpPr>
        <p:spPr>
          <a:xfrm>
            <a:off x="377520" y="1232339"/>
            <a:ext cx="5143500" cy="300038"/>
          </a:xfrm>
          <a:prstGeom prst="rect">
            <a:avLst/>
          </a:prstGeom>
          <a:solidFill>
            <a:srgbClr val="FFE57F"/>
          </a:solidFill>
          <a:ln/>
        </p:spPr>
        <p:txBody>
          <a:bodyPr/>
          <a:lstStyle/>
          <a:p>
            <a:endParaRPr lang="en-US" sz="1013" dirty="0"/>
          </a:p>
        </p:txBody>
      </p:sp>
      <p:sp>
        <p:nvSpPr>
          <p:cNvPr id="290" name="Shape 8">
            <a:extLst>
              <a:ext uri="{FF2B5EF4-FFF2-40B4-BE49-F238E27FC236}">
                <a16:creationId xmlns:a16="http://schemas.microsoft.com/office/drawing/2014/main" id="{1B5F1590-13C2-10E8-5CD0-0C066A477F43}"/>
              </a:ext>
            </a:extLst>
          </p:cNvPr>
          <p:cNvSpPr/>
          <p:nvPr/>
        </p:nvSpPr>
        <p:spPr>
          <a:xfrm>
            <a:off x="2945698" y="1232339"/>
            <a:ext cx="7144" cy="300038"/>
          </a:xfrm>
          <a:prstGeom prst="rect">
            <a:avLst/>
          </a:prstGeom>
          <a:solidFill>
            <a:schemeClr val="tx1">
              <a:alpha val="10000"/>
            </a:schemeClr>
          </a:solidFill>
          <a:ln/>
        </p:spPr>
        <p:txBody>
          <a:bodyPr/>
          <a:lstStyle/>
          <a:p>
            <a:endParaRPr lang="en-US" sz="1013" dirty="0"/>
          </a:p>
        </p:txBody>
      </p:sp>
      <p:sp>
        <p:nvSpPr>
          <p:cNvPr id="291" name="Shape 9">
            <a:extLst>
              <a:ext uri="{FF2B5EF4-FFF2-40B4-BE49-F238E27FC236}">
                <a16:creationId xmlns:a16="http://schemas.microsoft.com/office/drawing/2014/main" id="{BB74A395-BFC8-1CDB-C4B0-BB4CA1D81BB7}"/>
              </a:ext>
            </a:extLst>
          </p:cNvPr>
          <p:cNvSpPr/>
          <p:nvPr/>
        </p:nvSpPr>
        <p:spPr>
          <a:xfrm>
            <a:off x="777570" y="1232339"/>
            <a:ext cx="7144" cy="300038"/>
          </a:xfrm>
          <a:prstGeom prst="rect">
            <a:avLst/>
          </a:prstGeom>
          <a:solidFill>
            <a:schemeClr val="tx1">
              <a:alpha val="15000"/>
            </a:schemeClr>
          </a:solidFill>
          <a:ln/>
        </p:spPr>
        <p:txBody>
          <a:bodyPr/>
          <a:lstStyle/>
          <a:p>
            <a:endParaRPr lang="en-US" sz="1013"/>
          </a:p>
        </p:txBody>
      </p:sp>
      <p:sp>
        <p:nvSpPr>
          <p:cNvPr id="292" name="Text 10">
            <a:extLst>
              <a:ext uri="{FF2B5EF4-FFF2-40B4-BE49-F238E27FC236}">
                <a16:creationId xmlns:a16="http://schemas.microsoft.com/office/drawing/2014/main" id="{2E608D02-897D-D612-4C23-41D8780C9093}"/>
              </a:ext>
            </a:extLst>
          </p:cNvPr>
          <p:cNvSpPr/>
          <p:nvPr/>
        </p:nvSpPr>
        <p:spPr>
          <a:xfrm>
            <a:off x="520060" y="1303776"/>
            <a:ext cx="172008" cy="185738"/>
          </a:xfrm>
          <a:prstGeom prst="rect">
            <a:avLst/>
          </a:prstGeom>
          <a:noFill/>
          <a:ln/>
        </p:spPr>
        <p:txBody>
          <a:bodyPr wrap="square" lIns="19050" tIns="19050" rIns="19050" bIns="19050" rtlCol="0" anchor="t">
            <a:normAutofit lnSpcReduction="10000"/>
          </a:bodyPr>
          <a:lstStyle/>
          <a:p>
            <a:r>
              <a:rPr lang="en-US" sz="1013" b="1" dirty="0">
                <a:latin typeface="Barlow" pitchFamily="34" charset="0"/>
                <a:ea typeface="Barlow" pitchFamily="34" charset="-122"/>
                <a:cs typeface="Barlow" pitchFamily="34" charset="-120"/>
              </a:rPr>
              <a:t>15</a:t>
            </a:r>
            <a:endParaRPr lang="en-US" sz="1013" dirty="0"/>
          </a:p>
        </p:txBody>
      </p:sp>
      <p:sp>
        <p:nvSpPr>
          <p:cNvPr id="293" name="Text 11">
            <a:extLst>
              <a:ext uri="{FF2B5EF4-FFF2-40B4-BE49-F238E27FC236}">
                <a16:creationId xmlns:a16="http://schemas.microsoft.com/office/drawing/2014/main" id="{F5273423-B637-E7F5-36D9-757482D40A48}"/>
              </a:ext>
            </a:extLst>
          </p:cNvPr>
          <p:cNvSpPr/>
          <p:nvPr/>
        </p:nvSpPr>
        <p:spPr>
          <a:xfrm>
            <a:off x="870438" y="1339495"/>
            <a:ext cx="609529" cy="92869"/>
          </a:xfrm>
          <a:prstGeom prst="rect">
            <a:avLst/>
          </a:prstGeom>
          <a:noFill/>
          <a:ln/>
        </p:spPr>
        <p:txBody>
          <a:bodyPr wrap="square" lIns="19050" tIns="19050" rIns="19050" bIns="19050" rtlCol="0" anchor="t">
            <a:noAutofit/>
          </a:bodyPr>
          <a:lstStyle/>
          <a:p>
            <a:r>
              <a:rPr lang="en-US" sz="700" b="1" kern="0" spc="45" dirty="0">
                <a:ea typeface="Barlow" pitchFamily="34" charset="-122"/>
                <a:cs typeface="Barlow" pitchFamily="34" charset="-120"/>
              </a:rPr>
              <a:t>ENDPOINTS</a:t>
            </a:r>
            <a:endParaRPr lang="en-US" sz="700" dirty="0"/>
          </a:p>
        </p:txBody>
      </p:sp>
      <p:sp>
        <p:nvSpPr>
          <p:cNvPr id="294" name="Shape 12">
            <a:extLst>
              <a:ext uri="{FF2B5EF4-FFF2-40B4-BE49-F238E27FC236}">
                <a16:creationId xmlns:a16="http://schemas.microsoft.com/office/drawing/2014/main" id="{3A042E63-4FE3-1CD2-FAEC-4C48003697E4}"/>
              </a:ext>
            </a:extLst>
          </p:cNvPr>
          <p:cNvSpPr/>
          <p:nvPr/>
        </p:nvSpPr>
        <p:spPr>
          <a:xfrm>
            <a:off x="3352892" y="1232339"/>
            <a:ext cx="7144" cy="300038"/>
          </a:xfrm>
          <a:prstGeom prst="rect">
            <a:avLst/>
          </a:prstGeom>
          <a:solidFill>
            <a:srgbClr val="333333">
              <a:alpha val="15000"/>
            </a:srgbClr>
          </a:solidFill>
          <a:ln/>
        </p:spPr>
        <p:txBody>
          <a:bodyPr/>
          <a:lstStyle/>
          <a:p>
            <a:endParaRPr lang="en-US" sz="1013"/>
          </a:p>
        </p:txBody>
      </p:sp>
      <p:sp>
        <p:nvSpPr>
          <p:cNvPr id="295" name="Text 13">
            <a:extLst>
              <a:ext uri="{FF2B5EF4-FFF2-40B4-BE49-F238E27FC236}">
                <a16:creationId xmlns:a16="http://schemas.microsoft.com/office/drawing/2014/main" id="{205A0789-F271-E4CF-81D0-164282C3B306}"/>
              </a:ext>
            </a:extLst>
          </p:cNvPr>
          <p:cNvSpPr/>
          <p:nvPr/>
        </p:nvSpPr>
        <p:spPr>
          <a:xfrm>
            <a:off x="3095940" y="1303776"/>
            <a:ext cx="171004" cy="185738"/>
          </a:xfrm>
          <a:prstGeom prst="rect">
            <a:avLst/>
          </a:prstGeom>
          <a:noFill/>
          <a:ln/>
        </p:spPr>
        <p:txBody>
          <a:bodyPr wrap="square" lIns="19050" tIns="19050" rIns="19050" bIns="19050" rtlCol="0" anchor="t">
            <a:normAutofit lnSpcReduction="10000"/>
          </a:bodyPr>
          <a:lstStyle/>
          <a:p>
            <a:r>
              <a:rPr lang="en-US" sz="1013" b="1" dirty="0">
                <a:latin typeface="Barlow" pitchFamily="34" charset="0"/>
                <a:ea typeface="Barlow" pitchFamily="34" charset="-122"/>
                <a:cs typeface="Barlow" pitchFamily="34" charset="-120"/>
              </a:rPr>
              <a:t>17</a:t>
            </a:r>
            <a:endParaRPr lang="en-US" sz="1013" dirty="0"/>
          </a:p>
        </p:txBody>
      </p:sp>
      <p:sp>
        <p:nvSpPr>
          <p:cNvPr id="296" name="Text 14">
            <a:extLst>
              <a:ext uri="{FF2B5EF4-FFF2-40B4-BE49-F238E27FC236}">
                <a16:creationId xmlns:a16="http://schemas.microsoft.com/office/drawing/2014/main" id="{83A56698-5137-3A56-0ABA-2CE7521DA208}"/>
              </a:ext>
            </a:extLst>
          </p:cNvPr>
          <p:cNvSpPr/>
          <p:nvPr/>
        </p:nvSpPr>
        <p:spPr>
          <a:xfrm>
            <a:off x="3445761" y="1339495"/>
            <a:ext cx="609528" cy="106574"/>
          </a:xfrm>
          <a:prstGeom prst="rect">
            <a:avLst/>
          </a:prstGeom>
          <a:noFill/>
          <a:ln/>
        </p:spPr>
        <p:txBody>
          <a:bodyPr wrap="square" lIns="19050" tIns="19050" rIns="19050" bIns="19050" rtlCol="0" anchor="t">
            <a:noAutofit/>
          </a:bodyPr>
          <a:lstStyle/>
          <a:p>
            <a:r>
              <a:rPr lang="en-US" sz="700" b="1" kern="0" spc="45" dirty="0">
                <a:solidFill>
                  <a:schemeClr val="tx1">
                    <a:alpha val="70000"/>
                  </a:schemeClr>
                </a:solidFill>
                <a:ea typeface="Barlow" pitchFamily="34" charset="-122"/>
                <a:cs typeface="Barlow" pitchFamily="34" charset="-120"/>
              </a:rPr>
              <a:t>FINDINGS</a:t>
            </a:r>
            <a:endParaRPr lang="en-US" sz="700" dirty="0">
              <a:solidFill>
                <a:schemeClr val="tx1">
                  <a:alpha val="70000"/>
                </a:schemeClr>
              </a:solidFill>
            </a:endParaRPr>
          </a:p>
        </p:txBody>
      </p:sp>
      <p:sp>
        <p:nvSpPr>
          <p:cNvPr id="297" name="Shape 15">
            <a:extLst>
              <a:ext uri="{FF2B5EF4-FFF2-40B4-BE49-F238E27FC236}">
                <a16:creationId xmlns:a16="http://schemas.microsoft.com/office/drawing/2014/main" id="{0057D05D-56AD-9EE9-3868-C7B2602BB92B}"/>
              </a:ext>
            </a:extLst>
          </p:cNvPr>
          <p:cNvSpPr/>
          <p:nvPr/>
        </p:nvSpPr>
        <p:spPr>
          <a:xfrm>
            <a:off x="2234895" y="1632389"/>
            <a:ext cx="1428750" cy="285750"/>
          </a:xfrm>
          <a:prstGeom prst="roundRect">
            <a:avLst>
              <a:gd name="adj" fmla="val 15000"/>
            </a:avLst>
          </a:prstGeom>
          <a:solidFill>
            <a:srgbClr val="FFCC00"/>
          </a:solidFill>
          <a:ln/>
        </p:spPr>
        <p:txBody>
          <a:bodyPr/>
          <a:lstStyle/>
          <a:p>
            <a:endParaRPr lang="en-US" sz="1013"/>
          </a:p>
        </p:txBody>
      </p:sp>
      <p:sp>
        <p:nvSpPr>
          <p:cNvPr id="298" name="Text 16">
            <a:extLst>
              <a:ext uri="{FF2B5EF4-FFF2-40B4-BE49-F238E27FC236}">
                <a16:creationId xmlns:a16="http://schemas.microsoft.com/office/drawing/2014/main" id="{09CAC332-37CC-C22C-9C84-8E11E0DA2A02}"/>
              </a:ext>
            </a:extLst>
          </p:cNvPr>
          <p:cNvSpPr/>
          <p:nvPr/>
        </p:nvSpPr>
        <p:spPr>
          <a:xfrm>
            <a:off x="2452577" y="1678822"/>
            <a:ext cx="1175523" cy="207169"/>
          </a:xfrm>
          <a:prstGeom prst="rect">
            <a:avLst/>
          </a:prstGeom>
          <a:noFill/>
          <a:ln/>
        </p:spPr>
        <p:txBody>
          <a:bodyPr wrap="square" lIns="19050" tIns="19050" rIns="19050" bIns="19050" rtlCol="0" anchor="t">
            <a:noAutofit/>
          </a:bodyPr>
          <a:lstStyle/>
          <a:p>
            <a:r>
              <a:rPr lang="en-US" sz="1100" b="1" kern="0" spc="86" dirty="0">
                <a:latin typeface="+mj-lt"/>
                <a:ea typeface="Helvetica" pitchFamily="34" charset="-122"/>
                <a:cs typeface="Helvetica" pitchFamily="34" charset="-120"/>
              </a:rPr>
              <a:t>AGENT VIPER</a:t>
            </a:r>
            <a:endParaRPr lang="en-US" sz="1100" dirty="0">
              <a:latin typeface="+mj-lt"/>
            </a:endParaRPr>
          </a:p>
        </p:txBody>
      </p:sp>
      <p:sp>
        <p:nvSpPr>
          <p:cNvPr id="299" name="Shape 17">
            <a:extLst>
              <a:ext uri="{FF2B5EF4-FFF2-40B4-BE49-F238E27FC236}">
                <a16:creationId xmlns:a16="http://schemas.microsoft.com/office/drawing/2014/main" id="{B22C7A9C-2B75-AA2E-C1D9-4E3A7055D6E7}"/>
              </a:ext>
            </a:extLst>
          </p:cNvPr>
          <p:cNvSpPr/>
          <p:nvPr/>
        </p:nvSpPr>
        <p:spPr>
          <a:xfrm>
            <a:off x="385403" y="2032439"/>
            <a:ext cx="5143500" cy="300038"/>
          </a:xfrm>
          <a:prstGeom prst="roundRect">
            <a:avLst>
              <a:gd name="adj" fmla="val 14286"/>
            </a:avLst>
          </a:prstGeom>
          <a:solidFill>
            <a:srgbClr val="FFCC00"/>
          </a:solidFill>
          <a:ln/>
        </p:spPr>
        <p:txBody>
          <a:bodyPr/>
          <a:lstStyle/>
          <a:p>
            <a:endParaRPr lang="en-US" sz="1013" dirty="0"/>
          </a:p>
        </p:txBody>
      </p:sp>
      <p:sp>
        <p:nvSpPr>
          <p:cNvPr id="300" name="Shape 18">
            <a:extLst>
              <a:ext uri="{FF2B5EF4-FFF2-40B4-BE49-F238E27FC236}">
                <a16:creationId xmlns:a16="http://schemas.microsoft.com/office/drawing/2014/main" id="{8855337F-77EA-CB65-5E19-41DDC7D256C7}"/>
              </a:ext>
            </a:extLst>
          </p:cNvPr>
          <p:cNvSpPr/>
          <p:nvPr/>
        </p:nvSpPr>
        <p:spPr>
          <a:xfrm>
            <a:off x="834720" y="2032439"/>
            <a:ext cx="7144" cy="300038"/>
          </a:xfrm>
          <a:prstGeom prst="rect">
            <a:avLst/>
          </a:prstGeom>
          <a:solidFill>
            <a:schemeClr val="tx1">
              <a:alpha val="18000"/>
            </a:schemeClr>
          </a:solidFill>
          <a:ln/>
        </p:spPr>
        <p:txBody>
          <a:bodyPr/>
          <a:lstStyle/>
          <a:p>
            <a:endParaRPr lang="en-US" sz="1013"/>
          </a:p>
        </p:txBody>
      </p:sp>
      <p:sp>
        <p:nvSpPr>
          <p:cNvPr id="301" name="Text 19">
            <a:extLst>
              <a:ext uri="{FF2B5EF4-FFF2-40B4-BE49-F238E27FC236}">
                <a16:creationId xmlns:a16="http://schemas.microsoft.com/office/drawing/2014/main" id="{2B8B882E-F860-A96D-8005-2BD559DB30C1}"/>
              </a:ext>
            </a:extLst>
          </p:cNvPr>
          <p:cNvSpPr/>
          <p:nvPr/>
        </p:nvSpPr>
        <p:spPr>
          <a:xfrm>
            <a:off x="542830" y="2096733"/>
            <a:ext cx="183617" cy="200025"/>
          </a:xfrm>
          <a:prstGeom prst="rect">
            <a:avLst/>
          </a:prstGeom>
          <a:noFill/>
          <a:ln/>
        </p:spPr>
        <p:txBody>
          <a:bodyPr wrap="square" lIns="19050" tIns="19050" rIns="19050" bIns="19050" rtlCol="0" anchor="t">
            <a:normAutofit lnSpcReduction="10000"/>
          </a:bodyPr>
          <a:lstStyle/>
          <a:p>
            <a:r>
              <a:rPr lang="en-US" sz="1125" b="1" dirty="0">
                <a:latin typeface="Barlow" pitchFamily="34" charset="0"/>
                <a:ea typeface="Barlow" pitchFamily="34" charset="-122"/>
                <a:cs typeface="Barlow" pitchFamily="34" charset="-120"/>
              </a:rPr>
              <a:t>19</a:t>
            </a:r>
            <a:endParaRPr lang="en-US" sz="1125" dirty="0"/>
          </a:p>
        </p:txBody>
      </p:sp>
      <p:sp>
        <p:nvSpPr>
          <p:cNvPr id="302" name="Text 20">
            <a:extLst>
              <a:ext uri="{FF2B5EF4-FFF2-40B4-BE49-F238E27FC236}">
                <a16:creationId xmlns:a16="http://schemas.microsoft.com/office/drawing/2014/main" id="{11E97BAE-37AC-1332-FA4D-703555101D6E}"/>
              </a:ext>
            </a:extLst>
          </p:cNvPr>
          <p:cNvSpPr/>
          <p:nvPr/>
        </p:nvSpPr>
        <p:spPr>
          <a:xfrm>
            <a:off x="956163" y="2086018"/>
            <a:ext cx="1378733" cy="121444"/>
          </a:xfrm>
          <a:prstGeom prst="rect">
            <a:avLst/>
          </a:prstGeom>
          <a:noFill/>
          <a:ln/>
        </p:spPr>
        <p:txBody>
          <a:bodyPr wrap="square" lIns="19050" tIns="19050" rIns="19050" bIns="19050" rtlCol="0" anchor="t">
            <a:noAutofit/>
          </a:bodyPr>
          <a:lstStyle/>
          <a:p>
            <a:r>
              <a:rPr lang="en-US" sz="800" b="1" kern="0" spc="50" dirty="0">
                <a:ea typeface="Barlow" pitchFamily="34" charset="-122"/>
                <a:cs typeface="Barlow" pitchFamily="34" charset="-120"/>
              </a:rPr>
              <a:t>ENDPOINTS DISCOVERED</a:t>
            </a:r>
            <a:endParaRPr lang="en-US" sz="800" dirty="0"/>
          </a:p>
        </p:txBody>
      </p:sp>
      <p:sp>
        <p:nvSpPr>
          <p:cNvPr id="303" name="Text 21">
            <a:extLst>
              <a:ext uri="{FF2B5EF4-FFF2-40B4-BE49-F238E27FC236}">
                <a16:creationId xmlns:a16="http://schemas.microsoft.com/office/drawing/2014/main" id="{AC3FBFC4-6CC7-CCC2-4448-F4EBC9381C38}"/>
              </a:ext>
            </a:extLst>
          </p:cNvPr>
          <p:cNvSpPr/>
          <p:nvPr/>
        </p:nvSpPr>
        <p:spPr>
          <a:xfrm>
            <a:off x="956162" y="2193174"/>
            <a:ext cx="1989535" cy="89223"/>
          </a:xfrm>
          <a:prstGeom prst="rect">
            <a:avLst/>
          </a:prstGeom>
          <a:noFill/>
          <a:ln/>
        </p:spPr>
        <p:txBody>
          <a:bodyPr wrap="square" lIns="19050" tIns="19050" rIns="19050" bIns="19050" rtlCol="0" anchor="t">
            <a:noAutofit/>
          </a:bodyPr>
          <a:lstStyle/>
          <a:p>
            <a:r>
              <a:rPr lang="en-US" sz="800" dirty="0">
                <a:ea typeface="Barlow" pitchFamily="34" charset="-122"/>
                <a:cs typeface="Barlow" pitchFamily="34" charset="-120"/>
              </a:rPr>
              <a:t>19 total — 4 newly discovered during scan</a:t>
            </a:r>
            <a:endParaRPr lang="en-US" sz="800" dirty="0"/>
          </a:p>
        </p:txBody>
      </p:sp>
      <p:sp>
        <p:nvSpPr>
          <p:cNvPr id="304" name="Shape 22">
            <a:extLst>
              <a:ext uri="{FF2B5EF4-FFF2-40B4-BE49-F238E27FC236}">
                <a16:creationId xmlns:a16="http://schemas.microsoft.com/office/drawing/2014/main" id="{676E877E-35D4-A2BB-DE36-51AEC0B8836E}"/>
              </a:ext>
            </a:extLst>
          </p:cNvPr>
          <p:cNvSpPr/>
          <p:nvPr/>
        </p:nvSpPr>
        <p:spPr>
          <a:xfrm>
            <a:off x="377520" y="2446776"/>
            <a:ext cx="5143500" cy="300038"/>
          </a:xfrm>
          <a:prstGeom prst="rect">
            <a:avLst/>
          </a:prstGeom>
          <a:solidFill>
            <a:srgbClr val="FFCC00"/>
          </a:solidFill>
          <a:ln/>
        </p:spPr>
        <p:txBody>
          <a:bodyPr/>
          <a:lstStyle/>
          <a:p>
            <a:endParaRPr lang="en-US" sz="1013" dirty="0"/>
          </a:p>
        </p:txBody>
      </p:sp>
      <p:sp>
        <p:nvSpPr>
          <p:cNvPr id="305" name="Shape 23">
            <a:extLst>
              <a:ext uri="{FF2B5EF4-FFF2-40B4-BE49-F238E27FC236}">
                <a16:creationId xmlns:a16="http://schemas.microsoft.com/office/drawing/2014/main" id="{27367C60-86F9-FA8A-9A83-3EE6661E50B4}"/>
              </a:ext>
            </a:extLst>
          </p:cNvPr>
          <p:cNvSpPr/>
          <p:nvPr/>
        </p:nvSpPr>
        <p:spPr>
          <a:xfrm>
            <a:off x="834720" y="2446776"/>
            <a:ext cx="7144" cy="300038"/>
          </a:xfrm>
          <a:prstGeom prst="rect">
            <a:avLst/>
          </a:prstGeom>
          <a:solidFill>
            <a:srgbClr val="333333">
              <a:alpha val="18000"/>
            </a:srgbClr>
          </a:solidFill>
          <a:ln/>
        </p:spPr>
        <p:txBody>
          <a:bodyPr/>
          <a:lstStyle/>
          <a:p>
            <a:endParaRPr lang="en-US" sz="1013"/>
          </a:p>
        </p:txBody>
      </p:sp>
      <p:sp>
        <p:nvSpPr>
          <p:cNvPr id="306" name="Text 24">
            <a:extLst>
              <a:ext uri="{FF2B5EF4-FFF2-40B4-BE49-F238E27FC236}">
                <a16:creationId xmlns:a16="http://schemas.microsoft.com/office/drawing/2014/main" id="{1477B122-8ACB-DF2F-466B-3BBAED6BD028}"/>
              </a:ext>
            </a:extLst>
          </p:cNvPr>
          <p:cNvSpPr/>
          <p:nvPr/>
        </p:nvSpPr>
        <p:spPr>
          <a:xfrm>
            <a:off x="503317" y="2511070"/>
            <a:ext cx="262756" cy="200025"/>
          </a:xfrm>
          <a:prstGeom prst="rect">
            <a:avLst/>
          </a:prstGeom>
          <a:noFill/>
          <a:ln/>
        </p:spPr>
        <p:txBody>
          <a:bodyPr wrap="square" lIns="19050" tIns="19050" rIns="19050" bIns="19050" rtlCol="0" anchor="t">
            <a:normAutofit lnSpcReduction="10000"/>
          </a:bodyPr>
          <a:lstStyle/>
          <a:p>
            <a:r>
              <a:rPr lang="en-US" sz="1125" b="1" dirty="0">
                <a:latin typeface="Barlow" pitchFamily="34" charset="0"/>
              </a:rPr>
              <a:t>91</a:t>
            </a:r>
            <a:endParaRPr lang="en-US" sz="1125" dirty="0"/>
          </a:p>
        </p:txBody>
      </p:sp>
      <p:sp>
        <p:nvSpPr>
          <p:cNvPr id="307" name="Text 25">
            <a:extLst>
              <a:ext uri="{FF2B5EF4-FFF2-40B4-BE49-F238E27FC236}">
                <a16:creationId xmlns:a16="http://schemas.microsoft.com/office/drawing/2014/main" id="{3343458D-69A8-EA25-3C7E-66607A8610AA}"/>
              </a:ext>
            </a:extLst>
          </p:cNvPr>
          <p:cNvSpPr/>
          <p:nvPr/>
        </p:nvSpPr>
        <p:spPr>
          <a:xfrm>
            <a:off x="956163" y="2500355"/>
            <a:ext cx="2019416" cy="121444"/>
          </a:xfrm>
          <a:prstGeom prst="rect">
            <a:avLst/>
          </a:prstGeom>
          <a:noFill/>
          <a:ln/>
        </p:spPr>
        <p:txBody>
          <a:bodyPr wrap="square" lIns="19050" tIns="19050" rIns="19050" bIns="19050" rtlCol="0" anchor="t">
            <a:noAutofit/>
          </a:bodyPr>
          <a:lstStyle/>
          <a:p>
            <a:r>
              <a:rPr lang="en-US" sz="800" b="1" kern="0" spc="50" dirty="0">
                <a:latin typeface="+mj-lt"/>
              </a:rPr>
              <a:t>POSSIBLE</a:t>
            </a:r>
            <a:r>
              <a:rPr lang="en-US" sz="800" b="1" kern="0" spc="50" dirty="0">
                <a:latin typeface="+mj-lt"/>
                <a:ea typeface="Barlow" pitchFamily="34" charset="-122"/>
                <a:cs typeface="Barlow" pitchFamily="34" charset="-120"/>
              </a:rPr>
              <a:t> </a:t>
            </a:r>
            <a:r>
              <a:rPr lang="en-US" sz="800" b="1" kern="0" spc="50" dirty="0">
                <a:latin typeface="+mj-lt"/>
                <a:ea typeface="Delivery" panose="020F0503020204020204" pitchFamily="34" charset="0"/>
                <a:cs typeface="Delivery" panose="020F0503020204020204" pitchFamily="34" charset="0"/>
              </a:rPr>
              <a:t>FINDINGS</a:t>
            </a:r>
            <a:endParaRPr lang="en-US" sz="800" dirty="0">
              <a:latin typeface="+mj-lt"/>
              <a:ea typeface="Delivery" panose="020F0503020204020204" pitchFamily="34" charset="0"/>
              <a:cs typeface="Delivery" panose="020F0503020204020204" pitchFamily="34" charset="0"/>
            </a:endParaRPr>
          </a:p>
        </p:txBody>
      </p:sp>
      <p:sp>
        <p:nvSpPr>
          <p:cNvPr id="308" name="Text 26">
            <a:extLst>
              <a:ext uri="{FF2B5EF4-FFF2-40B4-BE49-F238E27FC236}">
                <a16:creationId xmlns:a16="http://schemas.microsoft.com/office/drawing/2014/main" id="{651795A8-FB7C-E0F0-6E77-7E520C0692CC}"/>
              </a:ext>
            </a:extLst>
          </p:cNvPr>
          <p:cNvSpPr/>
          <p:nvPr/>
        </p:nvSpPr>
        <p:spPr>
          <a:xfrm>
            <a:off x="956163" y="2607510"/>
            <a:ext cx="3000982" cy="167545"/>
          </a:xfrm>
          <a:prstGeom prst="rect">
            <a:avLst/>
          </a:prstGeom>
          <a:noFill/>
          <a:ln/>
        </p:spPr>
        <p:txBody>
          <a:bodyPr wrap="square" lIns="19050" tIns="19050" rIns="19050" bIns="19050" rtlCol="0" anchor="t">
            <a:noAutofit/>
          </a:bodyPr>
          <a:lstStyle/>
          <a:p>
            <a:r>
              <a:rPr lang="en-US" sz="800" dirty="0">
                <a:ea typeface="Barlow" pitchFamily="34" charset="-122"/>
                <a:cs typeface="Barlow" pitchFamily="34" charset="-120"/>
              </a:rPr>
              <a:t>Master set — Attack Chains &amp; Critical Advisory &amp; scout Finding Advisories are subsets</a:t>
            </a:r>
            <a:endParaRPr lang="en-US" sz="800" dirty="0"/>
          </a:p>
        </p:txBody>
      </p:sp>
      <p:sp>
        <p:nvSpPr>
          <p:cNvPr id="309" name="Shape 27">
            <a:extLst>
              <a:ext uri="{FF2B5EF4-FFF2-40B4-BE49-F238E27FC236}">
                <a16:creationId xmlns:a16="http://schemas.microsoft.com/office/drawing/2014/main" id="{B85F15AE-CB99-4E6D-1670-BAF01EEED0D6}"/>
              </a:ext>
            </a:extLst>
          </p:cNvPr>
          <p:cNvSpPr/>
          <p:nvPr/>
        </p:nvSpPr>
        <p:spPr>
          <a:xfrm>
            <a:off x="377520" y="2746814"/>
            <a:ext cx="5143500" cy="285750"/>
          </a:xfrm>
          <a:prstGeom prst="rect">
            <a:avLst/>
          </a:prstGeom>
          <a:solidFill>
            <a:srgbClr val="FFE57F"/>
          </a:solidFill>
          <a:ln/>
        </p:spPr>
        <p:txBody>
          <a:bodyPr/>
          <a:lstStyle/>
          <a:p>
            <a:endParaRPr lang="en-US" sz="1013" dirty="0"/>
          </a:p>
        </p:txBody>
      </p:sp>
      <p:sp>
        <p:nvSpPr>
          <p:cNvPr id="310" name="Shape 28">
            <a:extLst>
              <a:ext uri="{FF2B5EF4-FFF2-40B4-BE49-F238E27FC236}">
                <a16:creationId xmlns:a16="http://schemas.microsoft.com/office/drawing/2014/main" id="{499E5A87-EFE9-2597-0822-93DBC52A92D7}"/>
              </a:ext>
            </a:extLst>
          </p:cNvPr>
          <p:cNvSpPr/>
          <p:nvPr/>
        </p:nvSpPr>
        <p:spPr>
          <a:xfrm>
            <a:off x="2945698" y="2746814"/>
            <a:ext cx="7144" cy="285750"/>
          </a:xfrm>
          <a:prstGeom prst="rect">
            <a:avLst/>
          </a:prstGeom>
          <a:solidFill>
            <a:schemeClr val="accent5">
              <a:lumMod val="25000"/>
              <a:alpha val="10000"/>
            </a:schemeClr>
          </a:solidFill>
          <a:ln/>
        </p:spPr>
        <p:txBody>
          <a:bodyPr/>
          <a:lstStyle/>
          <a:p>
            <a:endParaRPr lang="en-US" sz="1013"/>
          </a:p>
        </p:txBody>
      </p:sp>
      <p:sp>
        <p:nvSpPr>
          <p:cNvPr id="311" name="Shape 29">
            <a:extLst>
              <a:ext uri="{FF2B5EF4-FFF2-40B4-BE49-F238E27FC236}">
                <a16:creationId xmlns:a16="http://schemas.microsoft.com/office/drawing/2014/main" id="{49A423F5-D105-93AB-9CB8-B73F98579560}"/>
              </a:ext>
            </a:extLst>
          </p:cNvPr>
          <p:cNvSpPr/>
          <p:nvPr/>
        </p:nvSpPr>
        <p:spPr>
          <a:xfrm>
            <a:off x="777570" y="2746814"/>
            <a:ext cx="7144" cy="285750"/>
          </a:xfrm>
          <a:prstGeom prst="rect">
            <a:avLst/>
          </a:prstGeom>
          <a:solidFill>
            <a:srgbClr val="333333">
              <a:alpha val="12000"/>
            </a:srgbClr>
          </a:solidFill>
          <a:ln/>
        </p:spPr>
        <p:txBody>
          <a:bodyPr/>
          <a:lstStyle/>
          <a:p>
            <a:endParaRPr lang="en-US" sz="1013"/>
          </a:p>
        </p:txBody>
      </p:sp>
      <p:sp>
        <p:nvSpPr>
          <p:cNvPr id="312" name="Text 30">
            <a:extLst>
              <a:ext uri="{FF2B5EF4-FFF2-40B4-BE49-F238E27FC236}">
                <a16:creationId xmlns:a16="http://schemas.microsoft.com/office/drawing/2014/main" id="{12ED66B5-9261-CA7E-3357-6E88ABC89275}"/>
              </a:ext>
            </a:extLst>
          </p:cNvPr>
          <p:cNvSpPr/>
          <p:nvPr/>
        </p:nvSpPr>
        <p:spPr>
          <a:xfrm>
            <a:off x="529548" y="2825395"/>
            <a:ext cx="153032" cy="157163"/>
          </a:xfrm>
          <a:prstGeom prst="rect">
            <a:avLst/>
          </a:prstGeom>
          <a:noFill/>
          <a:ln/>
        </p:spPr>
        <p:txBody>
          <a:bodyPr wrap="square" lIns="19050" tIns="19050" rIns="19050" bIns="19050" rtlCol="0" anchor="t">
            <a:normAutofit lnSpcReduction="10000"/>
          </a:bodyPr>
          <a:lstStyle/>
          <a:p>
            <a:r>
              <a:rPr lang="en-US" sz="844" b="1" dirty="0">
                <a:latin typeface="Barlow" pitchFamily="34" charset="0"/>
                <a:ea typeface="Barlow" pitchFamily="34" charset="-122"/>
                <a:cs typeface="Barlow" pitchFamily="34" charset="-120"/>
              </a:rPr>
              <a:t>13</a:t>
            </a:r>
            <a:endParaRPr lang="en-US" sz="844" dirty="0"/>
          </a:p>
        </p:txBody>
      </p:sp>
      <p:sp>
        <p:nvSpPr>
          <p:cNvPr id="313" name="Text 31">
            <a:extLst>
              <a:ext uri="{FF2B5EF4-FFF2-40B4-BE49-F238E27FC236}">
                <a16:creationId xmlns:a16="http://schemas.microsoft.com/office/drawing/2014/main" id="{F81B365E-C9D1-8B7F-0D67-B6F841D258CD}"/>
              </a:ext>
            </a:extLst>
          </p:cNvPr>
          <p:cNvSpPr/>
          <p:nvPr/>
        </p:nvSpPr>
        <p:spPr>
          <a:xfrm>
            <a:off x="870438" y="2850399"/>
            <a:ext cx="852897" cy="106924"/>
          </a:xfrm>
          <a:prstGeom prst="rect">
            <a:avLst/>
          </a:prstGeom>
          <a:noFill/>
          <a:ln/>
        </p:spPr>
        <p:txBody>
          <a:bodyPr wrap="square" lIns="19050" tIns="19050" rIns="19050" bIns="19050" rtlCol="0" anchor="t">
            <a:noAutofit/>
          </a:bodyPr>
          <a:lstStyle/>
          <a:p>
            <a:r>
              <a:rPr lang="en-US" sz="700" b="1" kern="0" spc="31" dirty="0">
                <a:ea typeface="Barlow" pitchFamily="34" charset="-122"/>
                <a:cs typeface="Barlow" pitchFamily="34" charset="-120"/>
              </a:rPr>
              <a:t>ATTACK CHAINS</a:t>
            </a:r>
            <a:endParaRPr lang="en-US" sz="700" dirty="0"/>
          </a:p>
        </p:txBody>
      </p:sp>
      <p:sp>
        <p:nvSpPr>
          <p:cNvPr id="314" name="Shape 32">
            <a:extLst>
              <a:ext uri="{FF2B5EF4-FFF2-40B4-BE49-F238E27FC236}">
                <a16:creationId xmlns:a16="http://schemas.microsoft.com/office/drawing/2014/main" id="{0923BD6C-50F7-5F93-7057-EE6AC32F0061}"/>
              </a:ext>
            </a:extLst>
          </p:cNvPr>
          <p:cNvSpPr/>
          <p:nvPr/>
        </p:nvSpPr>
        <p:spPr>
          <a:xfrm>
            <a:off x="3352892" y="2746814"/>
            <a:ext cx="7144" cy="285750"/>
          </a:xfrm>
          <a:prstGeom prst="rect">
            <a:avLst/>
          </a:prstGeom>
          <a:solidFill>
            <a:srgbClr val="FFFFFF">
              <a:alpha val="12000"/>
            </a:srgbClr>
          </a:solidFill>
          <a:ln/>
        </p:spPr>
        <p:txBody>
          <a:bodyPr/>
          <a:lstStyle/>
          <a:p>
            <a:endParaRPr lang="en-US" sz="1013"/>
          </a:p>
        </p:txBody>
      </p:sp>
      <p:sp>
        <p:nvSpPr>
          <p:cNvPr id="315" name="Text 33">
            <a:extLst>
              <a:ext uri="{FF2B5EF4-FFF2-40B4-BE49-F238E27FC236}">
                <a16:creationId xmlns:a16="http://schemas.microsoft.com/office/drawing/2014/main" id="{B91F1CFE-31C3-7EC4-4E51-1E3E7EF72FC6}"/>
              </a:ext>
            </a:extLst>
          </p:cNvPr>
          <p:cNvSpPr/>
          <p:nvPr/>
        </p:nvSpPr>
        <p:spPr>
          <a:xfrm>
            <a:off x="3101410" y="2825395"/>
            <a:ext cx="159953" cy="157163"/>
          </a:xfrm>
          <a:prstGeom prst="rect">
            <a:avLst/>
          </a:prstGeom>
          <a:noFill/>
          <a:ln/>
        </p:spPr>
        <p:txBody>
          <a:bodyPr wrap="square" lIns="19050" tIns="19050" rIns="19050" bIns="19050" rtlCol="0" anchor="t">
            <a:normAutofit lnSpcReduction="10000"/>
          </a:bodyPr>
          <a:lstStyle/>
          <a:p>
            <a:r>
              <a:rPr lang="en-US" sz="844" b="1" dirty="0">
                <a:latin typeface="Barlow" pitchFamily="34" charset="0"/>
                <a:ea typeface="Barlow" pitchFamily="34" charset="-122"/>
                <a:cs typeface="Barlow" pitchFamily="34" charset="-120"/>
              </a:rPr>
              <a:t>14</a:t>
            </a:r>
            <a:endParaRPr lang="en-US" sz="844" dirty="0"/>
          </a:p>
        </p:txBody>
      </p:sp>
      <p:sp>
        <p:nvSpPr>
          <p:cNvPr id="316" name="Text 34">
            <a:extLst>
              <a:ext uri="{FF2B5EF4-FFF2-40B4-BE49-F238E27FC236}">
                <a16:creationId xmlns:a16="http://schemas.microsoft.com/office/drawing/2014/main" id="{47426337-AEA6-F0E3-BD29-A81C3E340707}"/>
              </a:ext>
            </a:extLst>
          </p:cNvPr>
          <p:cNvSpPr/>
          <p:nvPr/>
        </p:nvSpPr>
        <p:spPr>
          <a:xfrm>
            <a:off x="3445761" y="2850399"/>
            <a:ext cx="1068214" cy="82385"/>
          </a:xfrm>
          <a:prstGeom prst="rect">
            <a:avLst/>
          </a:prstGeom>
          <a:noFill/>
          <a:ln/>
        </p:spPr>
        <p:txBody>
          <a:bodyPr wrap="square" lIns="19050" tIns="19050" rIns="19050" bIns="19050" rtlCol="0" anchor="t">
            <a:noAutofit/>
          </a:bodyPr>
          <a:lstStyle/>
          <a:p>
            <a:r>
              <a:rPr lang="en-US" sz="700" b="1" kern="0" spc="31" dirty="0">
                <a:latin typeface="+mj-lt"/>
                <a:ea typeface="Barlow" pitchFamily="34" charset="-122"/>
                <a:cs typeface="Barlow" pitchFamily="34" charset="-120"/>
              </a:rPr>
              <a:t>CRITICAL ADVISORY</a:t>
            </a:r>
            <a:endParaRPr lang="en-US" sz="700" dirty="0">
              <a:latin typeface="+mj-lt"/>
            </a:endParaRPr>
          </a:p>
        </p:txBody>
      </p:sp>
      <p:sp>
        <p:nvSpPr>
          <p:cNvPr id="317" name="Shape 35">
            <a:extLst>
              <a:ext uri="{FF2B5EF4-FFF2-40B4-BE49-F238E27FC236}">
                <a16:creationId xmlns:a16="http://schemas.microsoft.com/office/drawing/2014/main" id="{CFAB2025-43CB-86CB-CB9F-F0BC0224845D}"/>
              </a:ext>
            </a:extLst>
          </p:cNvPr>
          <p:cNvSpPr/>
          <p:nvPr/>
        </p:nvSpPr>
        <p:spPr>
          <a:xfrm>
            <a:off x="377520" y="3175439"/>
            <a:ext cx="2514600" cy="614363"/>
          </a:xfrm>
          <a:prstGeom prst="roundRect">
            <a:avLst>
              <a:gd name="adj" fmla="val 9302"/>
            </a:avLst>
          </a:prstGeom>
          <a:solidFill>
            <a:srgbClr val="FFCC00"/>
          </a:solidFill>
          <a:ln/>
        </p:spPr>
        <p:txBody>
          <a:bodyPr/>
          <a:lstStyle/>
          <a:p>
            <a:endParaRPr lang="en-US" sz="1013" dirty="0"/>
          </a:p>
        </p:txBody>
      </p:sp>
      <p:sp>
        <p:nvSpPr>
          <p:cNvPr id="318" name="Shape 36">
            <a:extLst>
              <a:ext uri="{FF2B5EF4-FFF2-40B4-BE49-F238E27FC236}">
                <a16:creationId xmlns:a16="http://schemas.microsoft.com/office/drawing/2014/main" id="{7C964BD0-4B70-46F6-30B9-2491B7557866}"/>
              </a:ext>
            </a:extLst>
          </p:cNvPr>
          <p:cNvSpPr/>
          <p:nvPr/>
        </p:nvSpPr>
        <p:spPr>
          <a:xfrm>
            <a:off x="949020" y="3175439"/>
            <a:ext cx="7144" cy="614363"/>
          </a:xfrm>
          <a:prstGeom prst="rect">
            <a:avLst/>
          </a:prstGeom>
          <a:solidFill>
            <a:srgbClr val="333333">
              <a:alpha val="18000"/>
            </a:srgbClr>
          </a:solidFill>
          <a:ln/>
        </p:spPr>
        <p:txBody>
          <a:bodyPr/>
          <a:lstStyle/>
          <a:p>
            <a:endParaRPr lang="en-US" sz="1013"/>
          </a:p>
        </p:txBody>
      </p:sp>
      <p:sp>
        <p:nvSpPr>
          <p:cNvPr id="319" name="Text 37">
            <a:extLst>
              <a:ext uri="{FF2B5EF4-FFF2-40B4-BE49-F238E27FC236}">
                <a16:creationId xmlns:a16="http://schemas.microsoft.com/office/drawing/2014/main" id="{5FF7EF15-EF1B-26B0-CFE9-67FD33BC721E}"/>
              </a:ext>
            </a:extLst>
          </p:cNvPr>
          <p:cNvSpPr/>
          <p:nvPr/>
        </p:nvSpPr>
        <p:spPr>
          <a:xfrm>
            <a:off x="573750" y="3361176"/>
            <a:ext cx="236078" cy="271463"/>
          </a:xfrm>
          <a:prstGeom prst="rect">
            <a:avLst/>
          </a:prstGeom>
          <a:noFill/>
          <a:ln/>
        </p:spPr>
        <p:txBody>
          <a:bodyPr wrap="square" lIns="19050" tIns="19050" rIns="19050" bIns="19050" rtlCol="0" anchor="t">
            <a:normAutofit lnSpcReduction="10000"/>
          </a:bodyPr>
          <a:lstStyle/>
          <a:p>
            <a:r>
              <a:rPr lang="en-US" sz="1575" b="1" dirty="0">
                <a:latin typeface="Barlow" pitchFamily="34" charset="0"/>
                <a:ea typeface="Barlow" pitchFamily="34" charset="-122"/>
                <a:cs typeface="Barlow" pitchFamily="34" charset="-120"/>
              </a:rPr>
              <a:t>13</a:t>
            </a:r>
            <a:endParaRPr lang="en-US" sz="1575" dirty="0"/>
          </a:p>
        </p:txBody>
      </p:sp>
      <p:sp>
        <p:nvSpPr>
          <p:cNvPr id="320" name="Text 38">
            <a:extLst>
              <a:ext uri="{FF2B5EF4-FFF2-40B4-BE49-F238E27FC236}">
                <a16:creationId xmlns:a16="http://schemas.microsoft.com/office/drawing/2014/main" id="{132C9A7D-46D8-DDE0-30A5-6DAFC0558C31}"/>
              </a:ext>
            </a:extLst>
          </p:cNvPr>
          <p:cNvSpPr/>
          <p:nvPr/>
        </p:nvSpPr>
        <p:spPr>
          <a:xfrm>
            <a:off x="1056176" y="3375464"/>
            <a:ext cx="1096331" cy="121444"/>
          </a:xfrm>
          <a:prstGeom prst="rect">
            <a:avLst/>
          </a:prstGeom>
          <a:noFill/>
          <a:ln/>
        </p:spPr>
        <p:txBody>
          <a:bodyPr wrap="square" lIns="19050" tIns="19050" rIns="19050" bIns="19050" rtlCol="0" anchor="t">
            <a:noAutofit/>
          </a:bodyPr>
          <a:lstStyle/>
          <a:p>
            <a:r>
              <a:rPr lang="en-US" sz="800" b="1" kern="0" spc="44" dirty="0">
                <a:ea typeface="Barlow" pitchFamily="34" charset="-122"/>
                <a:cs typeface="Barlow" pitchFamily="34" charset="-120"/>
              </a:rPr>
              <a:t>ATTACK CHAINS</a:t>
            </a:r>
            <a:endParaRPr lang="en-US" sz="800" dirty="0"/>
          </a:p>
        </p:txBody>
      </p:sp>
      <p:sp>
        <p:nvSpPr>
          <p:cNvPr id="321" name="Text 39">
            <a:extLst>
              <a:ext uri="{FF2B5EF4-FFF2-40B4-BE49-F238E27FC236}">
                <a16:creationId xmlns:a16="http://schemas.microsoft.com/office/drawing/2014/main" id="{8DCDB2F2-DCEC-C1F8-2286-AB0597A86239}"/>
              </a:ext>
            </a:extLst>
          </p:cNvPr>
          <p:cNvSpPr/>
          <p:nvPr/>
        </p:nvSpPr>
        <p:spPr>
          <a:xfrm>
            <a:off x="1056176" y="3496907"/>
            <a:ext cx="1484893" cy="135731"/>
          </a:xfrm>
          <a:prstGeom prst="rect">
            <a:avLst/>
          </a:prstGeom>
          <a:noFill/>
          <a:ln/>
        </p:spPr>
        <p:txBody>
          <a:bodyPr wrap="square" lIns="19050" tIns="19050" rIns="19050" bIns="19050" rtlCol="0" anchor="t">
            <a:noAutofit/>
          </a:bodyPr>
          <a:lstStyle/>
          <a:p>
            <a:r>
              <a:rPr lang="en-US" sz="800" dirty="0">
                <a:ea typeface="Barlow" pitchFamily="34" charset="-122"/>
                <a:cs typeface="Barlow" pitchFamily="34" charset="-120"/>
              </a:rPr>
              <a:t>Subset of 91 master set</a:t>
            </a:r>
            <a:endParaRPr lang="en-US" sz="800" dirty="0"/>
          </a:p>
        </p:txBody>
      </p:sp>
      <p:sp>
        <p:nvSpPr>
          <p:cNvPr id="322" name="Shape 40">
            <a:extLst>
              <a:ext uri="{FF2B5EF4-FFF2-40B4-BE49-F238E27FC236}">
                <a16:creationId xmlns:a16="http://schemas.microsoft.com/office/drawing/2014/main" id="{43986386-AF0D-B07C-8F7E-C6637B2105DF}"/>
              </a:ext>
            </a:extLst>
          </p:cNvPr>
          <p:cNvSpPr/>
          <p:nvPr/>
        </p:nvSpPr>
        <p:spPr>
          <a:xfrm>
            <a:off x="3006420" y="3175439"/>
            <a:ext cx="2514600" cy="314325"/>
          </a:xfrm>
          <a:prstGeom prst="rect">
            <a:avLst/>
          </a:prstGeom>
          <a:solidFill>
            <a:srgbClr val="FFCC00"/>
          </a:solidFill>
          <a:ln/>
        </p:spPr>
        <p:txBody>
          <a:bodyPr/>
          <a:lstStyle/>
          <a:p>
            <a:endParaRPr lang="en-US" sz="1013"/>
          </a:p>
        </p:txBody>
      </p:sp>
      <p:sp>
        <p:nvSpPr>
          <p:cNvPr id="323" name="Shape 41">
            <a:extLst>
              <a:ext uri="{FF2B5EF4-FFF2-40B4-BE49-F238E27FC236}">
                <a16:creationId xmlns:a16="http://schemas.microsoft.com/office/drawing/2014/main" id="{3935CE6C-E7EB-3685-4573-2CF295394D7C}"/>
              </a:ext>
            </a:extLst>
          </p:cNvPr>
          <p:cNvSpPr/>
          <p:nvPr/>
        </p:nvSpPr>
        <p:spPr>
          <a:xfrm>
            <a:off x="3577920" y="3175439"/>
            <a:ext cx="7144" cy="314325"/>
          </a:xfrm>
          <a:prstGeom prst="rect">
            <a:avLst/>
          </a:prstGeom>
          <a:solidFill>
            <a:srgbClr val="1B2D4E">
              <a:alpha val="18000"/>
            </a:srgbClr>
          </a:solidFill>
          <a:ln/>
        </p:spPr>
        <p:txBody>
          <a:bodyPr/>
          <a:lstStyle/>
          <a:p>
            <a:endParaRPr lang="en-US" sz="1013"/>
          </a:p>
        </p:txBody>
      </p:sp>
      <p:sp>
        <p:nvSpPr>
          <p:cNvPr id="324" name="Text 42">
            <a:extLst>
              <a:ext uri="{FF2B5EF4-FFF2-40B4-BE49-F238E27FC236}">
                <a16:creationId xmlns:a16="http://schemas.microsoft.com/office/drawing/2014/main" id="{876818FE-242A-1E61-3661-BA7DB586A354}"/>
              </a:ext>
            </a:extLst>
          </p:cNvPr>
          <p:cNvSpPr/>
          <p:nvPr/>
        </p:nvSpPr>
        <p:spPr>
          <a:xfrm>
            <a:off x="3203096" y="3221873"/>
            <a:ext cx="235298" cy="250031"/>
          </a:xfrm>
          <a:prstGeom prst="rect">
            <a:avLst/>
          </a:prstGeom>
          <a:noFill/>
          <a:ln/>
        </p:spPr>
        <p:txBody>
          <a:bodyPr wrap="square" lIns="19050" tIns="19050" rIns="19050" bIns="19050" rtlCol="0" anchor="t">
            <a:normAutofit lnSpcReduction="10000"/>
          </a:bodyPr>
          <a:lstStyle/>
          <a:p>
            <a:r>
              <a:rPr lang="en-US" sz="1463" b="1" dirty="0">
                <a:latin typeface="Barlow" pitchFamily="34" charset="0"/>
                <a:ea typeface="Barlow" pitchFamily="34" charset="-122"/>
                <a:cs typeface="Barlow" pitchFamily="34" charset="-120"/>
              </a:rPr>
              <a:t>14</a:t>
            </a:r>
            <a:endParaRPr lang="en-US" sz="1463" dirty="0"/>
          </a:p>
        </p:txBody>
      </p:sp>
      <p:sp>
        <p:nvSpPr>
          <p:cNvPr id="325" name="Text 43">
            <a:extLst>
              <a:ext uri="{FF2B5EF4-FFF2-40B4-BE49-F238E27FC236}">
                <a16:creationId xmlns:a16="http://schemas.microsoft.com/office/drawing/2014/main" id="{9C08D364-93D2-2B35-90DC-6F952D070DC1}"/>
              </a:ext>
            </a:extLst>
          </p:cNvPr>
          <p:cNvSpPr/>
          <p:nvPr/>
        </p:nvSpPr>
        <p:spPr>
          <a:xfrm>
            <a:off x="3685076" y="3236161"/>
            <a:ext cx="1132028" cy="75009"/>
          </a:xfrm>
          <a:prstGeom prst="rect">
            <a:avLst/>
          </a:prstGeom>
          <a:noFill/>
          <a:ln/>
        </p:spPr>
        <p:txBody>
          <a:bodyPr wrap="square" lIns="19050" tIns="19050" rIns="19050" bIns="19050" rtlCol="0" anchor="t">
            <a:noAutofit/>
          </a:bodyPr>
          <a:lstStyle/>
          <a:p>
            <a:r>
              <a:rPr lang="en-US" sz="800" b="1" kern="0" spc="44" dirty="0">
                <a:latin typeface="+mj-lt"/>
                <a:ea typeface="Barlow" pitchFamily="34" charset="-122"/>
                <a:cs typeface="Barlow" pitchFamily="34" charset="-120"/>
              </a:rPr>
              <a:t>CRITICAL ADVISORY</a:t>
            </a:r>
            <a:endParaRPr lang="en-US" sz="800" dirty="0">
              <a:latin typeface="+mj-lt"/>
            </a:endParaRPr>
          </a:p>
        </p:txBody>
      </p:sp>
      <p:sp>
        <p:nvSpPr>
          <p:cNvPr id="326" name="Text 44">
            <a:extLst>
              <a:ext uri="{FF2B5EF4-FFF2-40B4-BE49-F238E27FC236}">
                <a16:creationId xmlns:a16="http://schemas.microsoft.com/office/drawing/2014/main" id="{CF3EA81B-2E30-67CF-CD00-1816A541E5E6}"/>
              </a:ext>
            </a:extLst>
          </p:cNvPr>
          <p:cNvSpPr/>
          <p:nvPr/>
        </p:nvSpPr>
        <p:spPr>
          <a:xfrm>
            <a:off x="3685075" y="3343316"/>
            <a:ext cx="1442087" cy="124583"/>
          </a:xfrm>
          <a:prstGeom prst="rect">
            <a:avLst/>
          </a:prstGeom>
          <a:noFill/>
          <a:ln/>
        </p:spPr>
        <p:txBody>
          <a:bodyPr wrap="square" lIns="19050" tIns="19050" rIns="19050" bIns="19050" rtlCol="0" anchor="t">
            <a:noAutofit/>
          </a:bodyPr>
          <a:lstStyle/>
          <a:p>
            <a:r>
              <a:rPr lang="en-US" sz="700" dirty="0">
                <a:ea typeface="Barlow" pitchFamily="34" charset="-122"/>
                <a:cs typeface="Barlow" pitchFamily="34" charset="-120"/>
              </a:rPr>
              <a:t>Subset of 91 master set</a:t>
            </a:r>
            <a:endParaRPr lang="en-US" sz="700" dirty="0"/>
          </a:p>
        </p:txBody>
      </p:sp>
      <p:sp>
        <p:nvSpPr>
          <p:cNvPr id="327" name="Shape 45">
            <a:extLst>
              <a:ext uri="{FF2B5EF4-FFF2-40B4-BE49-F238E27FC236}">
                <a16:creationId xmlns:a16="http://schemas.microsoft.com/office/drawing/2014/main" id="{B3880E99-353A-3FD9-387C-8DDCA503D782}"/>
              </a:ext>
            </a:extLst>
          </p:cNvPr>
          <p:cNvSpPr/>
          <p:nvPr/>
        </p:nvSpPr>
        <p:spPr>
          <a:xfrm>
            <a:off x="3006420" y="3489764"/>
            <a:ext cx="2514600" cy="300038"/>
          </a:xfrm>
          <a:prstGeom prst="rect">
            <a:avLst/>
          </a:prstGeom>
          <a:solidFill>
            <a:srgbClr val="FFE57F"/>
          </a:solidFill>
          <a:ln/>
        </p:spPr>
        <p:txBody>
          <a:bodyPr/>
          <a:lstStyle/>
          <a:p>
            <a:endParaRPr lang="en-US" sz="1013" dirty="0"/>
          </a:p>
        </p:txBody>
      </p:sp>
      <p:sp>
        <p:nvSpPr>
          <p:cNvPr id="328" name="Shape 46">
            <a:extLst>
              <a:ext uri="{FF2B5EF4-FFF2-40B4-BE49-F238E27FC236}">
                <a16:creationId xmlns:a16="http://schemas.microsoft.com/office/drawing/2014/main" id="{3A4D6FDD-168C-663B-0E6E-F2ACEE25BE3B}"/>
              </a:ext>
            </a:extLst>
          </p:cNvPr>
          <p:cNvSpPr/>
          <p:nvPr/>
        </p:nvSpPr>
        <p:spPr>
          <a:xfrm>
            <a:off x="4260148" y="3489764"/>
            <a:ext cx="7144" cy="300038"/>
          </a:xfrm>
          <a:prstGeom prst="rect">
            <a:avLst/>
          </a:prstGeom>
          <a:solidFill>
            <a:schemeClr val="accent5">
              <a:lumMod val="10000"/>
              <a:alpha val="10000"/>
            </a:schemeClr>
          </a:solidFill>
          <a:ln/>
        </p:spPr>
        <p:txBody>
          <a:bodyPr/>
          <a:lstStyle/>
          <a:p>
            <a:endParaRPr lang="en-US" sz="1013"/>
          </a:p>
        </p:txBody>
      </p:sp>
      <p:sp>
        <p:nvSpPr>
          <p:cNvPr id="329" name="Shape 47">
            <a:extLst>
              <a:ext uri="{FF2B5EF4-FFF2-40B4-BE49-F238E27FC236}">
                <a16:creationId xmlns:a16="http://schemas.microsoft.com/office/drawing/2014/main" id="{8113A9ED-B900-9775-D2A6-19546E8E24D0}"/>
              </a:ext>
            </a:extLst>
          </p:cNvPr>
          <p:cNvSpPr/>
          <p:nvPr/>
        </p:nvSpPr>
        <p:spPr>
          <a:xfrm>
            <a:off x="3320745" y="3489764"/>
            <a:ext cx="7144" cy="300038"/>
          </a:xfrm>
          <a:prstGeom prst="rect">
            <a:avLst/>
          </a:prstGeom>
          <a:solidFill>
            <a:srgbClr val="FFFFFF">
              <a:alpha val="12000"/>
            </a:srgbClr>
          </a:solidFill>
          <a:ln/>
        </p:spPr>
        <p:txBody>
          <a:bodyPr/>
          <a:lstStyle/>
          <a:p>
            <a:endParaRPr lang="en-US" sz="1013"/>
          </a:p>
        </p:txBody>
      </p:sp>
      <p:sp>
        <p:nvSpPr>
          <p:cNvPr id="330" name="Text 48">
            <a:extLst>
              <a:ext uri="{FF2B5EF4-FFF2-40B4-BE49-F238E27FC236}">
                <a16:creationId xmlns:a16="http://schemas.microsoft.com/office/drawing/2014/main" id="{608271DD-C1AD-A44A-BAF2-FC9B32261F9A}"/>
              </a:ext>
            </a:extLst>
          </p:cNvPr>
          <p:cNvSpPr/>
          <p:nvPr/>
        </p:nvSpPr>
        <p:spPr>
          <a:xfrm>
            <a:off x="3114023" y="3575489"/>
            <a:ext cx="156269" cy="157163"/>
          </a:xfrm>
          <a:prstGeom prst="rect">
            <a:avLst/>
          </a:prstGeom>
          <a:noFill/>
          <a:ln/>
        </p:spPr>
        <p:txBody>
          <a:bodyPr wrap="square" lIns="19050" tIns="19050" rIns="19050" bIns="19050" rtlCol="0" anchor="t">
            <a:normAutofit lnSpcReduction="10000"/>
          </a:bodyPr>
          <a:lstStyle/>
          <a:p>
            <a:r>
              <a:rPr lang="en-US" sz="844" b="1" dirty="0">
                <a:latin typeface="Barlow" pitchFamily="34" charset="0"/>
                <a:ea typeface="Barlow" pitchFamily="34" charset="-122"/>
                <a:cs typeface="Barlow" pitchFamily="34" charset="-120"/>
              </a:rPr>
              <a:t>10</a:t>
            </a:r>
            <a:endParaRPr lang="en-US" sz="844" dirty="0"/>
          </a:p>
        </p:txBody>
      </p:sp>
      <p:sp>
        <p:nvSpPr>
          <p:cNvPr id="331" name="Text 49">
            <a:extLst>
              <a:ext uri="{FF2B5EF4-FFF2-40B4-BE49-F238E27FC236}">
                <a16:creationId xmlns:a16="http://schemas.microsoft.com/office/drawing/2014/main" id="{50108FD7-FEE2-368D-7615-427F32812E8B}"/>
              </a:ext>
            </a:extLst>
          </p:cNvPr>
          <p:cNvSpPr/>
          <p:nvPr/>
        </p:nvSpPr>
        <p:spPr>
          <a:xfrm>
            <a:off x="3399326" y="3561201"/>
            <a:ext cx="846535" cy="185738"/>
          </a:xfrm>
          <a:prstGeom prst="rect">
            <a:avLst/>
          </a:prstGeom>
          <a:noFill/>
          <a:ln/>
        </p:spPr>
        <p:txBody>
          <a:bodyPr wrap="square" lIns="19050" tIns="19050" rIns="19050" bIns="19050" rtlCol="0" anchor="t">
            <a:noAutofit/>
          </a:bodyPr>
          <a:lstStyle/>
          <a:p>
            <a:r>
              <a:rPr lang="en-US" sz="600" b="1" kern="0" spc="35" dirty="0">
                <a:ea typeface="Barlow" pitchFamily="34" charset="-122"/>
                <a:cs typeface="Barlow" pitchFamily="34" charset="-120"/>
              </a:rPr>
              <a:t>BREACH-LEVEL ADVISORIES</a:t>
            </a:r>
            <a:endParaRPr lang="en-US" sz="600" dirty="0"/>
          </a:p>
        </p:txBody>
      </p:sp>
      <p:sp>
        <p:nvSpPr>
          <p:cNvPr id="332" name="Shape 50">
            <a:extLst>
              <a:ext uri="{FF2B5EF4-FFF2-40B4-BE49-F238E27FC236}">
                <a16:creationId xmlns:a16="http://schemas.microsoft.com/office/drawing/2014/main" id="{3DE6DFA1-B78E-D509-D144-5697B4D19990}"/>
              </a:ext>
            </a:extLst>
          </p:cNvPr>
          <p:cNvSpPr/>
          <p:nvPr/>
        </p:nvSpPr>
        <p:spPr>
          <a:xfrm>
            <a:off x="4581617" y="3489764"/>
            <a:ext cx="7144" cy="300038"/>
          </a:xfrm>
          <a:prstGeom prst="rect">
            <a:avLst/>
          </a:prstGeom>
          <a:solidFill>
            <a:srgbClr val="FFFFFF">
              <a:alpha val="12000"/>
            </a:srgbClr>
          </a:solidFill>
          <a:ln/>
        </p:spPr>
        <p:txBody>
          <a:bodyPr/>
          <a:lstStyle/>
          <a:p>
            <a:endParaRPr lang="en-US" sz="1013"/>
          </a:p>
        </p:txBody>
      </p:sp>
      <p:sp>
        <p:nvSpPr>
          <p:cNvPr id="333" name="Text 51">
            <a:extLst>
              <a:ext uri="{FF2B5EF4-FFF2-40B4-BE49-F238E27FC236}">
                <a16:creationId xmlns:a16="http://schemas.microsoft.com/office/drawing/2014/main" id="{9B0DAA3D-FFA1-DAD5-400E-A60A92CD4A19}"/>
              </a:ext>
            </a:extLst>
          </p:cNvPr>
          <p:cNvSpPr/>
          <p:nvPr/>
        </p:nvSpPr>
        <p:spPr>
          <a:xfrm>
            <a:off x="4391973" y="3575489"/>
            <a:ext cx="122002" cy="157163"/>
          </a:xfrm>
          <a:prstGeom prst="rect">
            <a:avLst/>
          </a:prstGeom>
          <a:noFill/>
          <a:ln/>
        </p:spPr>
        <p:txBody>
          <a:bodyPr wrap="square" lIns="19050" tIns="19050" rIns="19050" bIns="19050" rtlCol="0" anchor="t">
            <a:normAutofit lnSpcReduction="10000"/>
          </a:bodyPr>
          <a:lstStyle/>
          <a:p>
            <a:r>
              <a:rPr lang="en-US" sz="844" b="1" dirty="0">
                <a:latin typeface="Barlow" pitchFamily="34" charset="0"/>
                <a:ea typeface="Barlow" pitchFamily="34" charset="-122"/>
                <a:cs typeface="Barlow" pitchFamily="34" charset="-120"/>
              </a:rPr>
              <a:t>4</a:t>
            </a:r>
            <a:endParaRPr lang="en-US" sz="844" dirty="0"/>
          </a:p>
        </p:txBody>
      </p:sp>
      <p:sp>
        <p:nvSpPr>
          <p:cNvPr id="334" name="Text 52">
            <a:extLst>
              <a:ext uri="{FF2B5EF4-FFF2-40B4-BE49-F238E27FC236}">
                <a16:creationId xmlns:a16="http://schemas.microsoft.com/office/drawing/2014/main" id="{D7246374-C08B-907F-0254-321A1DF3C280}"/>
              </a:ext>
            </a:extLst>
          </p:cNvPr>
          <p:cNvSpPr/>
          <p:nvPr/>
        </p:nvSpPr>
        <p:spPr>
          <a:xfrm>
            <a:off x="4660198" y="3561201"/>
            <a:ext cx="846535" cy="185738"/>
          </a:xfrm>
          <a:prstGeom prst="rect">
            <a:avLst/>
          </a:prstGeom>
          <a:noFill/>
          <a:ln/>
        </p:spPr>
        <p:txBody>
          <a:bodyPr wrap="square" lIns="19050" tIns="19050" rIns="19050" bIns="19050" rtlCol="0" anchor="t">
            <a:noAutofit/>
          </a:bodyPr>
          <a:lstStyle/>
          <a:p>
            <a:r>
              <a:rPr lang="en-US" sz="600" b="1" kern="0" spc="35" dirty="0">
                <a:ea typeface="Barlow" pitchFamily="34" charset="-122"/>
                <a:cs typeface="Barlow" pitchFamily="34" charset="-120"/>
              </a:rPr>
              <a:t>KNOWN EXPLOITED CVES</a:t>
            </a:r>
            <a:endParaRPr lang="en-US" sz="600" dirty="0"/>
          </a:p>
        </p:txBody>
      </p:sp>
      <p:sp>
        <p:nvSpPr>
          <p:cNvPr id="335" name="Shape 53">
            <a:extLst>
              <a:ext uri="{FF2B5EF4-FFF2-40B4-BE49-F238E27FC236}">
                <a16:creationId xmlns:a16="http://schemas.microsoft.com/office/drawing/2014/main" id="{9AAEE9AA-78B2-EB0D-EFFB-9E68F803E5F3}"/>
              </a:ext>
            </a:extLst>
          </p:cNvPr>
          <p:cNvSpPr/>
          <p:nvPr/>
        </p:nvSpPr>
        <p:spPr>
          <a:xfrm>
            <a:off x="377520" y="3946962"/>
            <a:ext cx="2521744" cy="750099"/>
          </a:xfrm>
          <a:prstGeom prst="rect">
            <a:avLst/>
          </a:prstGeom>
          <a:solidFill>
            <a:srgbClr val="FFE57F"/>
          </a:solidFill>
          <a:ln/>
        </p:spPr>
        <p:txBody>
          <a:bodyPr/>
          <a:lstStyle/>
          <a:p>
            <a:endParaRPr lang="en-US" sz="1013" dirty="0"/>
          </a:p>
        </p:txBody>
      </p:sp>
      <p:sp>
        <p:nvSpPr>
          <p:cNvPr id="336" name="Shape 54">
            <a:extLst>
              <a:ext uri="{FF2B5EF4-FFF2-40B4-BE49-F238E27FC236}">
                <a16:creationId xmlns:a16="http://schemas.microsoft.com/office/drawing/2014/main" id="{EE4B77FE-1EAF-9694-47EB-B6E5BCFF8028}"/>
              </a:ext>
            </a:extLst>
          </p:cNvPr>
          <p:cNvSpPr/>
          <p:nvPr/>
        </p:nvSpPr>
        <p:spPr>
          <a:xfrm>
            <a:off x="377520" y="3946964"/>
            <a:ext cx="2521744" cy="14288"/>
          </a:xfrm>
          <a:prstGeom prst="rect">
            <a:avLst/>
          </a:prstGeom>
          <a:solidFill>
            <a:srgbClr val="FFCC00"/>
          </a:solidFill>
          <a:ln/>
        </p:spPr>
        <p:txBody>
          <a:bodyPr/>
          <a:lstStyle/>
          <a:p>
            <a:endParaRPr lang="en-US" sz="1013"/>
          </a:p>
        </p:txBody>
      </p:sp>
      <p:sp>
        <p:nvSpPr>
          <p:cNvPr id="337" name="Text 55">
            <a:extLst>
              <a:ext uri="{FF2B5EF4-FFF2-40B4-BE49-F238E27FC236}">
                <a16:creationId xmlns:a16="http://schemas.microsoft.com/office/drawing/2014/main" id="{A88F6DF5-D2B6-2359-F255-7AF025410CB0}"/>
              </a:ext>
            </a:extLst>
          </p:cNvPr>
          <p:cNvSpPr/>
          <p:nvPr/>
        </p:nvSpPr>
        <p:spPr>
          <a:xfrm>
            <a:off x="477533" y="4039833"/>
            <a:ext cx="2553890" cy="121444"/>
          </a:xfrm>
          <a:prstGeom prst="rect">
            <a:avLst/>
          </a:prstGeom>
          <a:noFill/>
          <a:ln/>
        </p:spPr>
        <p:txBody>
          <a:bodyPr wrap="square" lIns="19050" tIns="19050" rIns="19050" bIns="19050" rtlCol="0" anchor="t">
            <a:noAutofit/>
          </a:bodyPr>
          <a:lstStyle/>
          <a:p>
            <a:r>
              <a:rPr lang="en-US" sz="800" b="1" kern="0" spc="44" dirty="0"/>
              <a:t>PENTESTER FOCUS AREA</a:t>
            </a:r>
          </a:p>
        </p:txBody>
      </p:sp>
      <p:sp>
        <p:nvSpPr>
          <p:cNvPr id="338" name="Text 56">
            <a:extLst>
              <a:ext uri="{FF2B5EF4-FFF2-40B4-BE49-F238E27FC236}">
                <a16:creationId xmlns:a16="http://schemas.microsoft.com/office/drawing/2014/main" id="{CFB3B79C-201F-2815-0945-5BFF160A2C4E}"/>
              </a:ext>
            </a:extLst>
          </p:cNvPr>
          <p:cNvSpPr/>
          <p:nvPr/>
        </p:nvSpPr>
        <p:spPr>
          <a:xfrm>
            <a:off x="477532" y="4168421"/>
            <a:ext cx="2391371" cy="250031"/>
          </a:xfrm>
          <a:prstGeom prst="rect">
            <a:avLst/>
          </a:prstGeom>
          <a:noFill/>
          <a:ln/>
        </p:spPr>
        <p:txBody>
          <a:bodyPr wrap="square" lIns="19050" tIns="19050" rIns="19050" bIns="19050" rtlCol="0" anchor="t">
            <a:noAutofit/>
          </a:bodyPr>
          <a:lstStyle/>
          <a:p>
            <a:pPr>
              <a:lnSpc>
                <a:spcPct val="155000"/>
              </a:lnSpc>
            </a:pPr>
            <a:r>
              <a:rPr lang="en-US" sz="700" dirty="0">
                <a:ea typeface="Barlow" pitchFamily="34" charset="-122"/>
                <a:cs typeface="Barlow" pitchFamily="34" charset="-120"/>
              </a:rPr>
              <a:t>The 219 total findings include 13 attack chains and 14 critical advisories (10 breach-level risks and 4 CVE-matched threats)—these are the areas pen testers should focus on.</a:t>
            </a:r>
            <a:endParaRPr lang="en-US" sz="700" dirty="0"/>
          </a:p>
        </p:txBody>
      </p:sp>
      <p:sp>
        <p:nvSpPr>
          <p:cNvPr id="339" name="Shape 57">
            <a:extLst>
              <a:ext uri="{FF2B5EF4-FFF2-40B4-BE49-F238E27FC236}">
                <a16:creationId xmlns:a16="http://schemas.microsoft.com/office/drawing/2014/main" id="{B502EE4E-0984-46C1-731C-EFB2BCF0297E}"/>
              </a:ext>
            </a:extLst>
          </p:cNvPr>
          <p:cNvSpPr/>
          <p:nvPr/>
        </p:nvSpPr>
        <p:spPr>
          <a:xfrm>
            <a:off x="2999276" y="3946962"/>
            <a:ext cx="2521744" cy="758024"/>
          </a:xfrm>
          <a:prstGeom prst="rect">
            <a:avLst/>
          </a:prstGeom>
          <a:solidFill>
            <a:srgbClr val="FFE57F"/>
          </a:solidFill>
          <a:ln/>
        </p:spPr>
        <p:txBody>
          <a:bodyPr/>
          <a:lstStyle/>
          <a:p>
            <a:endParaRPr lang="en-US" sz="1013"/>
          </a:p>
        </p:txBody>
      </p:sp>
      <p:sp>
        <p:nvSpPr>
          <p:cNvPr id="340" name="Shape 58">
            <a:extLst>
              <a:ext uri="{FF2B5EF4-FFF2-40B4-BE49-F238E27FC236}">
                <a16:creationId xmlns:a16="http://schemas.microsoft.com/office/drawing/2014/main" id="{B39F4A21-91EC-6881-071D-9B42E3BF7470}"/>
              </a:ext>
            </a:extLst>
          </p:cNvPr>
          <p:cNvSpPr/>
          <p:nvPr/>
        </p:nvSpPr>
        <p:spPr>
          <a:xfrm>
            <a:off x="2999276" y="3946964"/>
            <a:ext cx="2521744" cy="14288"/>
          </a:xfrm>
          <a:prstGeom prst="rect">
            <a:avLst/>
          </a:prstGeom>
          <a:solidFill>
            <a:srgbClr val="FFCC00"/>
          </a:solidFill>
          <a:ln/>
        </p:spPr>
        <p:txBody>
          <a:bodyPr/>
          <a:lstStyle/>
          <a:p>
            <a:endParaRPr lang="en-US" sz="1013"/>
          </a:p>
        </p:txBody>
      </p:sp>
      <p:sp>
        <p:nvSpPr>
          <p:cNvPr id="341" name="Text 59">
            <a:extLst>
              <a:ext uri="{FF2B5EF4-FFF2-40B4-BE49-F238E27FC236}">
                <a16:creationId xmlns:a16="http://schemas.microsoft.com/office/drawing/2014/main" id="{9CAEB838-FA82-3655-D3DA-45777B91F427}"/>
              </a:ext>
            </a:extLst>
          </p:cNvPr>
          <p:cNvSpPr/>
          <p:nvPr/>
        </p:nvSpPr>
        <p:spPr>
          <a:xfrm>
            <a:off x="3099289" y="4039832"/>
            <a:ext cx="2233359" cy="162311"/>
          </a:xfrm>
          <a:prstGeom prst="rect">
            <a:avLst/>
          </a:prstGeom>
          <a:noFill/>
          <a:ln/>
        </p:spPr>
        <p:txBody>
          <a:bodyPr wrap="square" lIns="19050" tIns="19050" rIns="19050" bIns="19050" rtlCol="0" anchor="t">
            <a:noAutofit/>
          </a:bodyPr>
          <a:lstStyle/>
          <a:p>
            <a:r>
              <a:rPr lang="en-US" sz="800" b="1" kern="0" spc="44" dirty="0"/>
              <a:t>VIPER DELIVERS</a:t>
            </a:r>
          </a:p>
        </p:txBody>
      </p:sp>
      <p:sp>
        <p:nvSpPr>
          <p:cNvPr id="342" name="Text 60">
            <a:extLst>
              <a:ext uri="{FF2B5EF4-FFF2-40B4-BE49-F238E27FC236}">
                <a16:creationId xmlns:a16="http://schemas.microsoft.com/office/drawing/2014/main" id="{B600751C-7F59-5A7C-AC5F-23001F2CB3CD}"/>
              </a:ext>
            </a:extLst>
          </p:cNvPr>
          <p:cNvSpPr/>
          <p:nvPr/>
        </p:nvSpPr>
        <p:spPr>
          <a:xfrm>
            <a:off x="3099288" y="4168421"/>
            <a:ext cx="2391371" cy="250031"/>
          </a:xfrm>
          <a:prstGeom prst="rect">
            <a:avLst/>
          </a:prstGeom>
          <a:noFill/>
          <a:ln/>
        </p:spPr>
        <p:txBody>
          <a:bodyPr wrap="square" lIns="19050" tIns="19050" rIns="19050" bIns="19050" rtlCol="0" anchor="t">
            <a:noAutofit/>
          </a:bodyPr>
          <a:lstStyle/>
          <a:p>
            <a:pPr>
              <a:lnSpc>
                <a:spcPct val="155000"/>
              </a:lnSpc>
            </a:pPr>
            <a:r>
              <a:rPr lang="en-US" sz="700" dirty="0">
                <a:ea typeface="Barlow" pitchFamily="34" charset="-122"/>
                <a:cs typeface="Barlow" pitchFamily="34" charset="-120"/>
              </a:rPr>
              <a:t>Viper transforms Scout output by extending attack surface coverage and delivering a </a:t>
            </a:r>
            <a:r>
              <a:rPr lang="en-US" sz="700" b="1" dirty="0">
                <a:ea typeface="Barlow" pitchFamily="34" charset="-122"/>
                <a:cs typeface="Barlow" pitchFamily="34" charset="-120"/>
              </a:rPr>
              <a:t>prioritised assessment </a:t>
            </a:r>
            <a:r>
              <a:rPr lang="en-US" sz="700" dirty="0">
                <a:ea typeface="Barlow" pitchFamily="34" charset="-122"/>
                <a:cs typeface="Barlow" pitchFamily="34" charset="-120"/>
              </a:rPr>
              <a:t>before manual testing begins.</a:t>
            </a:r>
            <a:endParaRPr lang="en-US" sz="700" dirty="0"/>
          </a:p>
        </p:txBody>
      </p:sp>
      <p:sp>
        <p:nvSpPr>
          <p:cNvPr id="5" name="Shape 29">
            <a:extLst>
              <a:ext uri="{FF2B5EF4-FFF2-40B4-BE49-F238E27FC236}">
                <a16:creationId xmlns:a16="http://schemas.microsoft.com/office/drawing/2014/main" id="{EAD630D1-BD91-D019-8AFF-B2BFBFD7C51F}"/>
              </a:ext>
            </a:extLst>
          </p:cNvPr>
          <p:cNvSpPr/>
          <p:nvPr/>
        </p:nvSpPr>
        <p:spPr>
          <a:xfrm>
            <a:off x="929970" y="2899214"/>
            <a:ext cx="7144" cy="285750"/>
          </a:xfrm>
          <a:prstGeom prst="rect">
            <a:avLst/>
          </a:prstGeom>
          <a:solidFill>
            <a:srgbClr val="333333">
              <a:alpha val="12000"/>
            </a:srgbClr>
          </a:solidFill>
          <a:ln/>
        </p:spPr>
        <p:txBody>
          <a:bodyPr/>
          <a:lstStyle/>
          <a:p>
            <a:endParaRPr lang="en-US" sz="1013"/>
          </a:p>
        </p:txBody>
      </p:sp>
    </p:spTree>
    <p:extLst>
      <p:ext uri="{BB962C8B-B14F-4D97-AF65-F5344CB8AC3E}">
        <p14:creationId xmlns:p14="http://schemas.microsoft.com/office/powerpoint/2010/main" val="138581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7DA9-FEFB-1083-DC40-6BAF318FA8F6}"/>
            </a:ext>
          </a:extLst>
        </p:cNvPr>
        <p:cNvGrpSpPr/>
        <p:nvPr/>
      </p:nvGrpSpPr>
      <p:grpSpPr>
        <a:xfrm>
          <a:off x="0" y="0"/>
          <a:ext cx="0" cy="0"/>
          <a:chOff x="0" y="0"/>
          <a:chExt cx="0" cy="0"/>
        </a:xfrm>
      </p:grpSpPr>
      <p:sp>
        <p:nvSpPr>
          <p:cNvPr id="6" name="Freeform 5">
            <a:extLst>
              <a:ext uri="{FF2B5EF4-FFF2-40B4-BE49-F238E27FC236}">
                <a16:creationId xmlns:a16="http://schemas.microsoft.com/office/drawing/2014/main" id="{95FD54E4-5C33-3DC1-C2F0-303BCD5CB60C}"/>
              </a:ext>
            </a:extLst>
          </p:cNvPr>
          <p:cNvSpPr/>
          <p:nvPr/>
        </p:nvSpPr>
        <p:spPr>
          <a:xfrm>
            <a:off x="995010" y="7004"/>
            <a:ext cx="7153978" cy="5129491"/>
          </a:xfrm>
          <a:custGeom>
            <a:avLst/>
            <a:gdLst/>
            <a:ahLst/>
            <a:cxnLst/>
            <a:rect l="l" t="t" r="r" b="b"/>
            <a:pathLst>
              <a:path w="14307955" h="10258981">
                <a:moveTo>
                  <a:pt x="0" y="0"/>
                </a:moveTo>
                <a:lnTo>
                  <a:pt x="14307956" y="0"/>
                </a:lnTo>
                <a:lnTo>
                  <a:pt x="14307956" y="10258980"/>
                </a:lnTo>
                <a:lnTo>
                  <a:pt x="0" y="10258980"/>
                </a:lnTo>
                <a:lnTo>
                  <a:pt x="0" y="0"/>
                </a:lnTo>
                <a:close/>
              </a:path>
            </a:pathLst>
          </a:custGeom>
          <a:blipFill>
            <a:blip r:embed="rId3">
              <a:alphaModFix amt="61000"/>
            </a:blip>
            <a:stretch>
              <a:fillRect t="-14645" b="-24821"/>
            </a:stretch>
          </a:blipFill>
        </p:spPr>
        <p:txBody>
          <a:bodyPr/>
          <a:lstStyle/>
          <a:p>
            <a:endParaRPr lang="en-US" sz="675"/>
          </a:p>
        </p:txBody>
      </p:sp>
      <p:sp>
        <p:nvSpPr>
          <p:cNvPr id="3" name="Title 2">
            <a:extLst>
              <a:ext uri="{FF2B5EF4-FFF2-40B4-BE49-F238E27FC236}">
                <a16:creationId xmlns:a16="http://schemas.microsoft.com/office/drawing/2014/main" id="{724BE87B-9734-43EB-E9DC-F5DA28D6A443}"/>
              </a:ext>
            </a:extLst>
          </p:cNvPr>
          <p:cNvSpPr>
            <a:spLocks noGrp="1"/>
          </p:cNvSpPr>
          <p:nvPr>
            <p:ph type="title"/>
          </p:nvPr>
        </p:nvSpPr>
        <p:spPr>
          <a:xfrm>
            <a:off x="1539588" y="1822312"/>
            <a:ext cx="6755672" cy="1498873"/>
          </a:xfrm>
        </p:spPr>
        <p:txBody>
          <a:bodyPr/>
          <a:lstStyle/>
          <a:p>
            <a:r>
              <a:rPr lang="en-US" b="1" dirty="0">
                <a:solidFill>
                  <a:srgbClr val="FF0000"/>
                </a:solidFill>
                <a:latin typeface="Delivery" panose="020F0503020204020204" pitchFamily="34" charset="0"/>
                <a:ea typeface="Delivery" panose="020F0503020204020204" pitchFamily="34" charset="0"/>
                <a:cs typeface="Delivery" panose="020F0503020204020204" pitchFamily="34" charset="0"/>
              </a:rPr>
              <a:t>LIVE DEMONSTRATION</a:t>
            </a:r>
            <a:br>
              <a:rPr lang="en-US" dirty="0">
                <a:solidFill>
                  <a:srgbClr val="FF0000"/>
                </a:solidFill>
                <a:latin typeface="Delivery" panose="020F0503020204020204" pitchFamily="34" charset="0"/>
                <a:ea typeface="Delivery" panose="020F0503020204020204" pitchFamily="34" charset="0"/>
                <a:cs typeface="Delivery" panose="020F0503020204020204" pitchFamily="34" charset="0"/>
              </a:rPr>
            </a:br>
            <a:r>
              <a:rPr lang="en-US" dirty="0"/>
              <a:t> </a:t>
            </a:r>
            <a:endParaRPr lang="en-GB" dirty="0"/>
          </a:p>
        </p:txBody>
      </p:sp>
      <p:sp>
        <p:nvSpPr>
          <p:cNvPr id="4" name="Footer Placeholder 3">
            <a:extLst>
              <a:ext uri="{FF2B5EF4-FFF2-40B4-BE49-F238E27FC236}">
                <a16:creationId xmlns:a16="http://schemas.microsoft.com/office/drawing/2014/main" id="{9348BBAB-DE7A-2889-4FA9-3E224AF02DE9}"/>
              </a:ext>
            </a:extLst>
          </p:cNvPr>
          <p:cNvSpPr>
            <a:spLocks noGrp="1"/>
          </p:cNvSpPr>
          <p:nvPr>
            <p:ph type="ftr" sz="quarter" idx="10"/>
          </p:nvPr>
        </p:nvSpPr>
        <p:spPr/>
        <p:txBody>
          <a:bodyPr/>
          <a:lstStyle/>
          <a:p>
            <a:r>
              <a:rPr lang="en-US" dirty="0"/>
              <a:t>DHL |  Agent Viper| Chennai India | 03 July 2026</a:t>
            </a:r>
          </a:p>
        </p:txBody>
      </p:sp>
      <p:sp>
        <p:nvSpPr>
          <p:cNvPr id="5" name="Slide Number Placeholder 4">
            <a:extLst>
              <a:ext uri="{FF2B5EF4-FFF2-40B4-BE49-F238E27FC236}">
                <a16:creationId xmlns:a16="http://schemas.microsoft.com/office/drawing/2014/main" id="{846E5561-B15C-1083-F8F8-00DC55D96604}"/>
              </a:ext>
            </a:extLst>
          </p:cNvPr>
          <p:cNvSpPr>
            <a:spLocks noGrp="1"/>
          </p:cNvSpPr>
          <p:nvPr>
            <p:ph type="sldNum" sz="quarter" idx="11"/>
          </p:nvPr>
        </p:nvSpPr>
        <p:spPr/>
        <p:txBody>
          <a:bodyPr/>
          <a:lstStyle/>
          <a:p>
            <a:fld id="{C2245BC1-4D7B-4ED3-8F01-840FA35126C6}" type="slidenum">
              <a:rPr lang="en-US" smtClean="0"/>
              <a:pPr/>
              <a:t>8</a:t>
            </a:fld>
            <a:endParaRPr lang="en-US"/>
          </a:p>
        </p:txBody>
      </p:sp>
    </p:spTree>
    <p:extLst>
      <p:ext uri="{BB962C8B-B14F-4D97-AF65-F5344CB8AC3E}">
        <p14:creationId xmlns:p14="http://schemas.microsoft.com/office/powerpoint/2010/main" val="275344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A30F338F-8173-69BA-9D40-27D5200EC95D}"/>
              </a:ext>
            </a:extLst>
          </p:cNvPr>
          <p:cNvSpPr/>
          <p:nvPr/>
        </p:nvSpPr>
        <p:spPr>
          <a:xfrm>
            <a:off x="995010" y="7004"/>
            <a:ext cx="7153978" cy="5129491"/>
          </a:xfrm>
          <a:custGeom>
            <a:avLst/>
            <a:gdLst/>
            <a:ahLst/>
            <a:cxnLst/>
            <a:rect l="l" t="t" r="r" b="b"/>
            <a:pathLst>
              <a:path w="14307955" h="10258981">
                <a:moveTo>
                  <a:pt x="0" y="0"/>
                </a:moveTo>
                <a:lnTo>
                  <a:pt x="14307956" y="0"/>
                </a:lnTo>
                <a:lnTo>
                  <a:pt x="14307956" y="10258980"/>
                </a:lnTo>
                <a:lnTo>
                  <a:pt x="0" y="10258980"/>
                </a:lnTo>
                <a:lnTo>
                  <a:pt x="0" y="0"/>
                </a:lnTo>
                <a:close/>
              </a:path>
            </a:pathLst>
          </a:custGeom>
          <a:blipFill>
            <a:blip r:embed="rId2">
              <a:alphaModFix amt="61000"/>
            </a:blip>
            <a:stretch>
              <a:fillRect t="-14645" b="-24821"/>
            </a:stretch>
          </a:blipFill>
        </p:spPr>
        <p:txBody>
          <a:bodyPr/>
          <a:lstStyle/>
          <a:p>
            <a:endParaRPr lang="en-US" sz="675" dirty="0"/>
          </a:p>
        </p:txBody>
      </p:sp>
      <p:sp>
        <p:nvSpPr>
          <p:cNvPr id="2" name="Footer Placeholder 1">
            <a:extLst>
              <a:ext uri="{FF2B5EF4-FFF2-40B4-BE49-F238E27FC236}">
                <a16:creationId xmlns:a16="http://schemas.microsoft.com/office/drawing/2014/main" id="{39A4F075-B0C2-4B53-8263-668DE8F20314}"/>
              </a:ext>
            </a:extLst>
          </p:cNvPr>
          <p:cNvSpPr>
            <a:spLocks noGrp="1"/>
          </p:cNvSpPr>
          <p:nvPr>
            <p:ph type="ftr" sz="quarter" idx="10"/>
          </p:nvPr>
        </p:nvSpPr>
        <p:spPr/>
        <p:txBody>
          <a:bodyPr/>
          <a:lstStyle/>
          <a:p>
            <a:r>
              <a:rPr lang="en-US" dirty="0"/>
              <a:t>DHL |  Agent Viper| Chennai India | 03 July 2026</a:t>
            </a:r>
          </a:p>
        </p:txBody>
      </p:sp>
      <p:sp>
        <p:nvSpPr>
          <p:cNvPr id="3" name="Slide Number Placeholder 2">
            <a:extLst>
              <a:ext uri="{FF2B5EF4-FFF2-40B4-BE49-F238E27FC236}">
                <a16:creationId xmlns:a16="http://schemas.microsoft.com/office/drawing/2014/main" id="{FE4C8CF8-E3E0-4792-8223-D85DBD3F6886}"/>
              </a:ext>
            </a:extLst>
          </p:cNvPr>
          <p:cNvSpPr>
            <a:spLocks noGrp="1"/>
          </p:cNvSpPr>
          <p:nvPr>
            <p:ph type="sldNum" sz="quarter" idx="11"/>
          </p:nvPr>
        </p:nvSpPr>
        <p:spPr/>
        <p:txBody>
          <a:bodyPr/>
          <a:lstStyle/>
          <a:p>
            <a:fld id="{C2245BC1-4D7B-4ED3-8F01-840FA35126C6}" type="slidenum">
              <a:rPr lang="en-US" smtClean="0"/>
              <a:pPr/>
              <a:t>9</a:t>
            </a:fld>
            <a:endParaRPr lang="en-US"/>
          </a:p>
        </p:txBody>
      </p:sp>
    </p:spTree>
    <p:extLst>
      <p:ext uri="{BB962C8B-B14F-4D97-AF65-F5344CB8AC3E}">
        <p14:creationId xmlns:p14="http://schemas.microsoft.com/office/powerpoint/2010/main" val="34928571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Nrb6e8YCdXLpb9wckcScD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Nrb6e8YCdXLpb9wckcScD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9zDDC09a53Ko53PO9EPR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HL_GBS">
  <a:themeElements>
    <a:clrScheme name="DPDHL">
      <a:dk1>
        <a:sysClr val="windowText" lastClr="000000"/>
      </a:dk1>
      <a:lt1>
        <a:sysClr val="window" lastClr="FFFFFF"/>
      </a:lt1>
      <a:dk2>
        <a:srgbClr val="B2B2B2"/>
      </a:dk2>
      <a:lt2>
        <a:srgbClr val="E5E5E5"/>
      </a:lt2>
      <a:accent1>
        <a:srgbClr val="8C8C8C"/>
      </a:accent1>
      <a:accent2>
        <a:srgbClr val="666666"/>
      </a:accent2>
      <a:accent3>
        <a:srgbClr val="FFCC00"/>
      </a:accent3>
      <a:accent4>
        <a:srgbClr val="D40511"/>
      </a:accent4>
      <a:accent5>
        <a:srgbClr val="EBEBEB"/>
      </a:accent5>
      <a:accent6>
        <a:srgbClr val="F2F2F2"/>
      </a:accent6>
      <a:hlink>
        <a:srgbClr val="000000"/>
      </a:hlink>
      <a:folHlink>
        <a:srgbClr val="000000"/>
      </a:folHlink>
    </a:clrScheme>
    <a:fontScheme name="DPDHL">
      <a:majorFont>
        <a:latin typeface="Delivery"/>
        <a:ea typeface=""/>
        <a:cs typeface=""/>
      </a:majorFont>
      <a:minorFont>
        <a:latin typeface="Deliver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72000" tIns="36000" rIns="72000" bIns="36000" rtlCol="0" anchor="t">
        <a:noAutofit/>
      </a:bodyPr>
      <a:lstStyle>
        <a:defPPr algn="l">
          <a:defRPr sz="12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110000"/>
          </a:lnSpc>
          <a:spcAft>
            <a:spcPts val="500"/>
          </a:spcAft>
          <a:defRPr sz="1200" dirty="0" err="1" smtClean="0"/>
        </a:defPPr>
      </a:lstStyle>
    </a:txDef>
  </a:objectDefaults>
  <a:extraClrSchemeLst/>
  <a:custClrLst>
    <a:custClr name="100% Postyellow">
      <a:srgbClr val="FFCC00"/>
    </a:custClr>
    <a:custClr name="70% Postyellow">
      <a:srgbClr val="FFDB4C"/>
    </a:custClr>
    <a:custClr name="50% Postyellow">
      <a:srgbClr val="FFE57F"/>
    </a:custClr>
    <a:custClr name="30% Postyellow">
      <a:srgbClr val="FFF0B2"/>
    </a:custClr>
    <a:custClr name="20% Postyellow">
      <a:srgbClr val="FFF5CC"/>
    </a:custClr>
    <a:custClr name="None">
      <a:srgbClr val="FFFFFF"/>
    </a:custClr>
    <a:custClr name="Dark Green">
      <a:srgbClr val="007C39"/>
    </a:custClr>
    <a:custClr name="65% Postyellow">
      <a:srgbClr val="FFDE59"/>
    </a:custClr>
    <a:custClr name="None">
      <a:srgbClr val="FFFFFF"/>
    </a:custClr>
    <a:custClr name="None">
      <a:srgbClr val="FFFFFF"/>
    </a:custClr>
    <a:custClr name="Gray 80">
      <a:srgbClr val="333333"/>
    </a:custClr>
    <a:custClr name="Gray 60">
      <a:srgbClr val="666666"/>
    </a:custClr>
    <a:custClr name="Gray 45">
      <a:srgbClr val="8C8C8C"/>
    </a:custClr>
    <a:custClr name="Gray 30">
      <a:srgbClr val="B2B2B2"/>
    </a:custClr>
    <a:custClr name="Gray 20">
      <a:srgbClr val="CCCCCC"/>
    </a:custClr>
    <a:custClr name="Gray 10">
      <a:srgbClr val="E6E6E6"/>
    </a:custClr>
    <a:custClr name="Gray 08">
      <a:srgbClr val="EBEBEB"/>
    </a:custClr>
    <a:custClr name="Gray 05">
      <a:srgbClr val="F2F2F2"/>
    </a:custClr>
    <a:custClr name="None">
      <a:srgbClr val="FFFFFF"/>
    </a:custClr>
    <a:custClr name="None">
      <a:srgbClr val="FFFFFF"/>
    </a:custClr>
    <a:custClr name="Warm Green 100">
      <a:srgbClr val="C4D19A"/>
    </a:custClr>
    <a:custClr name="Cool Green 100">
      <a:srgbClr val="A3D0B8"/>
    </a:custClr>
    <a:custClr name="Light Blue 100">
      <a:srgbClr val="B2DEF3"/>
    </a:custClr>
    <a:custClr name="Light Violet 100">
      <a:srgbClr val="C5D3F0"/>
    </a:custClr>
    <a:custClr name="Dark Violet 100">
      <a:srgbClr val="B7BBCE"/>
    </a:custClr>
    <a:custClr name="None">
      <a:srgbClr val="FFFFFF"/>
    </a:custClr>
    <a:custClr name="None">
      <a:srgbClr val="FFFFFF"/>
    </a:custClr>
    <a:custClr name="None">
      <a:srgbClr val="FFFFFF"/>
    </a:custClr>
    <a:custClr name="None">
      <a:srgbClr val="FFFFFF"/>
    </a:custClr>
    <a:custClr name="None">
      <a:srgbClr val="FFFFFF"/>
    </a:custClr>
    <a:custClr name="Warm Green 40">
      <a:srgbClr val="E7EDD7"/>
    </a:custClr>
    <a:custClr name="Cool Green 40">
      <a:srgbClr val="DAECE3"/>
    </a:custClr>
    <a:custClr name="Light Blue 40">
      <a:srgbClr val="E0F2FA"/>
    </a:custClr>
    <a:custClr name="Light Violet 40">
      <a:srgbClr val="E8EDF9"/>
    </a:custClr>
    <a:custClr name="Dark Violet 40">
      <a:srgbClr val="E2E4EB"/>
    </a:custClr>
    <a:custClr name="None">
      <a:srgbClr val="FFFFFF"/>
    </a:custClr>
    <a:custClr name="None">
      <a:srgbClr val="FFFFFF"/>
    </a:custClr>
    <a:custClr name="None">
      <a:srgbClr val="FFFFFF"/>
    </a:custClr>
    <a:custClr name="None">
      <a:srgbClr val="FFFFFF"/>
    </a:custClr>
    <a:custClr name="None">
      <a:srgbClr val="FFFFFF"/>
    </a:custClr>
    <a:custClr name="Warm Green 20">
      <a:srgbClr val="F3F6EB"/>
    </a:custClr>
    <a:custClr name="Cool Green 20">
      <a:srgbClr val="EDF6F1"/>
    </a:custClr>
    <a:custClr name="Light Blue 20">
      <a:srgbClr val="F0F8FD"/>
    </a:custClr>
    <a:custClr name="Light Violet 20">
      <a:srgbClr val="F3F6FC"/>
    </a:custClr>
    <a:custClr name="Dark Violet 20">
      <a:srgbClr val="F1F1F5"/>
    </a:custClr>
    <a:custClr name="None">
      <a:srgbClr val="FFFFFF"/>
    </a:custClr>
    <a:custClr name="None">
      <a:srgbClr val="FFFFFF"/>
    </a:custClr>
    <a:custClr name="None">
      <a:srgbClr val="FFFFFF"/>
    </a:custClr>
    <a:custClr name="None">
      <a:srgbClr val="FFFFFF"/>
    </a:custClr>
    <a:custClr name="None">
      <a:srgbClr val="FFFFFF"/>
    </a:custClr>
  </a:custClrLst>
  <a:extLst>
    <a:ext uri="{05A4C25C-085E-4340-85A3-A5531E510DB2}">
      <thm15:themeFamily xmlns:thm15="http://schemas.microsoft.com/office/thememl/2012/main" name="DHL_GBS_AIP.potx" id="{105A29FF-D892-4B43-A7AA-10A76B43C89C}" vid="{210528BB-0438-4A39-8A73-E9DC81807045}"/>
    </a:ext>
  </a:extLst>
</a:theme>
</file>

<file path=ppt/theme/theme2.xml><?xml version="1.0" encoding="utf-8"?>
<a:theme xmlns:a="http://schemas.openxmlformats.org/drawingml/2006/main" name="Office">
  <a:themeElements>
    <a:clrScheme name="DPDHL">
      <a:dk1>
        <a:sysClr val="windowText" lastClr="000000"/>
      </a:dk1>
      <a:lt1>
        <a:sysClr val="window" lastClr="FFFFFF"/>
      </a:lt1>
      <a:dk2>
        <a:srgbClr val="B2B2B2"/>
      </a:dk2>
      <a:lt2>
        <a:srgbClr val="E5E5E5"/>
      </a:lt2>
      <a:accent1>
        <a:srgbClr val="8C8C8C"/>
      </a:accent1>
      <a:accent2>
        <a:srgbClr val="666666"/>
      </a:accent2>
      <a:accent3>
        <a:srgbClr val="FFCC00"/>
      </a:accent3>
      <a:accent4>
        <a:srgbClr val="D40511"/>
      </a:accent4>
      <a:accent5>
        <a:srgbClr val="EBEBEB"/>
      </a:accent5>
      <a:accent6>
        <a:srgbClr val="F2F2F2"/>
      </a:accent6>
      <a:hlink>
        <a:srgbClr val="000000"/>
      </a:hlink>
      <a:folHlink>
        <a:srgbClr val="000000"/>
      </a:folHlink>
    </a:clrScheme>
    <a:fontScheme name="DPDHL">
      <a:majorFont>
        <a:latin typeface="Delivery"/>
        <a:ea typeface=""/>
        <a:cs typeface=""/>
      </a:majorFont>
      <a:minorFont>
        <a:latin typeface="Deliver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DPDHL">
      <a:dk1>
        <a:sysClr val="windowText" lastClr="000000"/>
      </a:dk1>
      <a:lt1>
        <a:sysClr val="window" lastClr="FFFFFF"/>
      </a:lt1>
      <a:dk2>
        <a:srgbClr val="B2B2B2"/>
      </a:dk2>
      <a:lt2>
        <a:srgbClr val="E5E5E5"/>
      </a:lt2>
      <a:accent1>
        <a:srgbClr val="8C8C8C"/>
      </a:accent1>
      <a:accent2>
        <a:srgbClr val="666666"/>
      </a:accent2>
      <a:accent3>
        <a:srgbClr val="FFCC00"/>
      </a:accent3>
      <a:accent4>
        <a:srgbClr val="D40511"/>
      </a:accent4>
      <a:accent5>
        <a:srgbClr val="EBEBEB"/>
      </a:accent5>
      <a:accent6>
        <a:srgbClr val="F2F2F2"/>
      </a:accent6>
      <a:hlink>
        <a:srgbClr val="000000"/>
      </a:hlink>
      <a:folHlink>
        <a:srgbClr val="000000"/>
      </a:folHlink>
    </a:clrScheme>
    <a:fontScheme name="DPDHL">
      <a:majorFont>
        <a:latin typeface="Delivery"/>
        <a:ea typeface=""/>
        <a:cs typeface=""/>
      </a:majorFont>
      <a:minorFont>
        <a:latin typeface="Deliver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mageCreateDate xmlns="http://schemas.microsoft.com/sharepoint/v3/fields" xsi:nil="true"/>
    <TaxCatchAll xmlns="ee6be7a2-e61d-44d0-b9d0-0a9f38695b06" xsi:nil="true"/>
    <Image xmlns="eb03384b-8300-4f08-8e97-19d10336bed3" xsi:nil="true"/>
    <Tag xmlns="eb03384b-8300-4f08-8e97-19d10336bed3" xsi:nil="true"/>
    <lcf76f155ced4ddcb4097134ff3c332f xmlns="eb03384b-8300-4f08-8e97-19d10336bed3">
      <Terms xmlns="http://schemas.microsoft.com/office/infopath/2007/PartnerControls"/>
    </lcf76f155ced4ddcb4097134ff3c332f>
    <AlternateThumbnailUrl xmlns="http://schemas.microsoft.com/sharepoint/v4">
      <Url xsi:nil="true"/>
      <Description xsi:nil="true"/>
    </AlternateThumbnailUrl>
    <Comments xmlns="http://schemas.microsoft.com/sharepoint/v3" xsi:nil="true"/>
    <TaxKeywordTaxHTField xmlns="ee6be7a2-e61d-44d0-b9d0-0a9f38695b06">
      <Terms xmlns="http://schemas.microsoft.com/office/infopath/2007/PartnerControls"/>
    </TaxKeywordTaxHTFiel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Bild" ma:contentTypeID="0x0101020054DA0139FD2952499A45FC7F866D8656" ma:contentTypeVersion="21" ma:contentTypeDescription="Ein Bild oder eine Fotografie hochladen." ma:contentTypeScope="" ma:versionID="cd067145e2c369005876fe119070562e">
  <xsd:schema xmlns:xsd="http://www.w3.org/2001/XMLSchema" xmlns:xs="http://www.w3.org/2001/XMLSchema" xmlns:p="http://schemas.microsoft.com/office/2006/metadata/properties" xmlns:ns1="http://schemas.microsoft.com/sharepoint/v3" xmlns:ns2="http://schemas.microsoft.com/sharepoint/v3/fields" xmlns:ns3="http://schemas.microsoft.com/sharepoint/v4" xmlns:ns4="ee6be7a2-e61d-44d0-b9d0-0a9f38695b06" xmlns:ns5="eb03384b-8300-4f08-8e97-19d10336bed3" targetNamespace="http://schemas.microsoft.com/office/2006/metadata/properties" ma:root="true" ma:fieldsID="43f672b137ce0d54ac0f5c0001c90534" ns1:_="" ns2:_="" ns3:_="" ns4:_="" ns5:_="">
    <xsd:import namespace="http://schemas.microsoft.com/sharepoint/v3"/>
    <xsd:import namespace="http://schemas.microsoft.com/sharepoint/v3/fields"/>
    <xsd:import namespace="http://schemas.microsoft.com/sharepoint/v4"/>
    <xsd:import namespace="ee6be7a2-e61d-44d0-b9d0-0a9f38695b06"/>
    <xsd:import namespace="eb03384b-8300-4f08-8e97-19d10336bed3"/>
    <xsd:element name="properties">
      <xsd:complexType>
        <xsd:sequence>
          <xsd:element name="documentManagement">
            <xsd:complexType>
              <xsd:all>
                <xsd:element ref="ns2:ImageWidth" minOccurs="0"/>
                <xsd:element ref="ns2:ImageHeight" minOccurs="0"/>
                <xsd:element ref="ns2:ImageCreateDate" minOccurs="0"/>
                <xsd:element ref="ns1:Comments" minOccurs="0"/>
                <xsd:element ref="ns1:ThumbnailExists" minOccurs="0"/>
                <xsd:element ref="ns1:PreviewExists" minOccurs="0"/>
                <xsd:element ref="ns3:AlternateThumbnailUrl" minOccurs="0"/>
                <xsd:element ref="ns4:TaxKeywordTaxHTField" minOccurs="0"/>
                <xsd:element ref="ns4:TaxCatchAll" minOccurs="0"/>
                <xsd:element ref="ns5:Image" minOccurs="0"/>
                <xsd:element ref="ns5:Tag" minOccurs="0"/>
                <xsd:element ref="ns5:MediaServiceMetadata" minOccurs="0"/>
                <xsd:element ref="ns5:MediaServiceFastMetadata" minOccurs="0"/>
                <xsd:element ref="ns5:MediaServiceSearchProperties" minOccurs="0"/>
                <xsd:element ref="ns5:MediaServiceDateTaken" minOccurs="0"/>
                <xsd:element ref="ns5:MediaServiceGenerationTime" minOccurs="0"/>
                <xsd:element ref="ns5:MediaServiceEventHashCode" minOccurs="0"/>
                <xsd:element ref="ns5:lcf76f155ced4ddcb4097134ff3c332f" minOccurs="0"/>
                <xsd:element ref="ns5:MediaServiceOCR" minOccurs="0"/>
                <xsd:element ref="ns5:MediaLengthInSeconds" minOccurs="0"/>
                <xsd:element ref="ns4:SharedWithUsers" minOccurs="0"/>
                <xsd:element ref="ns4:SharedWithDetails" minOccurs="0"/>
                <xsd:element ref="ns5:MediaServiceObjectDetectorVersions" minOccurs="0"/>
                <xsd:element ref="ns5: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omments" ma:index="14" nillable="true" ma:displayName="Kommentare" ma:hidden="true" ma:internalName="Comments">
      <xsd:simpleType>
        <xsd:restriction base="dms:Note">
          <xsd:maxLength value="255"/>
        </xsd:restriction>
      </xsd:simpleType>
    </xsd:element>
    <xsd:element name="ThumbnailExists" ma:index="23" nillable="true" ma:displayName="Miniaturansicht vorhanden" ma:default="FALSE" ma:hidden="true" ma:internalName="ThumbnailExists" ma:readOnly="true">
      <xsd:simpleType>
        <xsd:restriction base="dms:Boolean"/>
      </xsd:simpleType>
    </xsd:element>
    <xsd:element name="PreviewExists" ma:index="24" nillable="true" ma:displayName="Vorschau vorhanden" ma:default="FALSE" ma:hidden="true" ma:internalName="PreviewExists"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ImageWidth" ma:index="11" nillable="true" ma:displayName="Bildbreite" ma:internalName="ImageWidth" ma:readOnly="true">
      <xsd:simpleType>
        <xsd:restriction base="dms:Unknown"/>
      </xsd:simpleType>
    </xsd:element>
    <xsd:element name="ImageHeight" ma:index="12" nillable="true" ma:displayName="Bildhöhe" ma:internalName="ImageHeight" ma:readOnly="true">
      <xsd:simpleType>
        <xsd:restriction base="dms:Unknown"/>
      </xsd:simpleType>
    </xsd:element>
    <xsd:element name="ImageCreateDate" ma:index="13" nillable="true" ma:displayName="Bilderstellungsdatum"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AlternateThumbnailUrl" ma:index="25" nillable="true" ma:displayName="Vorschaubild-URL" ma:format="Image" ma:internalName="AlternateThumbnail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e6be7a2-e61d-44d0-b9d0-0a9f38695b06" elementFormDefault="qualified">
    <xsd:import namespace="http://schemas.microsoft.com/office/2006/documentManagement/types"/>
    <xsd:import namespace="http://schemas.microsoft.com/office/infopath/2007/PartnerControls"/>
    <xsd:element name="TaxKeywordTaxHTField" ma:index="27" nillable="true" ma:taxonomy="true" ma:internalName="TaxKeywordTaxHTField" ma:taxonomyFieldName="TaxKeyword" ma:displayName="Unternehmensstichwörter" ma:fieldId="{23f27201-bee3-471e-b2e7-b64fd8b7ca38}" ma:taxonomyMulti="true" ma:sspId="bb9e2a73-f419-4c44-99f5-cd310bbfdd7d" ma:termSetId="00000000-0000-0000-0000-000000000000" ma:anchorId="00000000-0000-0000-0000-000000000000" ma:open="true" ma:isKeyword="true">
      <xsd:complexType>
        <xsd:sequence>
          <xsd:element ref="pc:Terms" minOccurs="0" maxOccurs="1"/>
        </xsd:sequence>
      </xsd:complexType>
    </xsd:element>
    <xsd:element name="TaxCatchAll" ma:index="28" nillable="true" ma:displayName="Taxonomy Catch All Column" ma:hidden="true" ma:list="{7eb13fbd-5d5d-4155-9632-07f053d27379}" ma:internalName="TaxCatchAll" ma:showField="CatchAllData" ma:web="ee6be7a2-e61d-44d0-b9d0-0a9f38695b06">
      <xsd:complexType>
        <xsd:complexContent>
          <xsd:extension base="dms:MultiChoiceLookup">
            <xsd:sequence>
              <xsd:element name="Value" type="dms:Lookup" maxOccurs="unbounded" minOccurs="0" nillable="true"/>
            </xsd:sequence>
          </xsd:extension>
        </xsd:complexContent>
      </xsd:complexType>
    </xsd:element>
    <xsd:element name="SharedWithUsers" ma:index="41"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2" nillable="true" ma:displayName="Freigegeben für -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b03384b-8300-4f08-8e97-19d10336bed3" elementFormDefault="qualified">
    <xsd:import namespace="http://schemas.microsoft.com/office/2006/documentManagement/types"/>
    <xsd:import namespace="http://schemas.microsoft.com/office/infopath/2007/PartnerControls"/>
    <xsd:element name="Image" ma:index="29" nillable="true" ma:displayName="Image" ma:format="Thumbnail" ma:internalName="Image">
      <xsd:simpleType>
        <xsd:restriction base="dms:Unknown"/>
      </xsd:simpleType>
    </xsd:element>
    <xsd:element name="Tag" ma:index="30" nillable="true" ma:displayName="Tag" ma:format="Dropdown" ma:internalName="Tag">
      <xsd:simpleType>
        <xsd:restriction base="dms:Choice">
          <xsd:enumeration value="Global"/>
          <xsd:enumeration value="CBJ"/>
          <xsd:enumeration value="Americas"/>
          <xsd:enumeration value="PRG"/>
          <xsd:enumeration value="GER"/>
          <xsd:enumeration value="CHE"/>
        </xsd:restriction>
      </xsd:simpleType>
    </xsd:element>
    <xsd:element name="MediaServiceMetadata" ma:index="31" nillable="true" ma:displayName="MediaServiceMetadata" ma:hidden="true" ma:internalName="MediaServiceMetadata" ma:readOnly="true">
      <xsd:simpleType>
        <xsd:restriction base="dms:Note"/>
      </xsd:simpleType>
    </xsd:element>
    <xsd:element name="MediaServiceFastMetadata" ma:index="32" nillable="true" ma:displayName="MediaServiceFastMetadata" ma:hidden="true" ma:internalName="MediaServiceFastMetadata" ma:readOnly="true">
      <xsd:simpleType>
        <xsd:restriction base="dms:Note"/>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DateTaken" ma:index="34" nillable="true" ma:displayName="MediaServiceDateTaken" ma:hidden="true" ma:indexed="true" ma:internalName="MediaServiceDateTaken"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lcf76f155ced4ddcb4097134ff3c332f" ma:index="38" nillable="true" ma:taxonomy="true" ma:internalName="lcf76f155ced4ddcb4097134ff3c332f" ma:taxonomyFieldName="MediaServiceImageTags" ma:displayName="Bildmarkierungen" ma:readOnly="false" ma:fieldId="{5cf76f15-5ced-4ddc-b409-7134ff3c332f}" ma:taxonomyMulti="true" ma:sspId="bb9e2a73-f419-4c44-99f5-cd310bbfdd7d"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element name="MediaLengthInSeconds" ma:index="40" nillable="true" ma:displayName="MediaLengthInSeconds" ma:hidden="true" ma:internalName="MediaLengthInSeconds" ma:readOnly="true">
      <xsd:simpleType>
        <xsd:restriction base="dms:Unknown"/>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element name="MediaServiceLocation" ma:index="44"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8" ma:displayName="Titel"/>
        <xsd:element ref="dc:subject" minOccurs="0" maxOccurs="1"/>
        <xsd:element ref="dc:description" minOccurs="0" maxOccurs="1"/>
        <xsd:element name="keywords" minOccurs="0" maxOccurs="1" type="xsd:string" ma:index="20" ma:displayName="Schlüsselwörter"/>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24994A-0EE7-4322-AB99-52C337D5EB31}">
  <ds:schemaRefs>
    <ds:schemaRef ds:uri="eb03384b-8300-4f08-8e97-19d10336bed3"/>
    <ds:schemaRef ds:uri="ee6be7a2-e61d-44d0-b9d0-0a9f38695b06"/>
    <ds:schemaRef ds:uri="http://schemas.microsoft.com/office/2006/metadata/properties"/>
    <ds:schemaRef ds:uri="http://schemas.microsoft.com/office/infopath/2007/PartnerControls"/>
    <ds:schemaRef ds:uri="http://schemas.microsoft.com/sharepoint/v3"/>
    <ds:schemaRef ds:uri="http://schemas.microsoft.com/sharepoint/v3/fields"/>
    <ds:schemaRef ds:uri="http://schemas.microsoft.com/sharepoint/v4"/>
  </ds:schemaRefs>
</ds:datastoreItem>
</file>

<file path=customXml/itemProps2.xml><?xml version="1.0" encoding="utf-8"?>
<ds:datastoreItem xmlns:ds="http://schemas.openxmlformats.org/officeDocument/2006/customXml" ds:itemID="{97FD1261-6027-4469-AC43-B92658081FB6}">
  <ds:schemaRefs>
    <ds:schemaRef ds:uri="http://schemas.microsoft.com/sharepoint/v3/contenttype/forms"/>
  </ds:schemaRefs>
</ds:datastoreItem>
</file>

<file path=customXml/itemProps3.xml><?xml version="1.0" encoding="utf-8"?>
<ds:datastoreItem xmlns:ds="http://schemas.openxmlformats.org/officeDocument/2006/customXml" ds:itemID="{9FB1CA26-9280-4A17-B46D-A2829053F5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3/fields"/>
    <ds:schemaRef ds:uri="http://schemas.microsoft.com/sharepoint/v4"/>
    <ds:schemaRef ds:uri="ee6be7a2-e61d-44d0-b9d0-0a9f38695b06"/>
    <ds:schemaRef ds:uri="eb03384b-8300-4f08-8e97-19d10336be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36915f3-2f02-4945-8997-f2963298db46}" enabled="1" method="Standard" siteId="{cd99fef8-1cd3-4a2a-9bdf-15531181d65e}" removed="0"/>
</clbl:labelList>
</file>

<file path=docProps/app.xml><?xml version="1.0" encoding="utf-8"?>
<Properties xmlns="http://schemas.openxmlformats.org/officeDocument/2006/extended-properties" xmlns:vt="http://schemas.openxmlformats.org/officeDocument/2006/docPropsVTypes">
  <Template>DHL_GBS_23-12</Template>
  <TotalTime>5261</TotalTime>
  <Words>1983</Words>
  <Application>Microsoft Office PowerPoint</Application>
  <PresentationFormat>On-screen Show (16:9)</PresentationFormat>
  <Paragraphs>251</Paragraphs>
  <Slides>9</Slides>
  <Notes>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20" baseType="lpstr">
      <vt:lpstr>Arial</vt:lpstr>
      <vt:lpstr>Barlow</vt:lpstr>
      <vt:lpstr>Calibri</vt:lpstr>
      <vt:lpstr>Delivery</vt:lpstr>
      <vt:lpstr>Delivery Cd Black</vt:lpstr>
      <vt:lpstr>Delivery Cd Light</vt:lpstr>
      <vt:lpstr>Delivery Condensed Black</vt:lpstr>
      <vt:lpstr>Symbol</vt:lpstr>
      <vt:lpstr>Wingdings</vt:lpstr>
      <vt:lpstr>DHL_GBS</vt:lpstr>
      <vt:lpstr>think-cell Slide</vt:lpstr>
      <vt:lpstr>AGENT VIPER</vt:lpstr>
      <vt:lpstr>Agenda</vt:lpstr>
      <vt:lpstr>ACCELERATING DELIVERY — INTELLIGENCE ON DAY ONE, NOT DAY THREE</vt:lpstr>
      <vt:lpstr>Agent Viper:  What It Covers &amp; What It Doesn't</vt:lpstr>
      <vt:lpstr>PowerPoint Presentation</vt:lpstr>
      <vt:lpstr>Guardrails &amp; key Capabilities </vt:lpstr>
      <vt:lpstr>Prototype Results</vt:lpstr>
      <vt:lpstr>LIVE DEMONSTRATION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Justine Noel</dc:creator>
  <cp:lastModifiedBy>Syed Ibrahim Mohamed Sheriff (DHL IT Services)</cp:lastModifiedBy>
  <cp:revision>244</cp:revision>
  <dcterms:created xsi:type="dcterms:W3CDTF">2024-12-09T11:57:31Z</dcterms:created>
  <dcterms:modified xsi:type="dcterms:W3CDTF">2026-07-03T10:53:12Z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0x0101020054DA0139FD2952499A45FC7F866D8656</vt:lpwstr>
  </property>
  <property fmtid="{D5CDD505-2E9C-101B-9397-08002B2CF9AE}" pid="3" name="TaxKeyword">
    <vt:lpwstr/>
  </property>
  <property fmtid="{D5CDD505-2E9C-101B-9397-08002B2CF9AE}" pid="4" name="MediaServiceImageTags">
    <vt:lpwstr/>
  </property>
  <property fmtid="{D5CDD505-2E9C-101B-9397-08002B2CF9AE}" pid="5" name="ClassificationContentMarkingHeaderLocations">
    <vt:lpwstr>DHL_GBS:5</vt:lpwstr>
  </property>
  <property fmtid="{D5CDD505-2E9C-101B-9397-08002B2CF9AE}" pid="6" name="ClassificationContentMarkingHeaderText">
    <vt:lpwstr>FOR INTERNAL USE</vt:lpwstr>
  </property>
</Properties>
</file>